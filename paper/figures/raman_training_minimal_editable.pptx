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952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95" d="100"/>
          <a:sy n="95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Author-finalization draft. Figure text is deliberately limited to module labels. The corresponding manuscript contains the panel caption and method details; its artwork slot remains a placeholder until the author finalizes the figure. Blue circles represent query embeddings, orange squares theoretical references; curves and matrices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5" indent="-228605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4" indent="-228605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23" indent="-228605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32" indent="-228605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42" indent="-228605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51" indent="-228605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60" indent="-228605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69" indent="-228605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79" indent="-228605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9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1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2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3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46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5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6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7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k 4">
            <a:extLst>
              <a:ext uri="{FF2B5EF4-FFF2-40B4-BE49-F238E27FC236}">
                <a16:creationId xmlns:a16="http://schemas.microsoft.com/office/drawing/2014/main" id="{2FB7F269-C6DD-4B4E-8940-A1D056FF67DE}"/>
              </a:ext>
            </a:extLst>
          </p:cNvPr>
          <p:cNvSpPr>
            <a:spLocks noGrp="1"/>
          </p:cNvSpPr>
          <p:nvPr/>
        </p:nvSpPr>
        <p:spPr>
          <a:xfrm>
            <a:off x="171450" y="83129"/>
            <a:ext cx="14620876" cy="2841048"/>
          </a:xfrm>
          <a:prstGeom prst="roundRect">
            <a:avLst>
              <a:gd name="adj" fmla="val 4563"/>
            </a:avLst>
          </a:prstGeom>
          <a:solidFill>
            <a:srgbClr val="FAFBFC"/>
          </a:solidFill>
          <a:ln w="13335">
            <a:solidFill>
              <a:srgbClr val="C6C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lock 5">
            <a:extLst>
              <a:ext uri="{FF2B5EF4-FFF2-40B4-BE49-F238E27FC236}">
                <a16:creationId xmlns:a16="http://schemas.microsoft.com/office/drawing/2014/main" id="{8177B137-E246-4DC2-BF80-E7CC3C226CD9}"/>
              </a:ext>
            </a:extLst>
          </p:cNvPr>
          <p:cNvSpPr>
            <a:spLocks noGrp="1"/>
          </p:cNvSpPr>
          <p:nvPr/>
        </p:nvSpPr>
        <p:spPr>
          <a:xfrm>
            <a:off x="333375" y="714375"/>
            <a:ext cx="1085850" cy="552450"/>
          </a:xfrm>
          <a:prstGeom prst="roundRect">
            <a:avLst>
              <a:gd name="adj" fmla="val 8621"/>
            </a:avLst>
          </a:prstGeom>
          <a:solidFill>
            <a:srgbClr val="F0F7FD"/>
          </a:solidFill>
          <a:ln w="13335">
            <a:solidFill>
              <a:srgbClr val="ABC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pectrum curve 6">
            <a:extLst>
              <a:ext uri="{FF2B5EF4-FFF2-40B4-BE49-F238E27FC236}">
                <a16:creationId xmlns:a16="http://schemas.microsoft.com/office/drawing/2014/main" id="{2446E5AE-251B-44D8-A784-22B9C7228253}"/>
              </a:ext>
            </a:extLst>
          </p:cNvPr>
          <p:cNvSpPr>
            <a:spLocks noGrp="1"/>
          </p:cNvSpPr>
          <p:nvPr/>
        </p:nvSpPr>
        <p:spPr>
          <a:xfrm>
            <a:off x="381000" y="793434"/>
            <a:ext cx="990600" cy="406718"/>
          </a:xfrm>
          <a:custGeom>
            <a:avLst/>
            <a:gdLst/>
            <a:ahLst/>
            <a:cxnLst/>
            <a:rect l="0" t="0" r="0" b="0"/>
            <a:pathLst>
              <a:path w="990600" h="406718">
                <a:moveTo>
                  <a:pt x="0" y="406718"/>
                </a:moveTo>
                <a:lnTo>
                  <a:pt x="10478" y="406718"/>
                </a:lnTo>
                <a:lnTo>
                  <a:pt x="20003" y="406718"/>
                </a:lnTo>
                <a:lnTo>
                  <a:pt x="30480" y="406718"/>
                </a:lnTo>
                <a:lnTo>
                  <a:pt x="40005" y="406718"/>
                </a:lnTo>
                <a:lnTo>
                  <a:pt x="50482" y="406718"/>
                </a:lnTo>
                <a:lnTo>
                  <a:pt x="60007" y="406718"/>
                </a:lnTo>
                <a:lnTo>
                  <a:pt x="70485" y="406718"/>
                </a:lnTo>
                <a:lnTo>
                  <a:pt x="80010" y="406718"/>
                </a:lnTo>
                <a:lnTo>
                  <a:pt x="90488" y="406718"/>
                </a:lnTo>
                <a:lnTo>
                  <a:pt x="100013" y="404813"/>
                </a:lnTo>
                <a:lnTo>
                  <a:pt x="110490" y="396240"/>
                </a:lnTo>
                <a:lnTo>
                  <a:pt x="120015" y="370523"/>
                </a:lnTo>
                <a:lnTo>
                  <a:pt x="130493" y="316230"/>
                </a:lnTo>
                <a:lnTo>
                  <a:pt x="140018" y="254318"/>
                </a:lnTo>
                <a:lnTo>
                  <a:pt x="150495" y="232410"/>
                </a:lnTo>
                <a:lnTo>
                  <a:pt x="160020" y="270510"/>
                </a:lnTo>
                <a:lnTo>
                  <a:pt x="170498" y="335280"/>
                </a:lnTo>
                <a:lnTo>
                  <a:pt x="180023" y="381000"/>
                </a:lnTo>
                <a:lnTo>
                  <a:pt x="190500" y="400050"/>
                </a:lnTo>
                <a:lnTo>
                  <a:pt x="200025" y="405765"/>
                </a:lnTo>
                <a:lnTo>
                  <a:pt x="210503" y="406718"/>
                </a:lnTo>
                <a:lnTo>
                  <a:pt x="220028" y="406718"/>
                </a:lnTo>
                <a:lnTo>
                  <a:pt x="230505" y="406718"/>
                </a:lnTo>
                <a:lnTo>
                  <a:pt x="240030" y="406718"/>
                </a:lnTo>
                <a:lnTo>
                  <a:pt x="250507" y="406718"/>
                </a:lnTo>
                <a:lnTo>
                  <a:pt x="260032" y="406718"/>
                </a:lnTo>
                <a:lnTo>
                  <a:pt x="270510" y="406718"/>
                </a:lnTo>
                <a:lnTo>
                  <a:pt x="280035" y="405765"/>
                </a:lnTo>
                <a:lnTo>
                  <a:pt x="290513" y="403860"/>
                </a:lnTo>
                <a:lnTo>
                  <a:pt x="300038" y="396240"/>
                </a:lnTo>
                <a:lnTo>
                  <a:pt x="310515" y="377190"/>
                </a:lnTo>
                <a:lnTo>
                  <a:pt x="320040" y="337185"/>
                </a:lnTo>
                <a:lnTo>
                  <a:pt x="330518" y="269558"/>
                </a:lnTo>
                <a:lnTo>
                  <a:pt x="340043" y="175260"/>
                </a:lnTo>
                <a:lnTo>
                  <a:pt x="350520" y="76200"/>
                </a:lnTo>
                <a:lnTo>
                  <a:pt x="360045" y="8573"/>
                </a:lnTo>
                <a:lnTo>
                  <a:pt x="370523" y="0"/>
                </a:lnTo>
                <a:lnTo>
                  <a:pt x="380048" y="54293"/>
                </a:lnTo>
                <a:lnTo>
                  <a:pt x="390525" y="148590"/>
                </a:lnTo>
                <a:lnTo>
                  <a:pt x="400050" y="246698"/>
                </a:lnTo>
                <a:lnTo>
                  <a:pt x="410527" y="322898"/>
                </a:lnTo>
                <a:lnTo>
                  <a:pt x="420052" y="369570"/>
                </a:lnTo>
                <a:lnTo>
                  <a:pt x="430530" y="392430"/>
                </a:lnTo>
                <a:lnTo>
                  <a:pt x="440055" y="401955"/>
                </a:lnTo>
                <a:lnTo>
                  <a:pt x="450533" y="405765"/>
                </a:lnTo>
                <a:lnTo>
                  <a:pt x="460058" y="406718"/>
                </a:lnTo>
                <a:lnTo>
                  <a:pt x="470535" y="406718"/>
                </a:lnTo>
                <a:lnTo>
                  <a:pt x="480060" y="406718"/>
                </a:lnTo>
                <a:lnTo>
                  <a:pt x="490538" y="406718"/>
                </a:lnTo>
                <a:lnTo>
                  <a:pt x="500063" y="406718"/>
                </a:lnTo>
                <a:lnTo>
                  <a:pt x="510540" y="406718"/>
                </a:lnTo>
                <a:lnTo>
                  <a:pt x="520065" y="406718"/>
                </a:lnTo>
                <a:lnTo>
                  <a:pt x="530543" y="406718"/>
                </a:lnTo>
                <a:lnTo>
                  <a:pt x="540068" y="406718"/>
                </a:lnTo>
                <a:lnTo>
                  <a:pt x="550545" y="405765"/>
                </a:lnTo>
                <a:lnTo>
                  <a:pt x="560070" y="402908"/>
                </a:lnTo>
                <a:lnTo>
                  <a:pt x="570548" y="385763"/>
                </a:lnTo>
                <a:lnTo>
                  <a:pt x="580073" y="334328"/>
                </a:lnTo>
                <a:lnTo>
                  <a:pt x="590550" y="246698"/>
                </a:lnTo>
                <a:lnTo>
                  <a:pt x="600075" y="173355"/>
                </a:lnTo>
                <a:lnTo>
                  <a:pt x="610553" y="183832"/>
                </a:lnTo>
                <a:lnTo>
                  <a:pt x="620078" y="267653"/>
                </a:lnTo>
                <a:lnTo>
                  <a:pt x="630555" y="349568"/>
                </a:lnTo>
                <a:lnTo>
                  <a:pt x="640080" y="391478"/>
                </a:lnTo>
                <a:lnTo>
                  <a:pt x="650558" y="403860"/>
                </a:lnTo>
                <a:lnTo>
                  <a:pt x="660083" y="406718"/>
                </a:lnTo>
                <a:lnTo>
                  <a:pt x="670560" y="406718"/>
                </a:lnTo>
                <a:lnTo>
                  <a:pt x="680085" y="406718"/>
                </a:lnTo>
                <a:lnTo>
                  <a:pt x="690563" y="406718"/>
                </a:lnTo>
                <a:lnTo>
                  <a:pt x="700088" y="406718"/>
                </a:lnTo>
                <a:lnTo>
                  <a:pt x="710565" y="406718"/>
                </a:lnTo>
                <a:lnTo>
                  <a:pt x="720090" y="406718"/>
                </a:lnTo>
                <a:lnTo>
                  <a:pt x="730568" y="406718"/>
                </a:lnTo>
                <a:lnTo>
                  <a:pt x="740093" y="406718"/>
                </a:lnTo>
                <a:lnTo>
                  <a:pt x="750570" y="405765"/>
                </a:lnTo>
                <a:lnTo>
                  <a:pt x="760095" y="402908"/>
                </a:lnTo>
                <a:lnTo>
                  <a:pt x="770573" y="387668"/>
                </a:lnTo>
                <a:lnTo>
                  <a:pt x="780098" y="343853"/>
                </a:lnTo>
                <a:lnTo>
                  <a:pt x="790575" y="255270"/>
                </a:lnTo>
                <a:lnTo>
                  <a:pt x="800100" y="144780"/>
                </a:lnTo>
                <a:lnTo>
                  <a:pt x="810578" y="80010"/>
                </a:lnTo>
                <a:lnTo>
                  <a:pt x="820103" y="112395"/>
                </a:lnTo>
                <a:lnTo>
                  <a:pt x="830580" y="215265"/>
                </a:lnTo>
                <a:lnTo>
                  <a:pt x="840105" y="317183"/>
                </a:lnTo>
                <a:lnTo>
                  <a:pt x="850583" y="376238"/>
                </a:lnTo>
                <a:lnTo>
                  <a:pt x="860108" y="399098"/>
                </a:lnTo>
                <a:lnTo>
                  <a:pt x="870585" y="405765"/>
                </a:lnTo>
                <a:lnTo>
                  <a:pt x="880110" y="406718"/>
                </a:lnTo>
                <a:lnTo>
                  <a:pt x="890588" y="406718"/>
                </a:lnTo>
                <a:lnTo>
                  <a:pt x="900113" y="406718"/>
                </a:lnTo>
                <a:lnTo>
                  <a:pt x="910590" y="406718"/>
                </a:lnTo>
                <a:lnTo>
                  <a:pt x="920115" y="406718"/>
                </a:lnTo>
                <a:lnTo>
                  <a:pt x="930592" y="406718"/>
                </a:lnTo>
                <a:lnTo>
                  <a:pt x="940117" y="406718"/>
                </a:lnTo>
                <a:lnTo>
                  <a:pt x="950595" y="406718"/>
                </a:lnTo>
                <a:lnTo>
                  <a:pt x="960120" y="406718"/>
                </a:lnTo>
                <a:lnTo>
                  <a:pt x="970598" y="406718"/>
                </a:lnTo>
                <a:lnTo>
                  <a:pt x="980123" y="406718"/>
                </a:lnTo>
                <a:lnTo>
                  <a:pt x="990600" y="406718"/>
                </a:lnTo>
              </a:path>
            </a:pathLst>
          </a:custGeom>
          <a:noFill/>
          <a:ln w="19050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7 Raman x">
            <a:extLst>
              <a:ext uri="{FF2B5EF4-FFF2-40B4-BE49-F238E27FC236}">
                <a16:creationId xmlns:a16="http://schemas.microsoft.com/office/drawing/2014/main" id="{0E4FD294-EC46-4F49-958E-F0BF943C1D91}"/>
              </a:ext>
            </a:extLst>
          </p:cNvPr>
          <p:cNvSpPr>
            <a:spLocks noGrp="1"/>
          </p:cNvSpPr>
          <p:nvPr/>
        </p:nvSpPr>
        <p:spPr>
          <a:xfrm>
            <a:off x="447674" y="1295401"/>
            <a:ext cx="9525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Theory y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FA4407B8-42F9-4127-92A8-F09BD21E6BFC}"/>
              </a:ext>
            </a:extLst>
          </p:cNvPr>
          <p:cNvSpPr>
            <a:spLocks noGrp="1"/>
          </p:cNvSpPr>
          <p:nvPr/>
        </p:nvSpPr>
        <p:spPr>
          <a:xfrm>
            <a:off x="1495425" y="733424"/>
            <a:ext cx="504826" cy="266700"/>
          </a:xfrm>
          <a:custGeom>
            <a:avLst/>
            <a:gdLst/>
            <a:ahLst/>
            <a:cxnLst/>
            <a:rect l="0" t="0" r="0" b="0"/>
            <a:pathLst>
              <a:path w="504825" h="266700">
                <a:moveTo>
                  <a:pt x="0" y="266700"/>
                </a:moveTo>
                <a:lnTo>
                  <a:pt x="266700" y="266700"/>
                </a:lnTo>
                <a:lnTo>
                  <a:pt x="266700" y="0"/>
                </a:lnTo>
                <a:lnTo>
                  <a:pt x="5048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rrowhead 11">
            <a:extLst>
              <a:ext uri="{FF2B5EF4-FFF2-40B4-BE49-F238E27FC236}">
                <a16:creationId xmlns:a16="http://schemas.microsoft.com/office/drawing/2014/main" id="{9B94BBC3-6252-4627-9527-37DF6C4B05A6}"/>
              </a:ext>
            </a:extLst>
          </p:cNvPr>
          <p:cNvSpPr>
            <a:spLocks noGrp="1"/>
          </p:cNvSpPr>
          <p:nvPr/>
        </p:nvSpPr>
        <p:spPr>
          <a:xfrm>
            <a:off x="1914525" y="69532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Block 15">
            <a:extLst>
              <a:ext uri="{FF2B5EF4-FFF2-40B4-BE49-F238E27FC236}">
                <a16:creationId xmlns:a16="http://schemas.microsoft.com/office/drawing/2014/main" id="{41558B02-16DE-49AF-AA0B-24E1D0EB6052}"/>
              </a:ext>
            </a:extLst>
          </p:cNvPr>
          <p:cNvSpPr>
            <a:spLocks noGrp="1"/>
          </p:cNvSpPr>
          <p:nvPr/>
        </p:nvSpPr>
        <p:spPr>
          <a:xfrm>
            <a:off x="2057401" y="523875"/>
            <a:ext cx="819150" cy="400050"/>
          </a:xfrm>
          <a:prstGeom prst="roundRect">
            <a:avLst>
              <a:gd name="adj" fmla="val 11905"/>
            </a:avLst>
          </a:prstGeom>
          <a:solidFill>
            <a:srgbClr val="F0F7FD"/>
          </a:solidFill>
          <a:ln w="13335">
            <a:solidFill>
              <a:srgbClr val="ABC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pectrum curve 16">
            <a:extLst>
              <a:ext uri="{FF2B5EF4-FFF2-40B4-BE49-F238E27FC236}">
                <a16:creationId xmlns:a16="http://schemas.microsoft.com/office/drawing/2014/main" id="{A46764D7-D3A9-440A-A47F-FA21E96BEA2B}"/>
              </a:ext>
            </a:extLst>
          </p:cNvPr>
          <p:cNvSpPr>
            <a:spLocks noGrp="1"/>
          </p:cNvSpPr>
          <p:nvPr/>
        </p:nvSpPr>
        <p:spPr>
          <a:xfrm>
            <a:off x="2105024" y="591503"/>
            <a:ext cx="723900" cy="265748"/>
          </a:xfrm>
          <a:custGeom>
            <a:avLst/>
            <a:gdLst/>
            <a:ahLst/>
            <a:cxnLst/>
            <a:rect l="0" t="0" r="0" b="0"/>
            <a:pathLst>
              <a:path w="723900" h="265748">
                <a:moveTo>
                  <a:pt x="0" y="265748"/>
                </a:moveTo>
                <a:lnTo>
                  <a:pt x="7620" y="265748"/>
                </a:lnTo>
                <a:lnTo>
                  <a:pt x="14288" y="265748"/>
                </a:lnTo>
                <a:lnTo>
                  <a:pt x="21908" y="265748"/>
                </a:lnTo>
                <a:lnTo>
                  <a:pt x="29527" y="265748"/>
                </a:lnTo>
                <a:lnTo>
                  <a:pt x="36195" y="265748"/>
                </a:lnTo>
                <a:lnTo>
                  <a:pt x="43815" y="265748"/>
                </a:lnTo>
                <a:lnTo>
                  <a:pt x="51435" y="265748"/>
                </a:lnTo>
                <a:lnTo>
                  <a:pt x="58102" y="265748"/>
                </a:lnTo>
                <a:lnTo>
                  <a:pt x="65723" y="265748"/>
                </a:lnTo>
                <a:lnTo>
                  <a:pt x="73342" y="264795"/>
                </a:lnTo>
                <a:lnTo>
                  <a:pt x="80010" y="259080"/>
                </a:lnTo>
                <a:lnTo>
                  <a:pt x="87630" y="241935"/>
                </a:lnTo>
                <a:lnTo>
                  <a:pt x="95250" y="206692"/>
                </a:lnTo>
                <a:lnTo>
                  <a:pt x="101917" y="166687"/>
                </a:lnTo>
                <a:lnTo>
                  <a:pt x="109538" y="152400"/>
                </a:lnTo>
                <a:lnTo>
                  <a:pt x="117158" y="177165"/>
                </a:lnTo>
                <a:lnTo>
                  <a:pt x="124777" y="219075"/>
                </a:lnTo>
                <a:lnTo>
                  <a:pt x="131445" y="248603"/>
                </a:lnTo>
                <a:lnTo>
                  <a:pt x="139065" y="261937"/>
                </a:lnTo>
                <a:lnTo>
                  <a:pt x="146685" y="264795"/>
                </a:lnTo>
                <a:lnTo>
                  <a:pt x="153352" y="265748"/>
                </a:lnTo>
                <a:lnTo>
                  <a:pt x="160973" y="265748"/>
                </a:lnTo>
                <a:lnTo>
                  <a:pt x="168592" y="265748"/>
                </a:lnTo>
                <a:lnTo>
                  <a:pt x="175260" y="265748"/>
                </a:lnTo>
                <a:lnTo>
                  <a:pt x="182880" y="265748"/>
                </a:lnTo>
                <a:lnTo>
                  <a:pt x="190500" y="265748"/>
                </a:lnTo>
                <a:lnTo>
                  <a:pt x="197167" y="265748"/>
                </a:lnTo>
                <a:lnTo>
                  <a:pt x="204788" y="264795"/>
                </a:lnTo>
                <a:lnTo>
                  <a:pt x="212408" y="263842"/>
                </a:lnTo>
                <a:lnTo>
                  <a:pt x="219075" y="259080"/>
                </a:lnTo>
                <a:lnTo>
                  <a:pt x="226695" y="246698"/>
                </a:lnTo>
                <a:lnTo>
                  <a:pt x="234315" y="220980"/>
                </a:lnTo>
                <a:lnTo>
                  <a:pt x="240983" y="176212"/>
                </a:lnTo>
                <a:lnTo>
                  <a:pt x="248602" y="114300"/>
                </a:lnTo>
                <a:lnTo>
                  <a:pt x="256223" y="50483"/>
                </a:lnTo>
                <a:lnTo>
                  <a:pt x="262890" y="5715"/>
                </a:lnTo>
                <a:lnTo>
                  <a:pt x="270510" y="0"/>
                </a:lnTo>
                <a:lnTo>
                  <a:pt x="278130" y="36195"/>
                </a:lnTo>
                <a:lnTo>
                  <a:pt x="284798" y="97155"/>
                </a:lnTo>
                <a:lnTo>
                  <a:pt x="292417" y="160973"/>
                </a:lnTo>
                <a:lnTo>
                  <a:pt x="300038" y="211455"/>
                </a:lnTo>
                <a:lnTo>
                  <a:pt x="306705" y="240983"/>
                </a:lnTo>
                <a:lnTo>
                  <a:pt x="314325" y="256223"/>
                </a:lnTo>
                <a:lnTo>
                  <a:pt x="321945" y="262890"/>
                </a:lnTo>
                <a:lnTo>
                  <a:pt x="328613" y="264795"/>
                </a:lnTo>
                <a:lnTo>
                  <a:pt x="336233" y="265748"/>
                </a:lnTo>
                <a:lnTo>
                  <a:pt x="343853" y="265748"/>
                </a:lnTo>
                <a:lnTo>
                  <a:pt x="350520" y="265748"/>
                </a:lnTo>
                <a:lnTo>
                  <a:pt x="358140" y="265748"/>
                </a:lnTo>
                <a:lnTo>
                  <a:pt x="365760" y="265748"/>
                </a:lnTo>
                <a:lnTo>
                  <a:pt x="373380" y="265748"/>
                </a:lnTo>
                <a:lnTo>
                  <a:pt x="380047" y="265748"/>
                </a:lnTo>
                <a:lnTo>
                  <a:pt x="387667" y="265748"/>
                </a:lnTo>
                <a:lnTo>
                  <a:pt x="395288" y="265748"/>
                </a:lnTo>
                <a:lnTo>
                  <a:pt x="401955" y="265748"/>
                </a:lnTo>
                <a:lnTo>
                  <a:pt x="409575" y="262890"/>
                </a:lnTo>
                <a:lnTo>
                  <a:pt x="417195" y="251460"/>
                </a:lnTo>
                <a:lnTo>
                  <a:pt x="423863" y="219075"/>
                </a:lnTo>
                <a:lnTo>
                  <a:pt x="431483" y="160973"/>
                </a:lnTo>
                <a:lnTo>
                  <a:pt x="439103" y="113347"/>
                </a:lnTo>
                <a:lnTo>
                  <a:pt x="445770" y="120015"/>
                </a:lnTo>
                <a:lnTo>
                  <a:pt x="453390" y="174308"/>
                </a:lnTo>
                <a:lnTo>
                  <a:pt x="461010" y="228600"/>
                </a:lnTo>
                <a:lnTo>
                  <a:pt x="467678" y="255270"/>
                </a:lnTo>
                <a:lnTo>
                  <a:pt x="475297" y="263842"/>
                </a:lnTo>
                <a:lnTo>
                  <a:pt x="482917" y="265748"/>
                </a:lnTo>
                <a:lnTo>
                  <a:pt x="489585" y="265748"/>
                </a:lnTo>
                <a:lnTo>
                  <a:pt x="497205" y="265748"/>
                </a:lnTo>
                <a:lnTo>
                  <a:pt x="504825" y="265748"/>
                </a:lnTo>
                <a:lnTo>
                  <a:pt x="511492" y="265748"/>
                </a:lnTo>
                <a:lnTo>
                  <a:pt x="519113" y="265748"/>
                </a:lnTo>
                <a:lnTo>
                  <a:pt x="526733" y="265748"/>
                </a:lnTo>
                <a:lnTo>
                  <a:pt x="533400" y="265748"/>
                </a:lnTo>
                <a:lnTo>
                  <a:pt x="541020" y="265748"/>
                </a:lnTo>
                <a:lnTo>
                  <a:pt x="548640" y="265748"/>
                </a:lnTo>
                <a:lnTo>
                  <a:pt x="555308" y="262890"/>
                </a:lnTo>
                <a:lnTo>
                  <a:pt x="562928" y="253365"/>
                </a:lnTo>
                <a:lnTo>
                  <a:pt x="570547" y="224790"/>
                </a:lnTo>
                <a:lnTo>
                  <a:pt x="577215" y="166687"/>
                </a:lnTo>
                <a:lnTo>
                  <a:pt x="584835" y="95250"/>
                </a:lnTo>
                <a:lnTo>
                  <a:pt x="592455" y="52387"/>
                </a:lnTo>
                <a:lnTo>
                  <a:pt x="599122" y="73342"/>
                </a:lnTo>
                <a:lnTo>
                  <a:pt x="606742" y="140970"/>
                </a:lnTo>
                <a:lnTo>
                  <a:pt x="614363" y="207645"/>
                </a:lnTo>
                <a:lnTo>
                  <a:pt x="621983" y="245745"/>
                </a:lnTo>
                <a:lnTo>
                  <a:pt x="628650" y="260985"/>
                </a:lnTo>
                <a:lnTo>
                  <a:pt x="636270" y="264795"/>
                </a:lnTo>
                <a:lnTo>
                  <a:pt x="643890" y="265748"/>
                </a:lnTo>
                <a:lnTo>
                  <a:pt x="650558" y="265748"/>
                </a:lnTo>
                <a:lnTo>
                  <a:pt x="658178" y="265748"/>
                </a:lnTo>
                <a:lnTo>
                  <a:pt x="665797" y="265748"/>
                </a:lnTo>
                <a:lnTo>
                  <a:pt x="672465" y="265748"/>
                </a:lnTo>
                <a:lnTo>
                  <a:pt x="680085" y="265748"/>
                </a:lnTo>
                <a:lnTo>
                  <a:pt x="687705" y="265748"/>
                </a:lnTo>
                <a:lnTo>
                  <a:pt x="694372" y="265748"/>
                </a:lnTo>
                <a:lnTo>
                  <a:pt x="701992" y="265748"/>
                </a:lnTo>
                <a:lnTo>
                  <a:pt x="709613" y="265748"/>
                </a:lnTo>
                <a:lnTo>
                  <a:pt x="716280" y="265748"/>
                </a:lnTo>
                <a:lnTo>
                  <a:pt x="723900" y="265748"/>
                </a:lnTo>
              </a:path>
            </a:pathLst>
          </a:custGeom>
          <a:noFill/>
          <a:ln w="19050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7 x₁">
            <a:extLst>
              <a:ext uri="{FF2B5EF4-FFF2-40B4-BE49-F238E27FC236}">
                <a16:creationId xmlns:a16="http://schemas.microsoft.com/office/drawing/2014/main" id="{EC3EBDF0-32A2-44CC-BA33-F81C475A3D21}"/>
              </a:ext>
            </a:extLst>
          </p:cNvPr>
          <p:cNvSpPr>
            <a:spLocks noGrp="1"/>
          </p:cNvSpPr>
          <p:nvPr/>
        </p:nvSpPr>
        <p:spPr>
          <a:xfrm>
            <a:off x="2943226" y="600076"/>
            <a:ext cx="2286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ỹ</a:t>
            </a:r>
          </a:p>
        </p:txBody>
      </p:sp>
      <p:sp>
        <p:nvSpPr>
          <p:cNvPr id="18" name="Block 18">
            <a:extLst>
              <a:ext uri="{FF2B5EF4-FFF2-40B4-BE49-F238E27FC236}">
                <a16:creationId xmlns:a16="http://schemas.microsoft.com/office/drawing/2014/main" id="{FC12556E-64FE-438B-A8C1-B96DAA648C3A}"/>
              </a:ext>
            </a:extLst>
          </p:cNvPr>
          <p:cNvSpPr>
            <a:spLocks noGrp="1"/>
          </p:cNvSpPr>
          <p:nvPr/>
        </p:nvSpPr>
        <p:spPr>
          <a:xfrm>
            <a:off x="2057401" y="1276351"/>
            <a:ext cx="819150" cy="400050"/>
          </a:xfrm>
          <a:prstGeom prst="roundRect">
            <a:avLst>
              <a:gd name="adj" fmla="val 11905"/>
            </a:avLst>
          </a:prstGeom>
          <a:solidFill>
            <a:srgbClr val="F0F7FD"/>
          </a:solidFill>
          <a:ln w="13335">
            <a:solidFill>
              <a:srgbClr val="ABC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pectrum curve 19">
            <a:extLst>
              <a:ext uri="{FF2B5EF4-FFF2-40B4-BE49-F238E27FC236}">
                <a16:creationId xmlns:a16="http://schemas.microsoft.com/office/drawing/2014/main" id="{047429BA-370A-493C-83B8-816D12A7B0EA}"/>
              </a:ext>
            </a:extLst>
          </p:cNvPr>
          <p:cNvSpPr>
            <a:spLocks noGrp="1"/>
          </p:cNvSpPr>
          <p:nvPr/>
        </p:nvSpPr>
        <p:spPr>
          <a:xfrm>
            <a:off x="2105024" y="1344931"/>
            <a:ext cx="723900" cy="264795"/>
          </a:xfrm>
          <a:custGeom>
            <a:avLst/>
            <a:gdLst/>
            <a:ahLst/>
            <a:cxnLst/>
            <a:rect l="0" t="0" r="0" b="0"/>
            <a:pathLst>
              <a:path w="723900" h="264795">
                <a:moveTo>
                  <a:pt x="0" y="264795"/>
                </a:moveTo>
                <a:lnTo>
                  <a:pt x="7620" y="264795"/>
                </a:lnTo>
                <a:lnTo>
                  <a:pt x="14288" y="264795"/>
                </a:lnTo>
                <a:lnTo>
                  <a:pt x="21908" y="264795"/>
                </a:lnTo>
                <a:lnTo>
                  <a:pt x="29527" y="264795"/>
                </a:lnTo>
                <a:lnTo>
                  <a:pt x="36195" y="264795"/>
                </a:lnTo>
                <a:lnTo>
                  <a:pt x="43815" y="264795"/>
                </a:lnTo>
                <a:lnTo>
                  <a:pt x="51435" y="264795"/>
                </a:lnTo>
                <a:lnTo>
                  <a:pt x="58102" y="264795"/>
                </a:lnTo>
                <a:lnTo>
                  <a:pt x="65723" y="264795"/>
                </a:lnTo>
                <a:lnTo>
                  <a:pt x="73342" y="264795"/>
                </a:lnTo>
                <a:lnTo>
                  <a:pt x="80010" y="262890"/>
                </a:lnTo>
                <a:lnTo>
                  <a:pt x="87630" y="256223"/>
                </a:lnTo>
                <a:lnTo>
                  <a:pt x="95250" y="235268"/>
                </a:lnTo>
                <a:lnTo>
                  <a:pt x="101917" y="197168"/>
                </a:lnTo>
                <a:lnTo>
                  <a:pt x="109538" y="159068"/>
                </a:lnTo>
                <a:lnTo>
                  <a:pt x="117158" y="153353"/>
                </a:lnTo>
                <a:lnTo>
                  <a:pt x="124777" y="184785"/>
                </a:lnTo>
                <a:lnTo>
                  <a:pt x="131445" y="225743"/>
                </a:lnTo>
                <a:lnTo>
                  <a:pt x="139065" y="251460"/>
                </a:lnTo>
                <a:lnTo>
                  <a:pt x="146685" y="261938"/>
                </a:lnTo>
                <a:lnTo>
                  <a:pt x="153352" y="264795"/>
                </a:lnTo>
                <a:lnTo>
                  <a:pt x="160973" y="264795"/>
                </a:lnTo>
                <a:lnTo>
                  <a:pt x="168592" y="264795"/>
                </a:lnTo>
                <a:lnTo>
                  <a:pt x="175260" y="264795"/>
                </a:lnTo>
                <a:lnTo>
                  <a:pt x="182880" y="264795"/>
                </a:lnTo>
                <a:lnTo>
                  <a:pt x="190500" y="264795"/>
                </a:lnTo>
                <a:lnTo>
                  <a:pt x="197167" y="264795"/>
                </a:lnTo>
                <a:lnTo>
                  <a:pt x="204788" y="264795"/>
                </a:lnTo>
                <a:lnTo>
                  <a:pt x="212408" y="263843"/>
                </a:lnTo>
                <a:lnTo>
                  <a:pt x="219075" y="261938"/>
                </a:lnTo>
                <a:lnTo>
                  <a:pt x="226695" y="256223"/>
                </a:lnTo>
                <a:lnTo>
                  <a:pt x="234315" y="241935"/>
                </a:lnTo>
                <a:lnTo>
                  <a:pt x="240983" y="212408"/>
                </a:lnTo>
                <a:lnTo>
                  <a:pt x="248602" y="163830"/>
                </a:lnTo>
                <a:lnTo>
                  <a:pt x="256223" y="100013"/>
                </a:lnTo>
                <a:lnTo>
                  <a:pt x="262890" y="38100"/>
                </a:lnTo>
                <a:lnTo>
                  <a:pt x="270510" y="0"/>
                </a:lnTo>
                <a:lnTo>
                  <a:pt x="278130" y="3810"/>
                </a:lnTo>
                <a:lnTo>
                  <a:pt x="284798" y="46673"/>
                </a:lnTo>
                <a:lnTo>
                  <a:pt x="292417" y="110490"/>
                </a:lnTo>
                <a:lnTo>
                  <a:pt x="300038" y="172403"/>
                </a:lnTo>
                <a:lnTo>
                  <a:pt x="306705" y="218123"/>
                </a:lnTo>
                <a:lnTo>
                  <a:pt x="314325" y="244793"/>
                </a:lnTo>
                <a:lnTo>
                  <a:pt x="321945" y="257175"/>
                </a:lnTo>
                <a:lnTo>
                  <a:pt x="328613" y="262890"/>
                </a:lnTo>
                <a:lnTo>
                  <a:pt x="336233" y="263843"/>
                </a:lnTo>
                <a:lnTo>
                  <a:pt x="343853" y="264795"/>
                </a:lnTo>
                <a:lnTo>
                  <a:pt x="350520" y="264795"/>
                </a:lnTo>
                <a:lnTo>
                  <a:pt x="358140" y="264795"/>
                </a:lnTo>
                <a:lnTo>
                  <a:pt x="365760" y="264795"/>
                </a:lnTo>
                <a:lnTo>
                  <a:pt x="373380" y="264795"/>
                </a:lnTo>
                <a:lnTo>
                  <a:pt x="380047" y="264795"/>
                </a:lnTo>
                <a:lnTo>
                  <a:pt x="387667" y="264795"/>
                </a:lnTo>
                <a:lnTo>
                  <a:pt x="395288" y="264795"/>
                </a:lnTo>
                <a:lnTo>
                  <a:pt x="401955" y="264795"/>
                </a:lnTo>
                <a:lnTo>
                  <a:pt x="409575" y="263843"/>
                </a:lnTo>
                <a:lnTo>
                  <a:pt x="417195" y="260985"/>
                </a:lnTo>
                <a:lnTo>
                  <a:pt x="423863" y="245745"/>
                </a:lnTo>
                <a:lnTo>
                  <a:pt x="431483" y="207645"/>
                </a:lnTo>
                <a:lnTo>
                  <a:pt x="439103" y="147638"/>
                </a:lnTo>
                <a:lnTo>
                  <a:pt x="445770" y="108585"/>
                </a:lnTo>
                <a:lnTo>
                  <a:pt x="453390" y="128588"/>
                </a:lnTo>
                <a:lnTo>
                  <a:pt x="461010" y="186690"/>
                </a:lnTo>
                <a:lnTo>
                  <a:pt x="467678" y="235268"/>
                </a:lnTo>
                <a:lnTo>
                  <a:pt x="475297" y="257175"/>
                </a:lnTo>
                <a:lnTo>
                  <a:pt x="482917" y="263843"/>
                </a:lnTo>
                <a:lnTo>
                  <a:pt x="489585" y="264795"/>
                </a:lnTo>
                <a:lnTo>
                  <a:pt x="497205" y="264795"/>
                </a:lnTo>
                <a:lnTo>
                  <a:pt x="504825" y="264795"/>
                </a:lnTo>
                <a:lnTo>
                  <a:pt x="511492" y="264795"/>
                </a:lnTo>
                <a:lnTo>
                  <a:pt x="519113" y="264795"/>
                </a:lnTo>
                <a:lnTo>
                  <a:pt x="526733" y="264795"/>
                </a:lnTo>
                <a:lnTo>
                  <a:pt x="533400" y="264795"/>
                </a:lnTo>
                <a:lnTo>
                  <a:pt x="541020" y="264795"/>
                </a:lnTo>
                <a:lnTo>
                  <a:pt x="548640" y="264795"/>
                </a:lnTo>
                <a:lnTo>
                  <a:pt x="555308" y="263843"/>
                </a:lnTo>
                <a:lnTo>
                  <a:pt x="562928" y="260985"/>
                </a:lnTo>
                <a:lnTo>
                  <a:pt x="570547" y="248603"/>
                </a:lnTo>
                <a:lnTo>
                  <a:pt x="577215" y="214313"/>
                </a:lnTo>
                <a:lnTo>
                  <a:pt x="584835" y="151448"/>
                </a:lnTo>
                <a:lnTo>
                  <a:pt x="592455" y="80963"/>
                </a:lnTo>
                <a:lnTo>
                  <a:pt x="599122" y="50483"/>
                </a:lnTo>
                <a:lnTo>
                  <a:pt x="606742" y="84773"/>
                </a:lnTo>
                <a:lnTo>
                  <a:pt x="614363" y="155258"/>
                </a:lnTo>
                <a:lnTo>
                  <a:pt x="621983" y="217170"/>
                </a:lnTo>
                <a:lnTo>
                  <a:pt x="628650" y="249555"/>
                </a:lnTo>
                <a:lnTo>
                  <a:pt x="636270" y="260985"/>
                </a:lnTo>
                <a:lnTo>
                  <a:pt x="643890" y="263843"/>
                </a:lnTo>
                <a:lnTo>
                  <a:pt x="650558" y="264795"/>
                </a:lnTo>
                <a:lnTo>
                  <a:pt x="658178" y="264795"/>
                </a:lnTo>
                <a:lnTo>
                  <a:pt x="665797" y="264795"/>
                </a:lnTo>
                <a:lnTo>
                  <a:pt x="672465" y="264795"/>
                </a:lnTo>
                <a:lnTo>
                  <a:pt x="680085" y="264795"/>
                </a:lnTo>
                <a:lnTo>
                  <a:pt x="687705" y="264795"/>
                </a:lnTo>
                <a:lnTo>
                  <a:pt x="694372" y="264795"/>
                </a:lnTo>
                <a:lnTo>
                  <a:pt x="701992" y="264795"/>
                </a:lnTo>
                <a:lnTo>
                  <a:pt x="709613" y="264795"/>
                </a:lnTo>
                <a:lnTo>
                  <a:pt x="716280" y="264795"/>
                </a:lnTo>
                <a:lnTo>
                  <a:pt x="723900" y="264795"/>
                </a:lnTo>
              </a:path>
            </a:pathLst>
          </a:custGeom>
          <a:noFill/>
          <a:ln w="19050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20 x₂">
            <a:extLst>
              <a:ext uri="{FF2B5EF4-FFF2-40B4-BE49-F238E27FC236}">
                <a16:creationId xmlns:a16="http://schemas.microsoft.com/office/drawing/2014/main" id="{C610669B-C0B1-48EF-9692-2669F663F0FD}"/>
              </a:ext>
            </a:extLst>
          </p:cNvPr>
          <p:cNvSpPr>
            <a:spLocks noGrp="1"/>
          </p:cNvSpPr>
          <p:nvPr/>
        </p:nvSpPr>
        <p:spPr>
          <a:xfrm>
            <a:off x="2943226" y="1352551"/>
            <a:ext cx="2286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DD4BECAF-BA38-45EA-92D8-31D42B45B005}"/>
              </a:ext>
            </a:extLst>
          </p:cNvPr>
          <p:cNvSpPr>
            <a:spLocks noGrp="1"/>
          </p:cNvSpPr>
          <p:nvPr/>
        </p:nvSpPr>
        <p:spPr>
          <a:xfrm>
            <a:off x="3181350" y="723901"/>
            <a:ext cx="352426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Arrowhead 22">
            <a:extLst>
              <a:ext uri="{FF2B5EF4-FFF2-40B4-BE49-F238E27FC236}">
                <a16:creationId xmlns:a16="http://schemas.microsoft.com/office/drawing/2014/main" id="{78FE9204-2C09-418C-94A8-CE9B1E295EAE}"/>
              </a:ext>
            </a:extLst>
          </p:cNvPr>
          <p:cNvSpPr>
            <a:spLocks noGrp="1"/>
          </p:cNvSpPr>
          <p:nvPr/>
        </p:nvSpPr>
        <p:spPr>
          <a:xfrm>
            <a:off x="3448050" y="68580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0A7815DB-3916-4483-8887-98BDCBA4CC62}"/>
              </a:ext>
            </a:extLst>
          </p:cNvPr>
          <p:cNvSpPr>
            <a:spLocks noGrp="1"/>
          </p:cNvSpPr>
          <p:nvPr/>
        </p:nvSpPr>
        <p:spPr>
          <a:xfrm>
            <a:off x="3181350" y="1476376"/>
            <a:ext cx="352426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Arrowhead 24">
            <a:extLst>
              <a:ext uri="{FF2B5EF4-FFF2-40B4-BE49-F238E27FC236}">
                <a16:creationId xmlns:a16="http://schemas.microsoft.com/office/drawing/2014/main" id="{491CE9D5-0B4D-459A-9DA2-631D11EC1240}"/>
              </a:ext>
            </a:extLst>
          </p:cNvPr>
          <p:cNvSpPr>
            <a:spLocks noGrp="1"/>
          </p:cNvSpPr>
          <p:nvPr/>
        </p:nvSpPr>
        <p:spPr>
          <a:xfrm>
            <a:off x="3448050" y="143827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Block 25">
            <a:extLst>
              <a:ext uri="{FF2B5EF4-FFF2-40B4-BE49-F238E27FC236}">
                <a16:creationId xmlns:a16="http://schemas.microsoft.com/office/drawing/2014/main" id="{98B77B1B-EBF6-4CA3-9AAE-E750886D758A}"/>
              </a:ext>
            </a:extLst>
          </p:cNvPr>
          <p:cNvSpPr>
            <a:spLocks noGrp="1"/>
          </p:cNvSpPr>
          <p:nvPr/>
        </p:nvSpPr>
        <p:spPr>
          <a:xfrm>
            <a:off x="3581400" y="561975"/>
            <a:ext cx="2619376" cy="1200150"/>
          </a:xfrm>
          <a:prstGeom prst="roundRect">
            <a:avLst>
              <a:gd name="adj" fmla="val 6349"/>
            </a:avLst>
          </a:prstGeom>
          <a:solidFill>
            <a:srgbClr val="E5F0FA"/>
          </a:solidFill>
          <a:ln w="13335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6 Spectrum Transformer">
            <a:extLst>
              <a:ext uri="{FF2B5EF4-FFF2-40B4-BE49-F238E27FC236}">
                <a16:creationId xmlns:a16="http://schemas.microsoft.com/office/drawing/2014/main" id="{4D550B2E-FCF3-4EE5-B029-C09EB2A0FCBD}"/>
              </a:ext>
            </a:extLst>
          </p:cNvPr>
          <p:cNvSpPr>
            <a:spLocks noGrp="1"/>
          </p:cNvSpPr>
          <p:nvPr/>
        </p:nvSpPr>
        <p:spPr>
          <a:xfrm>
            <a:off x="3943064" y="857887"/>
            <a:ext cx="1886521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Spectrum Transformer</a:t>
            </a:r>
          </a:p>
        </p:txBody>
      </p:sp>
      <p:sp>
        <p:nvSpPr>
          <p:cNvPr id="30" name="Text 30 Shared weights for both views">
            <a:extLst>
              <a:ext uri="{FF2B5EF4-FFF2-40B4-BE49-F238E27FC236}">
                <a16:creationId xmlns:a16="http://schemas.microsoft.com/office/drawing/2014/main" id="{94EC0BA3-773E-41FE-943F-0A6D2E71D438}"/>
              </a:ext>
            </a:extLst>
          </p:cNvPr>
          <p:cNvSpPr>
            <a:spLocks noGrp="1"/>
          </p:cNvSpPr>
          <p:nvPr/>
        </p:nvSpPr>
        <p:spPr>
          <a:xfrm>
            <a:off x="4381500" y="1832134"/>
            <a:ext cx="2733676" cy="220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Shared weights</a:t>
            </a: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E030F3B8-2EF5-4C64-A5EC-AB3DAC06BEF8}"/>
              </a:ext>
            </a:extLst>
          </p:cNvPr>
          <p:cNvSpPr>
            <a:spLocks noGrp="1"/>
          </p:cNvSpPr>
          <p:nvPr/>
        </p:nvSpPr>
        <p:spPr>
          <a:xfrm>
            <a:off x="6200775" y="885826"/>
            <a:ext cx="352426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Arrowhead 32">
            <a:extLst>
              <a:ext uri="{FF2B5EF4-FFF2-40B4-BE49-F238E27FC236}">
                <a16:creationId xmlns:a16="http://schemas.microsoft.com/office/drawing/2014/main" id="{69A21230-50EB-466D-B03C-DCAAD27B4FB0}"/>
              </a:ext>
            </a:extLst>
          </p:cNvPr>
          <p:cNvSpPr>
            <a:spLocks noGrp="1"/>
          </p:cNvSpPr>
          <p:nvPr/>
        </p:nvSpPr>
        <p:spPr>
          <a:xfrm>
            <a:off x="6467475" y="84772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8B30E75A-549F-41BC-B4D5-B8FCEA09782E}"/>
              </a:ext>
            </a:extLst>
          </p:cNvPr>
          <p:cNvSpPr>
            <a:spLocks noGrp="1"/>
          </p:cNvSpPr>
          <p:nvPr/>
        </p:nvSpPr>
        <p:spPr>
          <a:xfrm>
            <a:off x="6200775" y="1447801"/>
            <a:ext cx="352426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Arrowhead 34">
            <a:extLst>
              <a:ext uri="{FF2B5EF4-FFF2-40B4-BE49-F238E27FC236}">
                <a16:creationId xmlns:a16="http://schemas.microsoft.com/office/drawing/2014/main" id="{CA636185-47A5-44A7-8FB1-A61301773386}"/>
              </a:ext>
            </a:extLst>
          </p:cNvPr>
          <p:cNvSpPr>
            <a:spLocks noGrp="1"/>
          </p:cNvSpPr>
          <p:nvPr/>
        </p:nvSpPr>
        <p:spPr>
          <a:xfrm>
            <a:off x="6467475" y="140970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Block 35">
            <a:extLst>
              <a:ext uri="{FF2B5EF4-FFF2-40B4-BE49-F238E27FC236}">
                <a16:creationId xmlns:a16="http://schemas.microsoft.com/office/drawing/2014/main" id="{A61BC7EF-5EA3-4D7F-9A6C-5A72E06720F2}"/>
              </a:ext>
            </a:extLst>
          </p:cNvPr>
          <p:cNvSpPr>
            <a:spLocks noGrp="1"/>
          </p:cNvSpPr>
          <p:nvPr/>
        </p:nvSpPr>
        <p:spPr>
          <a:xfrm>
            <a:off x="6600826" y="619124"/>
            <a:ext cx="1162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335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6 Projection">
            <a:extLst>
              <a:ext uri="{FF2B5EF4-FFF2-40B4-BE49-F238E27FC236}">
                <a16:creationId xmlns:a16="http://schemas.microsoft.com/office/drawing/2014/main" id="{E1B375B3-A303-44A9-ADC9-C0D50931004D}"/>
              </a:ext>
            </a:extLst>
          </p:cNvPr>
          <p:cNvSpPr>
            <a:spLocks noGrp="1"/>
          </p:cNvSpPr>
          <p:nvPr/>
        </p:nvSpPr>
        <p:spPr>
          <a:xfrm>
            <a:off x="6753177" y="743712"/>
            <a:ext cx="885920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37" name="Text 37 + L2 norm">
            <a:extLst>
              <a:ext uri="{FF2B5EF4-FFF2-40B4-BE49-F238E27FC236}">
                <a16:creationId xmlns:a16="http://schemas.microsoft.com/office/drawing/2014/main" id="{C41C0FE3-EB53-4661-AC88-E361EBDEB4FA}"/>
              </a:ext>
            </a:extLst>
          </p:cNvPr>
          <p:cNvSpPr>
            <a:spLocks noGrp="1"/>
          </p:cNvSpPr>
          <p:nvPr/>
        </p:nvSpPr>
        <p:spPr>
          <a:xfrm>
            <a:off x="6827140" y="1018795"/>
            <a:ext cx="737997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+ L2 norm</a:t>
            </a:r>
          </a:p>
        </p:txBody>
      </p:sp>
      <p:sp>
        <p:nvSpPr>
          <p:cNvPr id="38" name="Text 38 128 → 64">
            <a:extLst>
              <a:ext uri="{FF2B5EF4-FFF2-40B4-BE49-F238E27FC236}">
                <a16:creationId xmlns:a16="http://schemas.microsoft.com/office/drawing/2014/main" id="{217865A6-02B1-40E4-8D6C-7D839460EA24}"/>
              </a:ext>
            </a:extLst>
          </p:cNvPr>
          <p:cNvSpPr>
            <a:spLocks noGrp="1"/>
          </p:cNvSpPr>
          <p:nvPr/>
        </p:nvSpPr>
        <p:spPr>
          <a:xfrm>
            <a:off x="6841904" y="1285495"/>
            <a:ext cx="708469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128 → 64</a:t>
            </a:r>
          </a:p>
        </p:txBody>
      </p:sp>
      <p:sp>
        <p:nvSpPr>
          <p:cNvPr id="39" name="Line 39">
            <a:extLst>
              <a:ext uri="{FF2B5EF4-FFF2-40B4-BE49-F238E27FC236}">
                <a16:creationId xmlns:a16="http://schemas.microsoft.com/office/drawing/2014/main" id="{D8B62620-1F9B-4BCB-8F17-006ADC1012A0}"/>
              </a:ext>
            </a:extLst>
          </p:cNvPr>
          <p:cNvSpPr>
            <a:spLocks noGrp="1"/>
          </p:cNvSpPr>
          <p:nvPr/>
        </p:nvSpPr>
        <p:spPr>
          <a:xfrm>
            <a:off x="7762876" y="876301"/>
            <a:ext cx="333376" cy="953"/>
          </a:xfrm>
          <a:custGeom>
            <a:avLst/>
            <a:gdLst/>
            <a:ahLst/>
            <a:cxnLst/>
            <a:rect l="0" t="0" r="0" b="0"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Arrowhead 40">
            <a:extLst>
              <a:ext uri="{FF2B5EF4-FFF2-40B4-BE49-F238E27FC236}">
                <a16:creationId xmlns:a16="http://schemas.microsoft.com/office/drawing/2014/main" id="{6DF76D9B-21B2-4812-9D29-F839C2079BF2}"/>
              </a:ext>
            </a:extLst>
          </p:cNvPr>
          <p:cNvSpPr>
            <a:spLocks noGrp="1"/>
          </p:cNvSpPr>
          <p:nvPr/>
        </p:nvSpPr>
        <p:spPr>
          <a:xfrm>
            <a:off x="8010525" y="83820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4FFC7CBC-158F-487C-87CF-812D44BE77A5}"/>
              </a:ext>
            </a:extLst>
          </p:cNvPr>
          <p:cNvSpPr>
            <a:spLocks noGrp="1"/>
          </p:cNvSpPr>
          <p:nvPr/>
        </p:nvSpPr>
        <p:spPr>
          <a:xfrm>
            <a:off x="7762876" y="1457326"/>
            <a:ext cx="333376" cy="953"/>
          </a:xfrm>
          <a:custGeom>
            <a:avLst/>
            <a:gdLst/>
            <a:ahLst/>
            <a:cxnLst/>
            <a:rect l="0" t="0" r="0" b="0"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Arrowhead 42">
            <a:extLst>
              <a:ext uri="{FF2B5EF4-FFF2-40B4-BE49-F238E27FC236}">
                <a16:creationId xmlns:a16="http://schemas.microsoft.com/office/drawing/2014/main" id="{6D212E5E-BCA0-483B-B9C9-F134FD94A26B}"/>
              </a:ext>
            </a:extLst>
          </p:cNvPr>
          <p:cNvSpPr>
            <a:spLocks noGrp="1"/>
          </p:cNvSpPr>
          <p:nvPr/>
        </p:nvSpPr>
        <p:spPr>
          <a:xfrm>
            <a:off x="8010525" y="141922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lock 43">
            <a:extLst>
              <a:ext uri="{FF2B5EF4-FFF2-40B4-BE49-F238E27FC236}">
                <a16:creationId xmlns:a16="http://schemas.microsoft.com/office/drawing/2014/main" id="{12D7D1C2-2909-41CC-A5CE-36D20FA698D3}"/>
              </a:ext>
            </a:extLst>
          </p:cNvPr>
          <p:cNvSpPr>
            <a:spLocks noGrp="1"/>
          </p:cNvSpPr>
          <p:nvPr/>
        </p:nvSpPr>
        <p:spPr>
          <a:xfrm>
            <a:off x="8153400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Block 44">
            <a:extLst>
              <a:ext uri="{FF2B5EF4-FFF2-40B4-BE49-F238E27FC236}">
                <a16:creationId xmlns:a16="http://schemas.microsoft.com/office/drawing/2014/main" id="{AEA85151-CFEB-42AC-B87C-2FF48CD6B42F}"/>
              </a:ext>
            </a:extLst>
          </p:cNvPr>
          <p:cNvSpPr>
            <a:spLocks noGrp="1"/>
          </p:cNvSpPr>
          <p:nvPr/>
        </p:nvSpPr>
        <p:spPr>
          <a:xfrm>
            <a:off x="8153400" y="714376"/>
            <a:ext cx="104776" cy="257176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Block 45">
            <a:extLst>
              <a:ext uri="{FF2B5EF4-FFF2-40B4-BE49-F238E27FC236}">
                <a16:creationId xmlns:a16="http://schemas.microsoft.com/office/drawing/2014/main" id="{CF6255CD-5966-4EC4-88B5-B31FFEEA96C4}"/>
              </a:ext>
            </a:extLst>
          </p:cNvPr>
          <p:cNvSpPr>
            <a:spLocks noGrp="1"/>
          </p:cNvSpPr>
          <p:nvPr/>
        </p:nvSpPr>
        <p:spPr>
          <a:xfrm>
            <a:off x="8277226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Block 46">
            <a:extLst>
              <a:ext uri="{FF2B5EF4-FFF2-40B4-BE49-F238E27FC236}">
                <a16:creationId xmlns:a16="http://schemas.microsoft.com/office/drawing/2014/main" id="{9A39654D-F3AE-4BB1-A3FB-26C811C95A49}"/>
              </a:ext>
            </a:extLst>
          </p:cNvPr>
          <p:cNvSpPr>
            <a:spLocks noGrp="1"/>
          </p:cNvSpPr>
          <p:nvPr/>
        </p:nvSpPr>
        <p:spPr>
          <a:xfrm>
            <a:off x="8277226" y="714376"/>
            <a:ext cx="104776" cy="257176"/>
          </a:xfrm>
          <a:prstGeom prst="rect">
            <a:avLst/>
          </a:prstGeom>
          <a:solidFill>
            <a:srgbClr val="FFFFFF">
              <a:alpha val="39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Block 47">
            <a:extLst>
              <a:ext uri="{FF2B5EF4-FFF2-40B4-BE49-F238E27FC236}">
                <a16:creationId xmlns:a16="http://schemas.microsoft.com/office/drawing/2014/main" id="{18EB921B-63C4-4AA1-B6F4-5EDCF9872F35}"/>
              </a:ext>
            </a:extLst>
          </p:cNvPr>
          <p:cNvSpPr>
            <a:spLocks noGrp="1"/>
          </p:cNvSpPr>
          <p:nvPr/>
        </p:nvSpPr>
        <p:spPr>
          <a:xfrm>
            <a:off x="8401050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Block 48">
            <a:extLst>
              <a:ext uri="{FF2B5EF4-FFF2-40B4-BE49-F238E27FC236}">
                <a16:creationId xmlns:a16="http://schemas.microsoft.com/office/drawing/2014/main" id="{872AEF18-3ED7-42A6-9A5A-5C310EB44CCF}"/>
              </a:ext>
            </a:extLst>
          </p:cNvPr>
          <p:cNvSpPr>
            <a:spLocks noGrp="1"/>
          </p:cNvSpPr>
          <p:nvPr/>
        </p:nvSpPr>
        <p:spPr>
          <a:xfrm>
            <a:off x="8401050" y="714376"/>
            <a:ext cx="104776" cy="257176"/>
          </a:xfrm>
          <a:prstGeom prst="rect">
            <a:avLst/>
          </a:prstGeom>
          <a:solidFill>
            <a:srgbClr val="FFFFFF">
              <a:alpha val="66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Block 49">
            <a:extLst>
              <a:ext uri="{FF2B5EF4-FFF2-40B4-BE49-F238E27FC236}">
                <a16:creationId xmlns:a16="http://schemas.microsoft.com/office/drawing/2014/main" id="{4FF025FC-7F5E-47B0-8317-9C90103F2844}"/>
              </a:ext>
            </a:extLst>
          </p:cNvPr>
          <p:cNvSpPr>
            <a:spLocks noGrp="1"/>
          </p:cNvSpPr>
          <p:nvPr/>
        </p:nvSpPr>
        <p:spPr>
          <a:xfrm>
            <a:off x="8524876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Block 50">
            <a:extLst>
              <a:ext uri="{FF2B5EF4-FFF2-40B4-BE49-F238E27FC236}">
                <a16:creationId xmlns:a16="http://schemas.microsoft.com/office/drawing/2014/main" id="{7BAB33A7-7645-467E-A23B-DB8029370984}"/>
              </a:ext>
            </a:extLst>
          </p:cNvPr>
          <p:cNvSpPr>
            <a:spLocks noGrp="1"/>
          </p:cNvSpPr>
          <p:nvPr/>
        </p:nvSpPr>
        <p:spPr>
          <a:xfrm>
            <a:off x="8524876" y="714376"/>
            <a:ext cx="104776" cy="257176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Block 51">
            <a:extLst>
              <a:ext uri="{FF2B5EF4-FFF2-40B4-BE49-F238E27FC236}">
                <a16:creationId xmlns:a16="http://schemas.microsoft.com/office/drawing/2014/main" id="{A3FE091E-5031-40BD-A93C-0D834A3B1CAE}"/>
              </a:ext>
            </a:extLst>
          </p:cNvPr>
          <p:cNvSpPr>
            <a:spLocks noGrp="1"/>
          </p:cNvSpPr>
          <p:nvPr/>
        </p:nvSpPr>
        <p:spPr>
          <a:xfrm>
            <a:off x="8648700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Block 52">
            <a:extLst>
              <a:ext uri="{FF2B5EF4-FFF2-40B4-BE49-F238E27FC236}">
                <a16:creationId xmlns:a16="http://schemas.microsoft.com/office/drawing/2014/main" id="{B3F8CF6D-99D2-4A70-815D-975D58250942}"/>
              </a:ext>
            </a:extLst>
          </p:cNvPr>
          <p:cNvSpPr>
            <a:spLocks noGrp="1"/>
          </p:cNvSpPr>
          <p:nvPr/>
        </p:nvSpPr>
        <p:spPr>
          <a:xfrm>
            <a:off x="8648700" y="714376"/>
            <a:ext cx="104776" cy="257176"/>
          </a:xfrm>
          <a:prstGeom prst="rect">
            <a:avLst/>
          </a:prstGeom>
          <a:solidFill>
            <a:srgbClr val="FFFFFF">
              <a:alpha val="57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Block 53">
            <a:extLst>
              <a:ext uri="{FF2B5EF4-FFF2-40B4-BE49-F238E27FC236}">
                <a16:creationId xmlns:a16="http://schemas.microsoft.com/office/drawing/2014/main" id="{3952992E-3E43-46D8-8F33-CA55DFFBE8A3}"/>
              </a:ext>
            </a:extLst>
          </p:cNvPr>
          <p:cNvSpPr>
            <a:spLocks noGrp="1"/>
          </p:cNvSpPr>
          <p:nvPr/>
        </p:nvSpPr>
        <p:spPr>
          <a:xfrm>
            <a:off x="8772526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Block 54">
            <a:extLst>
              <a:ext uri="{FF2B5EF4-FFF2-40B4-BE49-F238E27FC236}">
                <a16:creationId xmlns:a16="http://schemas.microsoft.com/office/drawing/2014/main" id="{F75E8793-023B-4662-8E98-DAC441D652DD}"/>
              </a:ext>
            </a:extLst>
          </p:cNvPr>
          <p:cNvSpPr>
            <a:spLocks noGrp="1"/>
          </p:cNvSpPr>
          <p:nvPr/>
        </p:nvSpPr>
        <p:spPr>
          <a:xfrm>
            <a:off x="8772526" y="714376"/>
            <a:ext cx="104776" cy="257176"/>
          </a:xfrm>
          <a:prstGeom prst="rect">
            <a:avLst/>
          </a:prstGeom>
          <a:solidFill>
            <a:srgbClr val="FFFFFF">
              <a:alpha val="21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Block 55">
            <a:extLst>
              <a:ext uri="{FF2B5EF4-FFF2-40B4-BE49-F238E27FC236}">
                <a16:creationId xmlns:a16="http://schemas.microsoft.com/office/drawing/2014/main" id="{8DA2E1B7-F7AD-4E8D-97FF-27D1675CC43B}"/>
              </a:ext>
            </a:extLst>
          </p:cNvPr>
          <p:cNvSpPr>
            <a:spLocks noGrp="1"/>
          </p:cNvSpPr>
          <p:nvPr/>
        </p:nvSpPr>
        <p:spPr>
          <a:xfrm>
            <a:off x="8896350" y="71437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Block 56">
            <a:extLst>
              <a:ext uri="{FF2B5EF4-FFF2-40B4-BE49-F238E27FC236}">
                <a16:creationId xmlns:a16="http://schemas.microsoft.com/office/drawing/2014/main" id="{744956D2-3CD6-42D0-8EB7-F599B8A6D883}"/>
              </a:ext>
            </a:extLst>
          </p:cNvPr>
          <p:cNvSpPr>
            <a:spLocks noGrp="1"/>
          </p:cNvSpPr>
          <p:nvPr/>
        </p:nvSpPr>
        <p:spPr>
          <a:xfrm>
            <a:off x="8896350" y="714376"/>
            <a:ext cx="104776" cy="257176"/>
          </a:xfrm>
          <a:prstGeom prst="rect">
            <a:avLst/>
          </a:prstGeom>
          <a:solidFill>
            <a:srgbClr val="FFFFFF">
              <a:alpha val="48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7 s₁">
            <a:extLst>
              <a:ext uri="{FF2B5EF4-FFF2-40B4-BE49-F238E27FC236}">
                <a16:creationId xmlns:a16="http://schemas.microsoft.com/office/drawing/2014/main" id="{07F4CD8E-185E-401B-A509-B41662115AD3}"/>
              </a:ext>
            </a:extLst>
          </p:cNvPr>
          <p:cNvSpPr>
            <a:spLocks noGrp="1"/>
          </p:cNvSpPr>
          <p:nvPr/>
        </p:nvSpPr>
        <p:spPr>
          <a:xfrm>
            <a:off x="9172576" y="752476"/>
            <a:ext cx="219076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58" name="Block 58">
            <a:extLst>
              <a:ext uri="{FF2B5EF4-FFF2-40B4-BE49-F238E27FC236}">
                <a16:creationId xmlns:a16="http://schemas.microsoft.com/office/drawing/2014/main" id="{8B2383A0-0D4E-4371-94B2-2623E08A9B03}"/>
              </a:ext>
            </a:extLst>
          </p:cNvPr>
          <p:cNvSpPr>
            <a:spLocks noGrp="1"/>
          </p:cNvSpPr>
          <p:nvPr/>
        </p:nvSpPr>
        <p:spPr>
          <a:xfrm>
            <a:off x="8153400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Block 59">
            <a:extLst>
              <a:ext uri="{FF2B5EF4-FFF2-40B4-BE49-F238E27FC236}">
                <a16:creationId xmlns:a16="http://schemas.microsoft.com/office/drawing/2014/main" id="{72D43BC3-7F0D-4AF6-9F7A-9B837AEFFDF9}"/>
              </a:ext>
            </a:extLst>
          </p:cNvPr>
          <p:cNvSpPr>
            <a:spLocks noGrp="1"/>
          </p:cNvSpPr>
          <p:nvPr/>
        </p:nvSpPr>
        <p:spPr>
          <a:xfrm>
            <a:off x="8153400" y="1304926"/>
            <a:ext cx="104776" cy="257176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Block 60">
            <a:extLst>
              <a:ext uri="{FF2B5EF4-FFF2-40B4-BE49-F238E27FC236}">
                <a16:creationId xmlns:a16="http://schemas.microsoft.com/office/drawing/2014/main" id="{4CFAEF66-4575-4481-B5C9-2820276E179C}"/>
              </a:ext>
            </a:extLst>
          </p:cNvPr>
          <p:cNvSpPr>
            <a:spLocks noGrp="1"/>
          </p:cNvSpPr>
          <p:nvPr/>
        </p:nvSpPr>
        <p:spPr>
          <a:xfrm>
            <a:off x="8277226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Block 61">
            <a:extLst>
              <a:ext uri="{FF2B5EF4-FFF2-40B4-BE49-F238E27FC236}">
                <a16:creationId xmlns:a16="http://schemas.microsoft.com/office/drawing/2014/main" id="{B700D851-84D5-4A70-9F71-78A2AC95AA6D}"/>
              </a:ext>
            </a:extLst>
          </p:cNvPr>
          <p:cNvSpPr>
            <a:spLocks noGrp="1"/>
          </p:cNvSpPr>
          <p:nvPr/>
        </p:nvSpPr>
        <p:spPr>
          <a:xfrm>
            <a:off x="8277226" y="1304926"/>
            <a:ext cx="104776" cy="257176"/>
          </a:xfrm>
          <a:prstGeom prst="rect">
            <a:avLst/>
          </a:prstGeom>
          <a:solidFill>
            <a:srgbClr val="FFFFFF">
              <a:alpha val="39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Block 62">
            <a:extLst>
              <a:ext uri="{FF2B5EF4-FFF2-40B4-BE49-F238E27FC236}">
                <a16:creationId xmlns:a16="http://schemas.microsoft.com/office/drawing/2014/main" id="{9DD2B256-3897-4B12-BC01-0BBFEB428749}"/>
              </a:ext>
            </a:extLst>
          </p:cNvPr>
          <p:cNvSpPr>
            <a:spLocks noGrp="1"/>
          </p:cNvSpPr>
          <p:nvPr/>
        </p:nvSpPr>
        <p:spPr>
          <a:xfrm>
            <a:off x="8401050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Block 63">
            <a:extLst>
              <a:ext uri="{FF2B5EF4-FFF2-40B4-BE49-F238E27FC236}">
                <a16:creationId xmlns:a16="http://schemas.microsoft.com/office/drawing/2014/main" id="{B0381961-D0CB-41B0-999A-740217A60FDA}"/>
              </a:ext>
            </a:extLst>
          </p:cNvPr>
          <p:cNvSpPr>
            <a:spLocks noGrp="1"/>
          </p:cNvSpPr>
          <p:nvPr/>
        </p:nvSpPr>
        <p:spPr>
          <a:xfrm>
            <a:off x="8401050" y="1304926"/>
            <a:ext cx="104776" cy="257176"/>
          </a:xfrm>
          <a:prstGeom prst="rect">
            <a:avLst/>
          </a:prstGeom>
          <a:solidFill>
            <a:srgbClr val="FFFFFF">
              <a:alpha val="66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Block 64">
            <a:extLst>
              <a:ext uri="{FF2B5EF4-FFF2-40B4-BE49-F238E27FC236}">
                <a16:creationId xmlns:a16="http://schemas.microsoft.com/office/drawing/2014/main" id="{B1C01529-731C-4761-9775-E21D12E3AE4D}"/>
              </a:ext>
            </a:extLst>
          </p:cNvPr>
          <p:cNvSpPr>
            <a:spLocks noGrp="1"/>
          </p:cNvSpPr>
          <p:nvPr/>
        </p:nvSpPr>
        <p:spPr>
          <a:xfrm>
            <a:off x="8524876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Block 65">
            <a:extLst>
              <a:ext uri="{FF2B5EF4-FFF2-40B4-BE49-F238E27FC236}">
                <a16:creationId xmlns:a16="http://schemas.microsoft.com/office/drawing/2014/main" id="{B416AAE0-A50D-46F2-B268-F19D846FF5BE}"/>
              </a:ext>
            </a:extLst>
          </p:cNvPr>
          <p:cNvSpPr>
            <a:spLocks noGrp="1"/>
          </p:cNvSpPr>
          <p:nvPr/>
        </p:nvSpPr>
        <p:spPr>
          <a:xfrm>
            <a:off x="8524876" y="1304926"/>
            <a:ext cx="104776" cy="257176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Block 66">
            <a:extLst>
              <a:ext uri="{FF2B5EF4-FFF2-40B4-BE49-F238E27FC236}">
                <a16:creationId xmlns:a16="http://schemas.microsoft.com/office/drawing/2014/main" id="{4FDEB1B8-D7D0-4673-A4FA-AE067D14FC8F}"/>
              </a:ext>
            </a:extLst>
          </p:cNvPr>
          <p:cNvSpPr>
            <a:spLocks noGrp="1"/>
          </p:cNvSpPr>
          <p:nvPr/>
        </p:nvSpPr>
        <p:spPr>
          <a:xfrm>
            <a:off x="8648700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Block 67">
            <a:extLst>
              <a:ext uri="{FF2B5EF4-FFF2-40B4-BE49-F238E27FC236}">
                <a16:creationId xmlns:a16="http://schemas.microsoft.com/office/drawing/2014/main" id="{3471BB00-361D-440C-B6EF-27F30E278AF0}"/>
              </a:ext>
            </a:extLst>
          </p:cNvPr>
          <p:cNvSpPr>
            <a:spLocks noGrp="1"/>
          </p:cNvSpPr>
          <p:nvPr/>
        </p:nvSpPr>
        <p:spPr>
          <a:xfrm>
            <a:off x="8648700" y="1304926"/>
            <a:ext cx="104776" cy="257176"/>
          </a:xfrm>
          <a:prstGeom prst="rect">
            <a:avLst/>
          </a:prstGeom>
          <a:solidFill>
            <a:srgbClr val="FFFFFF">
              <a:alpha val="57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Block 68">
            <a:extLst>
              <a:ext uri="{FF2B5EF4-FFF2-40B4-BE49-F238E27FC236}">
                <a16:creationId xmlns:a16="http://schemas.microsoft.com/office/drawing/2014/main" id="{BA592EE5-F176-4AA6-A3F9-AF7FE8BFB776}"/>
              </a:ext>
            </a:extLst>
          </p:cNvPr>
          <p:cNvSpPr>
            <a:spLocks noGrp="1"/>
          </p:cNvSpPr>
          <p:nvPr/>
        </p:nvSpPr>
        <p:spPr>
          <a:xfrm>
            <a:off x="8772526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Block 69">
            <a:extLst>
              <a:ext uri="{FF2B5EF4-FFF2-40B4-BE49-F238E27FC236}">
                <a16:creationId xmlns:a16="http://schemas.microsoft.com/office/drawing/2014/main" id="{9E7FA144-EA2B-424B-9208-669F0D31E672}"/>
              </a:ext>
            </a:extLst>
          </p:cNvPr>
          <p:cNvSpPr>
            <a:spLocks noGrp="1"/>
          </p:cNvSpPr>
          <p:nvPr/>
        </p:nvSpPr>
        <p:spPr>
          <a:xfrm>
            <a:off x="8772526" y="1304926"/>
            <a:ext cx="104776" cy="257176"/>
          </a:xfrm>
          <a:prstGeom prst="rect">
            <a:avLst/>
          </a:prstGeom>
          <a:solidFill>
            <a:srgbClr val="FFFFFF">
              <a:alpha val="21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Block 70">
            <a:extLst>
              <a:ext uri="{FF2B5EF4-FFF2-40B4-BE49-F238E27FC236}">
                <a16:creationId xmlns:a16="http://schemas.microsoft.com/office/drawing/2014/main" id="{40ED0C9C-CF93-47CA-8A45-B55DF28F6C96}"/>
              </a:ext>
            </a:extLst>
          </p:cNvPr>
          <p:cNvSpPr>
            <a:spLocks noGrp="1"/>
          </p:cNvSpPr>
          <p:nvPr/>
        </p:nvSpPr>
        <p:spPr>
          <a:xfrm>
            <a:off x="8896350" y="13049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Block 71">
            <a:extLst>
              <a:ext uri="{FF2B5EF4-FFF2-40B4-BE49-F238E27FC236}">
                <a16:creationId xmlns:a16="http://schemas.microsoft.com/office/drawing/2014/main" id="{52CA17E9-1743-4816-9210-B3F0E2CB26D2}"/>
              </a:ext>
            </a:extLst>
          </p:cNvPr>
          <p:cNvSpPr>
            <a:spLocks noGrp="1"/>
          </p:cNvSpPr>
          <p:nvPr/>
        </p:nvSpPr>
        <p:spPr>
          <a:xfrm>
            <a:off x="8896350" y="1304926"/>
            <a:ext cx="104776" cy="257176"/>
          </a:xfrm>
          <a:prstGeom prst="rect">
            <a:avLst/>
          </a:prstGeom>
          <a:solidFill>
            <a:srgbClr val="FFFFFF">
              <a:alpha val="48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2 s₂">
            <a:extLst>
              <a:ext uri="{FF2B5EF4-FFF2-40B4-BE49-F238E27FC236}">
                <a16:creationId xmlns:a16="http://schemas.microsoft.com/office/drawing/2014/main" id="{DB80610F-B9BF-4C00-AB02-72E9AF352321}"/>
              </a:ext>
            </a:extLst>
          </p:cNvPr>
          <p:cNvSpPr>
            <a:spLocks noGrp="1"/>
          </p:cNvSpPr>
          <p:nvPr/>
        </p:nvSpPr>
        <p:spPr>
          <a:xfrm>
            <a:off x="9172576" y="1343026"/>
            <a:ext cx="219076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73" name="Text 73 Unit vectors ∈ ℝ⁶⁴">
            <a:extLst>
              <a:ext uri="{FF2B5EF4-FFF2-40B4-BE49-F238E27FC236}">
                <a16:creationId xmlns:a16="http://schemas.microsoft.com/office/drawing/2014/main" id="{157ED5C7-53F7-4B9A-A9DA-4EDB4FA040E1}"/>
              </a:ext>
            </a:extLst>
          </p:cNvPr>
          <p:cNvSpPr>
            <a:spLocks noGrp="1"/>
          </p:cNvSpPr>
          <p:nvPr/>
        </p:nvSpPr>
        <p:spPr>
          <a:xfrm>
            <a:off x="8029576" y="1685925"/>
            <a:ext cx="1428750" cy="220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64-D unit vectors</a:t>
            </a:r>
          </a:p>
        </p:txBody>
      </p:sp>
      <p:sp>
        <p:nvSpPr>
          <p:cNvPr id="88" name="Text 88 SMILES">
            <a:extLst>
              <a:ext uri="{FF2B5EF4-FFF2-40B4-BE49-F238E27FC236}">
                <a16:creationId xmlns:a16="http://schemas.microsoft.com/office/drawing/2014/main" id="{A84C9A5A-2DB9-4B9C-ACD3-3B32B8919249}"/>
              </a:ext>
            </a:extLst>
          </p:cNvPr>
          <p:cNvSpPr>
            <a:spLocks noGrp="1"/>
          </p:cNvSpPr>
          <p:nvPr/>
        </p:nvSpPr>
        <p:spPr>
          <a:xfrm>
            <a:off x="1304924" y="2228851"/>
            <a:ext cx="9906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Theory refs</a:t>
            </a:r>
          </a:p>
        </p:txBody>
      </p:sp>
      <p:sp>
        <p:nvSpPr>
          <p:cNvPr id="89" name="Text 89 → graph">
            <a:extLst>
              <a:ext uri="{FF2B5EF4-FFF2-40B4-BE49-F238E27FC236}">
                <a16:creationId xmlns:a16="http://schemas.microsoft.com/office/drawing/2014/main" id="{D2DCD098-800A-4135-951D-31462A6F20AD}"/>
              </a:ext>
            </a:extLst>
          </p:cNvPr>
          <p:cNvSpPr>
            <a:spLocks noGrp="1"/>
          </p:cNvSpPr>
          <p:nvPr/>
        </p:nvSpPr>
        <p:spPr>
          <a:xfrm>
            <a:off x="1304924" y="2476500"/>
            <a:ext cx="990600" cy="220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96 spectra</a:t>
            </a:r>
          </a:p>
        </p:txBody>
      </p:sp>
      <p:sp>
        <p:nvSpPr>
          <p:cNvPr id="90" name="Line 90">
            <a:extLst>
              <a:ext uri="{FF2B5EF4-FFF2-40B4-BE49-F238E27FC236}">
                <a16:creationId xmlns:a16="http://schemas.microsoft.com/office/drawing/2014/main" id="{96A8423E-CB8E-403B-B27B-F9925542AB13}"/>
              </a:ext>
            </a:extLst>
          </p:cNvPr>
          <p:cNvSpPr>
            <a:spLocks noGrp="1"/>
          </p:cNvSpPr>
          <p:nvPr/>
        </p:nvSpPr>
        <p:spPr>
          <a:xfrm>
            <a:off x="2343150" y="2457451"/>
            <a:ext cx="1190626" cy="953"/>
          </a:xfrm>
          <a:custGeom>
            <a:avLst/>
            <a:gdLst/>
            <a:ahLst/>
            <a:cxnLst/>
            <a:rect l="0" t="0" r="0" b="0"/>
            <a:pathLst>
              <a:path w="1190625" h="953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Arrowhead 91">
            <a:extLst>
              <a:ext uri="{FF2B5EF4-FFF2-40B4-BE49-F238E27FC236}">
                <a16:creationId xmlns:a16="http://schemas.microsoft.com/office/drawing/2014/main" id="{23264D4B-94A4-453A-B144-0F4B435B0239}"/>
              </a:ext>
            </a:extLst>
          </p:cNvPr>
          <p:cNvSpPr>
            <a:spLocks noGrp="1"/>
          </p:cNvSpPr>
          <p:nvPr/>
        </p:nvSpPr>
        <p:spPr>
          <a:xfrm>
            <a:off x="3448050" y="241935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Block 94">
            <a:extLst>
              <a:ext uri="{FF2B5EF4-FFF2-40B4-BE49-F238E27FC236}">
                <a16:creationId xmlns:a16="http://schemas.microsoft.com/office/drawing/2014/main" id="{E49F9C3D-915F-4C5E-BFB9-666AA2AA9115}"/>
              </a:ext>
            </a:extLst>
          </p:cNvPr>
          <p:cNvSpPr>
            <a:spLocks noGrp="1"/>
          </p:cNvSpPr>
          <p:nvPr/>
        </p:nvSpPr>
        <p:spPr>
          <a:xfrm>
            <a:off x="3581400" y="2085976"/>
            <a:ext cx="2619376" cy="676276"/>
          </a:xfrm>
          <a:prstGeom prst="roundRect">
            <a:avLst>
              <a:gd name="adj" fmla="val 11268"/>
            </a:avLst>
          </a:prstGeom>
          <a:solidFill>
            <a:srgbClr val="FBEFDF"/>
          </a:solidFill>
          <a:ln w="1333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5 Edge-conditioned GIN × 2">
            <a:extLst>
              <a:ext uri="{FF2B5EF4-FFF2-40B4-BE49-F238E27FC236}">
                <a16:creationId xmlns:a16="http://schemas.microsoft.com/office/drawing/2014/main" id="{3DA5C9CB-E3C3-43DD-B736-BEF0988E30F0}"/>
              </a:ext>
            </a:extLst>
          </p:cNvPr>
          <p:cNvSpPr>
            <a:spLocks noGrp="1"/>
          </p:cNvSpPr>
          <p:nvPr/>
        </p:nvSpPr>
        <p:spPr>
          <a:xfrm>
            <a:off x="3848100" y="2333150"/>
            <a:ext cx="23241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Spectrum Transformer</a:t>
            </a:r>
          </a:p>
        </p:txBody>
      </p:sp>
      <p:sp>
        <p:nvSpPr>
          <p:cNvPr id="97" name="Line 97">
            <a:extLst>
              <a:ext uri="{FF2B5EF4-FFF2-40B4-BE49-F238E27FC236}">
                <a16:creationId xmlns:a16="http://schemas.microsoft.com/office/drawing/2014/main" id="{A3E7646D-311A-4443-BEC8-B10BDC81ADDC}"/>
              </a:ext>
            </a:extLst>
          </p:cNvPr>
          <p:cNvSpPr>
            <a:spLocks noGrp="1"/>
          </p:cNvSpPr>
          <p:nvPr/>
        </p:nvSpPr>
        <p:spPr>
          <a:xfrm>
            <a:off x="6200775" y="2428876"/>
            <a:ext cx="352426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Arrowhead 98">
            <a:extLst>
              <a:ext uri="{FF2B5EF4-FFF2-40B4-BE49-F238E27FC236}">
                <a16:creationId xmlns:a16="http://schemas.microsoft.com/office/drawing/2014/main" id="{A63F0A10-D2BB-42F9-928C-0583B94E7899}"/>
              </a:ext>
            </a:extLst>
          </p:cNvPr>
          <p:cNvSpPr>
            <a:spLocks noGrp="1"/>
          </p:cNvSpPr>
          <p:nvPr/>
        </p:nvSpPr>
        <p:spPr>
          <a:xfrm>
            <a:off x="6467475" y="2390776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9" name="Block 99">
            <a:extLst>
              <a:ext uri="{FF2B5EF4-FFF2-40B4-BE49-F238E27FC236}">
                <a16:creationId xmlns:a16="http://schemas.microsoft.com/office/drawing/2014/main" id="{FA55D7BD-30BB-44FF-8A04-A1F81A6386EC}"/>
              </a:ext>
            </a:extLst>
          </p:cNvPr>
          <p:cNvSpPr>
            <a:spLocks noGrp="1"/>
          </p:cNvSpPr>
          <p:nvPr/>
        </p:nvSpPr>
        <p:spPr>
          <a:xfrm>
            <a:off x="6600826" y="2143126"/>
            <a:ext cx="11620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100 Projection">
            <a:extLst>
              <a:ext uri="{FF2B5EF4-FFF2-40B4-BE49-F238E27FC236}">
                <a16:creationId xmlns:a16="http://schemas.microsoft.com/office/drawing/2014/main" id="{5C9F34C2-8F63-4860-8B34-6C842795A5A6}"/>
              </a:ext>
            </a:extLst>
          </p:cNvPr>
          <p:cNvSpPr>
            <a:spLocks noGrp="1"/>
          </p:cNvSpPr>
          <p:nvPr/>
        </p:nvSpPr>
        <p:spPr>
          <a:xfrm>
            <a:off x="6833474" y="2218945"/>
            <a:ext cx="725329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101" name="Text 101 + L2 norm">
            <a:extLst>
              <a:ext uri="{FF2B5EF4-FFF2-40B4-BE49-F238E27FC236}">
                <a16:creationId xmlns:a16="http://schemas.microsoft.com/office/drawing/2014/main" id="{5BFA5BE4-D18D-4B18-BA00-2DA4FB7FFB91}"/>
              </a:ext>
            </a:extLst>
          </p:cNvPr>
          <p:cNvSpPr>
            <a:spLocks noGrp="1"/>
          </p:cNvSpPr>
          <p:nvPr/>
        </p:nvSpPr>
        <p:spPr>
          <a:xfrm>
            <a:off x="6827140" y="2428495"/>
            <a:ext cx="737997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+ L2 norm</a:t>
            </a:r>
          </a:p>
        </p:txBody>
      </p:sp>
      <p:sp>
        <p:nvSpPr>
          <p:cNvPr id="102" name="Line 102">
            <a:extLst>
              <a:ext uri="{FF2B5EF4-FFF2-40B4-BE49-F238E27FC236}">
                <a16:creationId xmlns:a16="http://schemas.microsoft.com/office/drawing/2014/main" id="{5A227222-05EC-443C-AF64-6F5B2B18AC1A}"/>
              </a:ext>
            </a:extLst>
          </p:cNvPr>
          <p:cNvSpPr>
            <a:spLocks noGrp="1"/>
          </p:cNvSpPr>
          <p:nvPr/>
        </p:nvSpPr>
        <p:spPr>
          <a:xfrm>
            <a:off x="7762876" y="2419351"/>
            <a:ext cx="333376" cy="953"/>
          </a:xfrm>
          <a:custGeom>
            <a:avLst/>
            <a:gdLst/>
            <a:ahLst/>
            <a:cxnLst/>
            <a:rect l="0" t="0" r="0" b="0"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Arrowhead 103">
            <a:extLst>
              <a:ext uri="{FF2B5EF4-FFF2-40B4-BE49-F238E27FC236}">
                <a16:creationId xmlns:a16="http://schemas.microsoft.com/office/drawing/2014/main" id="{EE30E515-B9D4-426D-BB9C-4BA1185FA9B0}"/>
              </a:ext>
            </a:extLst>
          </p:cNvPr>
          <p:cNvSpPr>
            <a:spLocks noGrp="1"/>
          </p:cNvSpPr>
          <p:nvPr/>
        </p:nvSpPr>
        <p:spPr>
          <a:xfrm>
            <a:off x="8010525" y="238125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lock 104">
            <a:extLst>
              <a:ext uri="{FF2B5EF4-FFF2-40B4-BE49-F238E27FC236}">
                <a16:creationId xmlns:a16="http://schemas.microsoft.com/office/drawing/2014/main" id="{368C9353-179F-4202-B80F-726C2CC53BB5}"/>
              </a:ext>
            </a:extLst>
          </p:cNvPr>
          <p:cNvSpPr>
            <a:spLocks noGrp="1"/>
          </p:cNvSpPr>
          <p:nvPr/>
        </p:nvSpPr>
        <p:spPr>
          <a:xfrm>
            <a:off x="8153400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Block 105">
            <a:extLst>
              <a:ext uri="{FF2B5EF4-FFF2-40B4-BE49-F238E27FC236}">
                <a16:creationId xmlns:a16="http://schemas.microsoft.com/office/drawing/2014/main" id="{71B58D3D-6BDE-4F14-BDB6-3D6B19231BED}"/>
              </a:ext>
            </a:extLst>
          </p:cNvPr>
          <p:cNvSpPr>
            <a:spLocks noGrp="1"/>
          </p:cNvSpPr>
          <p:nvPr/>
        </p:nvSpPr>
        <p:spPr>
          <a:xfrm>
            <a:off x="8153400" y="2295526"/>
            <a:ext cx="104776" cy="257176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Block 106">
            <a:extLst>
              <a:ext uri="{FF2B5EF4-FFF2-40B4-BE49-F238E27FC236}">
                <a16:creationId xmlns:a16="http://schemas.microsoft.com/office/drawing/2014/main" id="{0DF48116-7C46-4DA9-A88D-2B29B9863A85}"/>
              </a:ext>
            </a:extLst>
          </p:cNvPr>
          <p:cNvSpPr>
            <a:spLocks noGrp="1"/>
          </p:cNvSpPr>
          <p:nvPr/>
        </p:nvSpPr>
        <p:spPr>
          <a:xfrm>
            <a:off x="8277226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Block 107">
            <a:extLst>
              <a:ext uri="{FF2B5EF4-FFF2-40B4-BE49-F238E27FC236}">
                <a16:creationId xmlns:a16="http://schemas.microsoft.com/office/drawing/2014/main" id="{20F7447A-C294-437E-A86F-113DE97A78C8}"/>
              </a:ext>
            </a:extLst>
          </p:cNvPr>
          <p:cNvSpPr>
            <a:spLocks noGrp="1"/>
          </p:cNvSpPr>
          <p:nvPr/>
        </p:nvSpPr>
        <p:spPr>
          <a:xfrm>
            <a:off x="8277226" y="2295526"/>
            <a:ext cx="104776" cy="257176"/>
          </a:xfrm>
          <a:prstGeom prst="rect">
            <a:avLst/>
          </a:prstGeom>
          <a:solidFill>
            <a:srgbClr val="FFFFFF">
              <a:alpha val="39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Block 108">
            <a:extLst>
              <a:ext uri="{FF2B5EF4-FFF2-40B4-BE49-F238E27FC236}">
                <a16:creationId xmlns:a16="http://schemas.microsoft.com/office/drawing/2014/main" id="{CDE1F348-6C15-42F0-9D48-D38CA7A7FA54}"/>
              </a:ext>
            </a:extLst>
          </p:cNvPr>
          <p:cNvSpPr>
            <a:spLocks noGrp="1"/>
          </p:cNvSpPr>
          <p:nvPr/>
        </p:nvSpPr>
        <p:spPr>
          <a:xfrm>
            <a:off x="8401050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Block 109">
            <a:extLst>
              <a:ext uri="{FF2B5EF4-FFF2-40B4-BE49-F238E27FC236}">
                <a16:creationId xmlns:a16="http://schemas.microsoft.com/office/drawing/2014/main" id="{75F4B81C-BB17-4030-8EB9-CA52DE7519C7}"/>
              </a:ext>
            </a:extLst>
          </p:cNvPr>
          <p:cNvSpPr>
            <a:spLocks noGrp="1"/>
          </p:cNvSpPr>
          <p:nvPr/>
        </p:nvSpPr>
        <p:spPr>
          <a:xfrm>
            <a:off x="8401050" y="2295526"/>
            <a:ext cx="104776" cy="257176"/>
          </a:xfrm>
          <a:prstGeom prst="rect">
            <a:avLst/>
          </a:prstGeom>
          <a:solidFill>
            <a:srgbClr val="FFFFFF">
              <a:alpha val="66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Block 110">
            <a:extLst>
              <a:ext uri="{FF2B5EF4-FFF2-40B4-BE49-F238E27FC236}">
                <a16:creationId xmlns:a16="http://schemas.microsoft.com/office/drawing/2014/main" id="{2E5929BD-C0AE-48F2-B922-B8D0D7124E09}"/>
              </a:ext>
            </a:extLst>
          </p:cNvPr>
          <p:cNvSpPr>
            <a:spLocks noGrp="1"/>
          </p:cNvSpPr>
          <p:nvPr/>
        </p:nvSpPr>
        <p:spPr>
          <a:xfrm>
            <a:off x="8524876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Block 111">
            <a:extLst>
              <a:ext uri="{FF2B5EF4-FFF2-40B4-BE49-F238E27FC236}">
                <a16:creationId xmlns:a16="http://schemas.microsoft.com/office/drawing/2014/main" id="{AB6141C0-4665-4D00-ACD3-DE95C6F2AAA1}"/>
              </a:ext>
            </a:extLst>
          </p:cNvPr>
          <p:cNvSpPr>
            <a:spLocks noGrp="1"/>
          </p:cNvSpPr>
          <p:nvPr/>
        </p:nvSpPr>
        <p:spPr>
          <a:xfrm>
            <a:off x="8524876" y="2295526"/>
            <a:ext cx="104776" cy="257176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Block 112">
            <a:extLst>
              <a:ext uri="{FF2B5EF4-FFF2-40B4-BE49-F238E27FC236}">
                <a16:creationId xmlns:a16="http://schemas.microsoft.com/office/drawing/2014/main" id="{EFA6E490-73F4-4628-AC7C-CFE0E6FB34C4}"/>
              </a:ext>
            </a:extLst>
          </p:cNvPr>
          <p:cNvSpPr>
            <a:spLocks noGrp="1"/>
          </p:cNvSpPr>
          <p:nvPr/>
        </p:nvSpPr>
        <p:spPr>
          <a:xfrm>
            <a:off x="8648700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Block 113">
            <a:extLst>
              <a:ext uri="{FF2B5EF4-FFF2-40B4-BE49-F238E27FC236}">
                <a16:creationId xmlns:a16="http://schemas.microsoft.com/office/drawing/2014/main" id="{FF85A997-20F7-4FC2-AC2D-5445236736B4}"/>
              </a:ext>
            </a:extLst>
          </p:cNvPr>
          <p:cNvSpPr>
            <a:spLocks noGrp="1"/>
          </p:cNvSpPr>
          <p:nvPr/>
        </p:nvSpPr>
        <p:spPr>
          <a:xfrm>
            <a:off x="8648700" y="2295526"/>
            <a:ext cx="104776" cy="257176"/>
          </a:xfrm>
          <a:prstGeom prst="rect">
            <a:avLst/>
          </a:prstGeom>
          <a:solidFill>
            <a:srgbClr val="FFFFFF">
              <a:alpha val="57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Block 114">
            <a:extLst>
              <a:ext uri="{FF2B5EF4-FFF2-40B4-BE49-F238E27FC236}">
                <a16:creationId xmlns:a16="http://schemas.microsoft.com/office/drawing/2014/main" id="{711C2ABC-33FB-40D3-A40B-170BA669D1C6}"/>
              </a:ext>
            </a:extLst>
          </p:cNvPr>
          <p:cNvSpPr>
            <a:spLocks noGrp="1"/>
          </p:cNvSpPr>
          <p:nvPr/>
        </p:nvSpPr>
        <p:spPr>
          <a:xfrm>
            <a:off x="8772526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Block 115">
            <a:extLst>
              <a:ext uri="{FF2B5EF4-FFF2-40B4-BE49-F238E27FC236}">
                <a16:creationId xmlns:a16="http://schemas.microsoft.com/office/drawing/2014/main" id="{7ADE9367-1C5B-45F7-B478-FAD2D48D2C3E}"/>
              </a:ext>
            </a:extLst>
          </p:cNvPr>
          <p:cNvSpPr>
            <a:spLocks noGrp="1"/>
          </p:cNvSpPr>
          <p:nvPr/>
        </p:nvSpPr>
        <p:spPr>
          <a:xfrm>
            <a:off x="8772526" y="2295526"/>
            <a:ext cx="104776" cy="257176"/>
          </a:xfrm>
          <a:prstGeom prst="rect">
            <a:avLst/>
          </a:prstGeom>
          <a:solidFill>
            <a:srgbClr val="FFFFFF">
              <a:alpha val="21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Block 116">
            <a:extLst>
              <a:ext uri="{FF2B5EF4-FFF2-40B4-BE49-F238E27FC236}">
                <a16:creationId xmlns:a16="http://schemas.microsoft.com/office/drawing/2014/main" id="{20438A06-8D08-482A-A750-9C671804C50F}"/>
              </a:ext>
            </a:extLst>
          </p:cNvPr>
          <p:cNvSpPr>
            <a:spLocks noGrp="1"/>
          </p:cNvSpPr>
          <p:nvPr/>
        </p:nvSpPr>
        <p:spPr>
          <a:xfrm>
            <a:off x="8896350" y="2295526"/>
            <a:ext cx="104776" cy="257176"/>
          </a:xfrm>
          <a:prstGeom prst="roundRect">
            <a:avLst>
              <a:gd name="adj" fmla="val 1818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Block 117">
            <a:extLst>
              <a:ext uri="{FF2B5EF4-FFF2-40B4-BE49-F238E27FC236}">
                <a16:creationId xmlns:a16="http://schemas.microsoft.com/office/drawing/2014/main" id="{B1A8A806-9F59-4C65-B026-E706B43B3E3F}"/>
              </a:ext>
            </a:extLst>
          </p:cNvPr>
          <p:cNvSpPr>
            <a:spLocks noGrp="1"/>
          </p:cNvSpPr>
          <p:nvPr/>
        </p:nvSpPr>
        <p:spPr>
          <a:xfrm>
            <a:off x="8896350" y="2295526"/>
            <a:ext cx="104776" cy="257176"/>
          </a:xfrm>
          <a:prstGeom prst="rect">
            <a:avLst/>
          </a:prstGeom>
          <a:solidFill>
            <a:srgbClr val="FFFFFF">
              <a:alpha val="48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Text 118 g">
            <a:extLst>
              <a:ext uri="{FF2B5EF4-FFF2-40B4-BE49-F238E27FC236}">
                <a16:creationId xmlns:a16="http://schemas.microsoft.com/office/drawing/2014/main" id="{1B7B4D62-9D29-4686-9D2F-DF51C29727EE}"/>
              </a:ext>
            </a:extLst>
          </p:cNvPr>
          <p:cNvSpPr>
            <a:spLocks noGrp="1"/>
          </p:cNvSpPr>
          <p:nvPr/>
        </p:nvSpPr>
        <p:spPr>
          <a:xfrm>
            <a:off x="9172576" y="2352676"/>
            <a:ext cx="219076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9" name="Block 119">
            <a:extLst>
              <a:ext uri="{FF2B5EF4-FFF2-40B4-BE49-F238E27FC236}">
                <a16:creationId xmlns:a16="http://schemas.microsoft.com/office/drawing/2014/main" id="{B4CA7248-2F14-48BC-8FF5-45706DB10EE5}"/>
              </a:ext>
            </a:extLst>
          </p:cNvPr>
          <p:cNvSpPr>
            <a:spLocks noGrp="1"/>
          </p:cNvSpPr>
          <p:nvPr/>
        </p:nvSpPr>
        <p:spPr>
          <a:xfrm>
            <a:off x="9563101" y="561976"/>
            <a:ext cx="2152650" cy="220027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3335">
            <a:solidFill>
              <a:srgbClr val="B7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Text 120 Shared latent space">
            <a:extLst>
              <a:ext uri="{FF2B5EF4-FFF2-40B4-BE49-F238E27FC236}">
                <a16:creationId xmlns:a16="http://schemas.microsoft.com/office/drawing/2014/main" id="{8F7B7D9F-4E3B-4F2F-90BA-F24D82C04247}"/>
              </a:ext>
            </a:extLst>
          </p:cNvPr>
          <p:cNvSpPr>
            <a:spLocks noGrp="1"/>
          </p:cNvSpPr>
          <p:nvPr/>
        </p:nvSpPr>
        <p:spPr>
          <a:xfrm>
            <a:off x="9819942" y="638937"/>
            <a:ext cx="1667542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Shared latent space</a:t>
            </a:r>
          </a:p>
        </p:txBody>
      </p:sp>
      <p:sp>
        <p:nvSpPr>
          <p:cNvPr id="121" name="Node 121">
            <a:extLst>
              <a:ext uri="{FF2B5EF4-FFF2-40B4-BE49-F238E27FC236}">
                <a16:creationId xmlns:a16="http://schemas.microsoft.com/office/drawing/2014/main" id="{4E703431-6609-4118-A1F3-A7E7F36F4BCE}"/>
              </a:ext>
            </a:extLst>
          </p:cNvPr>
          <p:cNvSpPr>
            <a:spLocks noGrp="1"/>
          </p:cNvSpPr>
          <p:nvPr/>
        </p:nvSpPr>
        <p:spPr>
          <a:xfrm>
            <a:off x="9858376" y="990601"/>
            <a:ext cx="133350" cy="1333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Node 122">
            <a:extLst>
              <a:ext uri="{FF2B5EF4-FFF2-40B4-BE49-F238E27FC236}">
                <a16:creationId xmlns:a16="http://schemas.microsoft.com/office/drawing/2014/main" id="{30D89D5C-B5EB-4F4D-B839-D85E55A16D34}"/>
              </a:ext>
            </a:extLst>
          </p:cNvPr>
          <p:cNvSpPr>
            <a:spLocks noGrp="1"/>
          </p:cNvSpPr>
          <p:nvPr/>
        </p:nvSpPr>
        <p:spPr>
          <a:xfrm>
            <a:off x="10125076" y="1133475"/>
            <a:ext cx="133350" cy="1333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Block 123">
            <a:extLst>
              <a:ext uri="{FF2B5EF4-FFF2-40B4-BE49-F238E27FC236}">
                <a16:creationId xmlns:a16="http://schemas.microsoft.com/office/drawing/2014/main" id="{75AE7288-DB9A-468D-8C38-4CF6F7B4FFB5}"/>
              </a:ext>
            </a:extLst>
          </p:cNvPr>
          <p:cNvSpPr>
            <a:spLocks noGrp="1"/>
          </p:cNvSpPr>
          <p:nvPr/>
        </p:nvSpPr>
        <p:spPr>
          <a:xfrm>
            <a:off x="10039351" y="1333501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Node 124">
            <a:extLst>
              <a:ext uri="{FF2B5EF4-FFF2-40B4-BE49-F238E27FC236}">
                <a16:creationId xmlns:a16="http://schemas.microsoft.com/office/drawing/2014/main" id="{24EB2661-B12B-43F5-9BEC-EC30CA89A607}"/>
              </a:ext>
            </a:extLst>
          </p:cNvPr>
          <p:cNvSpPr>
            <a:spLocks noGrp="1"/>
          </p:cNvSpPr>
          <p:nvPr/>
        </p:nvSpPr>
        <p:spPr>
          <a:xfrm>
            <a:off x="11077576" y="1076325"/>
            <a:ext cx="133350" cy="1333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Block 125">
            <a:extLst>
              <a:ext uri="{FF2B5EF4-FFF2-40B4-BE49-F238E27FC236}">
                <a16:creationId xmlns:a16="http://schemas.microsoft.com/office/drawing/2014/main" id="{25FC59ED-AADE-4A3A-A951-591467AA8C04}"/>
              </a:ext>
            </a:extLst>
          </p:cNvPr>
          <p:cNvSpPr>
            <a:spLocks noGrp="1"/>
          </p:cNvSpPr>
          <p:nvPr/>
        </p:nvSpPr>
        <p:spPr>
          <a:xfrm>
            <a:off x="11268076" y="1276351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Node 126">
            <a:extLst>
              <a:ext uri="{FF2B5EF4-FFF2-40B4-BE49-F238E27FC236}">
                <a16:creationId xmlns:a16="http://schemas.microsoft.com/office/drawing/2014/main" id="{1450F6B0-52E5-4F6B-9697-3D30DBD028D1}"/>
              </a:ext>
            </a:extLst>
          </p:cNvPr>
          <p:cNvSpPr>
            <a:spLocks noGrp="1"/>
          </p:cNvSpPr>
          <p:nvPr/>
        </p:nvSpPr>
        <p:spPr>
          <a:xfrm>
            <a:off x="11068051" y="1381125"/>
            <a:ext cx="133350" cy="1333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Block 127">
            <a:extLst>
              <a:ext uri="{FF2B5EF4-FFF2-40B4-BE49-F238E27FC236}">
                <a16:creationId xmlns:a16="http://schemas.microsoft.com/office/drawing/2014/main" id="{81695AED-CA9E-4CFB-87C8-034A13C07BD6}"/>
              </a:ext>
            </a:extLst>
          </p:cNvPr>
          <p:cNvSpPr>
            <a:spLocks noGrp="1"/>
          </p:cNvSpPr>
          <p:nvPr/>
        </p:nvSpPr>
        <p:spPr>
          <a:xfrm>
            <a:off x="10448926" y="1943101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Node 128">
            <a:extLst>
              <a:ext uri="{FF2B5EF4-FFF2-40B4-BE49-F238E27FC236}">
                <a16:creationId xmlns:a16="http://schemas.microsoft.com/office/drawing/2014/main" id="{A69DC730-10E9-4B0F-A67F-E846CE9CCC5E}"/>
              </a:ext>
            </a:extLst>
          </p:cNvPr>
          <p:cNvSpPr>
            <a:spLocks noGrp="1"/>
          </p:cNvSpPr>
          <p:nvPr/>
        </p:nvSpPr>
        <p:spPr>
          <a:xfrm>
            <a:off x="10239376" y="2076451"/>
            <a:ext cx="133350" cy="1333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Node 129">
            <a:extLst>
              <a:ext uri="{FF2B5EF4-FFF2-40B4-BE49-F238E27FC236}">
                <a16:creationId xmlns:a16="http://schemas.microsoft.com/office/drawing/2014/main" id="{0EA8CB40-6480-45C2-9F46-471BBE59904F}"/>
              </a:ext>
            </a:extLst>
          </p:cNvPr>
          <p:cNvSpPr>
            <a:spLocks noGrp="1"/>
          </p:cNvSpPr>
          <p:nvPr/>
        </p:nvSpPr>
        <p:spPr>
          <a:xfrm>
            <a:off x="10572751" y="2162175"/>
            <a:ext cx="133350" cy="1333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Line 130">
            <a:extLst>
              <a:ext uri="{FF2B5EF4-FFF2-40B4-BE49-F238E27FC236}">
                <a16:creationId xmlns:a16="http://schemas.microsoft.com/office/drawing/2014/main" id="{131B441D-7FC3-4BE3-9C32-E2A3B3D900BB}"/>
              </a:ext>
            </a:extLst>
          </p:cNvPr>
          <p:cNvSpPr>
            <a:spLocks noGrp="1"/>
          </p:cNvSpPr>
          <p:nvPr/>
        </p:nvSpPr>
        <p:spPr>
          <a:xfrm>
            <a:off x="9925050" y="1057274"/>
            <a:ext cx="266700" cy="342900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180975" y="342900"/>
                </a:lnTo>
                <a:lnTo>
                  <a:pt x="266700" y="142875"/>
                </a:lnTo>
              </a:path>
            </a:pathLst>
          </a:custGeom>
          <a:noFill/>
          <a:ln w="17145">
            <a:solidFill>
              <a:srgbClr val="85939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1" name="Line 131">
            <a:extLst>
              <a:ext uri="{FF2B5EF4-FFF2-40B4-BE49-F238E27FC236}">
                <a16:creationId xmlns:a16="http://schemas.microsoft.com/office/drawing/2014/main" id="{6749F1AF-E724-4669-AD6D-3A8F7BAC94E6}"/>
              </a:ext>
            </a:extLst>
          </p:cNvPr>
          <p:cNvSpPr>
            <a:spLocks noGrp="1"/>
          </p:cNvSpPr>
          <p:nvPr/>
        </p:nvSpPr>
        <p:spPr>
          <a:xfrm>
            <a:off x="11134725" y="1143000"/>
            <a:ext cx="200026" cy="304800"/>
          </a:xfrm>
          <a:custGeom>
            <a:avLst/>
            <a:gdLst/>
            <a:ahLst/>
            <a:cxnLst/>
            <a:rect l="0" t="0" r="0" b="0"/>
            <a:pathLst>
              <a:path w="200025" h="304800">
                <a:moveTo>
                  <a:pt x="9525" y="0"/>
                </a:moveTo>
                <a:lnTo>
                  <a:pt x="200025" y="200025"/>
                </a:lnTo>
                <a:lnTo>
                  <a:pt x="0" y="304800"/>
                </a:lnTo>
              </a:path>
            </a:pathLst>
          </a:custGeom>
          <a:noFill/>
          <a:ln w="17145">
            <a:solidFill>
              <a:srgbClr val="85939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2" name="Line 132">
            <a:extLst>
              <a:ext uri="{FF2B5EF4-FFF2-40B4-BE49-F238E27FC236}">
                <a16:creationId xmlns:a16="http://schemas.microsoft.com/office/drawing/2014/main" id="{6DE6FE83-0774-4E42-92DA-35B0EFB76622}"/>
              </a:ext>
            </a:extLst>
          </p:cNvPr>
          <p:cNvSpPr>
            <a:spLocks noGrp="1"/>
          </p:cNvSpPr>
          <p:nvPr/>
        </p:nvSpPr>
        <p:spPr>
          <a:xfrm>
            <a:off x="10306050" y="2009776"/>
            <a:ext cx="333376" cy="219076"/>
          </a:xfrm>
          <a:custGeom>
            <a:avLst/>
            <a:gdLst/>
            <a:ahLst/>
            <a:cxnLst/>
            <a:rect l="0" t="0" r="0" b="0"/>
            <a:pathLst>
              <a:path w="333375" h="219075">
                <a:moveTo>
                  <a:pt x="0" y="133350"/>
                </a:moveTo>
                <a:lnTo>
                  <a:pt x="209550" y="0"/>
                </a:lnTo>
                <a:lnTo>
                  <a:pt x="333375" y="219075"/>
                </a:lnTo>
              </a:path>
            </a:pathLst>
          </a:custGeom>
          <a:noFill/>
          <a:ln w="17145">
            <a:solidFill>
              <a:srgbClr val="85939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3" name="Text 133 ● spectra     ■ structures">
            <a:extLst>
              <a:ext uri="{FF2B5EF4-FFF2-40B4-BE49-F238E27FC236}">
                <a16:creationId xmlns:a16="http://schemas.microsoft.com/office/drawing/2014/main" id="{8D1BD797-B8B5-4569-9810-EE66068858BA}"/>
              </a:ext>
            </a:extLst>
          </p:cNvPr>
          <p:cNvSpPr>
            <a:spLocks noGrp="1"/>
          </p:cNvSpPr>
          <p:nvPr/>
        </p:nvSpPr>
        <p:spPr>
          <a:xfrm>
            <a:off x="9715500" y="2466975"/>
            <a:ext cx="2095500" cy="220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● queries     ■ theory refs</a:t>
            </a:r>
          </a:p>
        </p:txBody>
      </p:sp>
      <p:sp>
        <p:nvSpPr>
          <p:cNvPr id="134" name="Block 134">
            <a:extLst>
              <a:ext uri="{FF2B5EF4-FFF2-40B4-BE49-F238E27FC236}">
                <a16:creationId xmlns:a16="http://schemas.microsoft.com/office/drawing/2014/main" id="{A8EEF075-5B51-4C63-A24D-9C06A19F2B71}"/>
              </a:ext>
            </a:extLst>
          </p:cNvPr>
          <p:cNvSpPr>
            <a:spLocks noGrp="1"/>
          </p:cNvSpPr>
          <p:nvPr/>
        </p:nvSpPr>
        <p:spPr>
          <a:xfrm flipH="1">
            <a:off x="11951968" y="561976"/>
            <a:ext cx="2579820" cy="2200276"/>
          </a:xfrm>
          <a:prstGeom prst="roundRect">
            <a:avLst>
              <a:gd name="adj" fmla="val 3463"/>
            </a:avLst>
          </a:prstGeom>
          <a:solidFill>
            <a:srgbClr val="F3F7ED"/>
          </a:solidFill>
          <a:ln w="13335">
            <a:solidFill>
              <a:srgbClr val="9CAF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Text 135 Structure-derived supervision">
            <a:extLst>
              <a:ext uri="{FF2B5EF4-FFF2-40B4-BE49-F238E27FC236}">
                <a16:creationId xmlns:a16="http://schemas.microsoft.com/office/drawing/2014/main" id="{192E8745-AEC8-42FB-B13E-BE5F8205D99A}"/>
              </a:ext>
            </a:extLst>
          </p:cNvPr>
          <p:cNvSpPr>
            <a:spLocks noGrp="1"/>
          </p:cNvSpPr>
          <p:nvPr/>
        </p:nvSpPr>
        <p:spPr>
          <a:xfrm>
            <a:off x="12077700" y="647701"/>
            <a:ext cx="2714626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Pair metadata</a:t>
            </a:r>
          </a:p>
        </p:txBody>
      </p:sp>
      <p:sp>
        <p:nvSpPr>
          <p:cNvPr id="136" name="Line 136">
            <a:extLst>
              <a:ext uri="{FF2B5EF4-FFF2-40B4-BE49-F238E27FC236}">
                <a16:creationId xmlns:a16="http://schemas.microsoft.com/office/drawing/2014/main" id="{B7A927DC-E8B3-437F-8CDA-FB6550CFD39D}"/>
              </a:ext>
            </a:extLst>
          </p:cNvPr>
          <p:cNvSpPr>
            <a:spLocks noGrp="1"/>
          </p:cNvSpPr>
          <p:nvPr/>
        </p:nvSpPr>
        <p:spPr>
          <a:xfrm>
            <a:off x="12352972" y="1357594"/>
            <a:ext cx="65723" cy="113835"/>
          </a:xfrm>
          <a:custGeom>
            <a:avLst/>
            <a:gdLst/>
            <a:ahLst/>
            <a:cxnLst/>
            <a:rect l="0" t="0" r="0" b="0"/>
            <a:pathLst>
              <a:path w="65722" h="113835">
                <a:moveTo>
                  <a:pt x="65722" y="0"/>
                </a:moveTo>
                <a:lnTo>
                  <a:pt x="0" y="113835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Line 137">
            <a:extLst>
              <a:ext uri="{FF2B5EF4-FFF2-40B4-BE49-F238E27FC236}">
                <a16:creationId xmlns:a16="http://schemas.microsoft.com/office/drawing/2014/main" id="{1A59909C-75B7-4CC8-843F-B560F66B64F8}"/>
              </a:ext>
            </a:extLst>
          </p:cNvPr>
          <p:cNvSpPr>
            <a:spLocks noGrp="1"/>
          </p:cNvSpPr>
          <p:nvPr/>
        </p:nvSpPr>
        <p:spPr>
          <a:xfrm>
            <a:off x="12221529" y="1471430"/>
            <a:ext cx="131445" cy="953"/>
          </a:xfrm>
          <a:custGeom>
            <a:avLst/>
            <a:gdLst/>
            <a:ahLst/>
            <a:cxnLst/>
            <a:rect l="0" t="0" r="0" b="0"/>
            <a:pathLst>
              <a:path w="131445" h="953">
                <a:moveTo>
                  <a:pt x="131445" y="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Line 138">
            <a:extLst>
              <a:ext uri="{FF2B5EF4-FFF2-40B4-BE49-F238E27FC236}">
                <a16:creationId xmlns:a16="http://schemas.microsoft.com/office/drawing/2014/main" id="{11DC6925-BEE3-4901-A04E-CB51F4440A24}"/>
              </a:ext>
            </a:extLst>
          </p:cNvPr>
          <p:cNvSpPr>
            <a:spLocks noGrp="1"/>
          </p:cNvSpPr>
          <p:nvPr/>
        </p:nvSpPr>
        <p:spPr>
          <a:xfrm>
            <a:off x="12155805" y="1357594"/>
            <a:ext cx="65723" cy="113835"/>
          </a:xfrm>
          <a:custGeom>
            <a:avLst/>
            <a:gdLst/>
            <a:ahLst/>
            <a:cxnLst/>
            <a:rect l="0" t="0" r="0" b="0"/>
            <a:pathLst>
              <a:path w="65722" h="113835">
                <a:moveTo>
                  <a:pt x="65722" y="113835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Line 139">
            <a:extLst>
              <a:ext uri="{FF2B5EF4-FFF2-40B4-BE49-F238E27FC236}">
                <a16:creationId xmlns:a16="http://schemas.microsoft.com/office/drawing/2014/main" id="{066EBF96-4D72-4257-A9FA-AC8CEF52F8D6}"/>
              </a:ext>
            </a:extLst>
          </p:cNvPr>
          <p:cNvSpPr>
            <a:spLocks noGrp="1"/>
          </p:cNvSpPr>
          <p:nvPr/>
        </p:nvSpPr>
        <p:spPr>
          <a:xfrm>
            <a:off x="12155805" y="1243758"/>
            <a:ext cx="65723" cy="113835"/>
          </a:xfrm>
          <a:custGeom>
            <a:avLst/>
            <a:gdLst/>
            <a:ahLst/>
            <a:cxnLst/>
            <a:rect l="0" t="0" r="0" b="0"/>
            <a:pathLst>
              <a:path w="65722" h="113835">
                <a:moveTo>
                  <a:pt x="0" y="113835"/>
                </a:moveTo>
                <a:lnTo>
                  <a:pt x="65722" y="0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Line 140">
            <a:extLst>
              <a:ext uri="{FF2B5EF4-FFF2-40B4-BE49-F238E27FC236}">
                <a16:creationId xmlns:a16="http://schemas.microsoft.com/office/drawing/2014/main" id="{4F40BD6B-BD3F-469C-957B-57325953BA73}"/>
              </a:ext>
            </a:extLst>
          </p:cNvPr>
          <p:cNvSpPr>
            <a:spLocks noGrp="1"/>
          </p:cNvSpPr>
          <p:nvPr/>
        </p:nvSpPr>
        <p:spPr>
          <a:xfrm>
            <a:off x="12221529" y="1243759"/>
            <a:ext cx="131445" cy="953"/>
          </a:xfrm>
          <a:custGeom>
            <a:avLst/>
            <a:gdLst/>
            <a:ahLst/>
            <a:cxnLst/>
            <a:rect l="0" t="0" r="0" b="0"/>
            <a:pathLst>
              <a:path w="131445" h="953">
                <a:moveTo>
                  <a:pt x="0" y="0"/>
                </a:moveTo>
                <a:lnTo>
                  <a:pt x="131445" y="0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Line 141">
            <a:extLst>
              <a:ext uri="{FF2B5EF4-FFF2-40B4-BE49-F238E27FC236}">
                <a16:creationId xmlns:a16="http://schemas.microsoft.com/office/drawing/2014/main" id="{314DB1B5-3367-43D5-8591-5D09B6433B98}"/>
              </a:ext>
            </a:extLst>
          </p:cNvPr>
          <p:cNvSpPr>
            <a:spLocks noGrp="1"/>
          </p:cNvSpPr>
          <p:nvPr/>
        </p:nvSpPr>
        <p:spPr>
          <a:xfrm>
            <a:off x="12352972" y="1243758"/>
            <a:ext cx="65723" cy="113835"/>
          </a:xfrm>
          <a:custGeom>
            <a:avLst/>
            <a:gdLst/>
            <a:ahLst/>
            <a:cxnLst/>
            <a:rect l="0" t="0" r="0" b="0"/>
            <a:pathLst>
              <a:path w="65722" h="113835">
                <a:moveTo>
                  <a:pt x="0" y="0"/>
                </a:moveTo>
                <a:lnTo>
                  <a:pt x="65722" y="113835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Line 142">
            <a:extLst>
              <a:ext uri="{FF2B5EF4-FFF2-40B4-BE49-F238E27FC236}">
                <a16:creationId xmlns:a16="http://schemas.microsoft.com/office/drawing/2014/main" id="{1B6E68D5-89E5-4F0C-8319-B257D530A028}"/>
              </a:ext>
            </a:extLst>
          </p:cNvPr>
          <p:cNvSpPr>
            <a:spLocks noGrp="1"/>
          </p:cNvSpPr>
          <p:nvPr/>
        </p:nvSpPr>
        <p:spPr>
          <a:xfrm>
            <a:off x="12418696" y="1260439"/>
            <a:ext cx="108585" cy="97155"/>
          </a:xfrm>
          <a:custGeom>
            <a:avLst/>
            <a:gdLst/>
            <a:ahLst/>
            <a:cxnLst/>
            <a:rect l="0" t="0" r="0" b="0"/>
            <a:pathLst>
              <a:path w="108585" h="97155">
                <a:moveTo>
                  <a:pt x="0" y="97155"/>
                </a:moveTo>
                <a:lnTo>
                  <a:pt x="108585" y="0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Node 143">
            <a:extLst>
              <a:ext uri="{FF2B5EF4-FFF2-40B4-BE49-F238E27FC236}">
                <a16:creationId xmlns:a16="http://schemas.microsoft.com/office/drawing/2014/main" id="{916783A7-10C0-4EDB-9530-76BFC601CD3D}"/>
              </a:ext>
            </a:extLst>
          </p:cNvPr>
          <p:cNvSpPr>
            <a:spLocks noGrp="1"/>
          </p:cNvSpPr>
          <p:nvPr/>
        </p:nvSpPr>
        <p:spPr>
          <a:xfrm>
            <a:off x="12390120" y="1329019"/>
            <a:ext cx="57150" cy="57150"/>
          </a:xfrm>
          <a:prstGeom prst="ellipse">
            <a:avLst/>
          </a:prstGeom>
          <a:solidFill>
            <a:srgbClr val="CC874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Node 144">
            <a:extLst>
              <a:ext uri="{FF2B5EF4-FFF2-40B4-BE49-F238E27FC236}">
                <a16:creationId xmlns:a16="http://schemas.microsoft.com/office/drawing/2014/main" id="{A704A256-3FAD-469A-8108-0142E259C39D}"/>
              </a:ext>
            </a:extLst>
          </p:cNvPr>
          <p:cNvSpPr>
            <a:spLocks noGrp="1"/>
          </p:cNvSpPr>
          <p:nvPr/>
        </p:nvSpPr>
        <p:spPr>
          <a:xfrm>
            <a:off x="12324399" y="1442854"/>
            <a:ext cx="57150" cy="57150"/>
          </a:xfrm>
          <a:prstGeom prst="ellipse">
            <a:avLst/>
          </a:prstGeom>
          <a:solidFill>
            <a:srgbClr val="CC874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Node 145">
            <a:extLst>
              <a:ext uri="{FF2B5EF4-FFF2-40B4-BE49-F238E27FC236}">
                <a16:creationId xmlns:a16="http://schemas.microsoft.com/office/drawing/2014/main" id="{BCD70859-8319-4727-8ABC-D67ECC8C209F}"/>
              </a:ext>
            </a:extLst>
          </p:cNvPr>
          <p:cNvSpPr>
            <a:spLocks noGrp="1"/>
          </p:cNvSpPr>
          <p:nvPr/>
        </p:nvSpPr>
        <p:spPr>
          <a:xfrm>
            <a:off x="12192954" y="1442854"/>
            <a:ext cx="57150" cy="57150"/>
          </a:xfrm>
          <a:prstGeom prst="ellipse">
            <a:avLst/>
          </a:prstGeom>
          <a:solidFill>
            <a:srgbClr val="3977B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Node 146">
            <a:extLst>
              <a:ext uri="{FF2B5EF4-FFF2-40B4-BE49-F238E27FC236}">
                <a16:creationId xmlns:a16="http://schemas.microsoft.com/office/drawing/2014/main" id="{971E2630-DB1D-4933-B789-66B7E89EB2E2}"/>
              </a:ext>
            </a:extLst>
          </p:cNvPr>
          <p:cNvSpPr>
            <a:spLocks noGrp="1"/>
          </p:cNvSpPr>
          <p:nvPr/>
        </p:nvSpPr>
        <p:spPr>
          <a:xfrm>
            <a:off x="12127231" y="1329019"/>
            <a:ext cx="57150" cy="57150"/>
          </a:xfrm>
          <a:prstGeom prst="ellipse">
            <a:avLst/>
          </a:prstGeom>
          <a:solidFill>
            <a:srgbClr val="CC874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Node 147">
            <a:extLst>
              <a:ext uri="{FF2B5EF4-FFF2-40B4-BE49-F238E27FC236}">
                <a16:creationId xmlns:a16="http://schemas.microsoft.com/office/drawing/2014/main" id="{5925AF38-1650-412D-ABF4-1FB5E1180EE0}"/>
              </a:ext>
            </a:extLst>
          </p:cNvPr>
          <p:cNvSpPr>
            <a:spLocks noGrp="1"/>
          </p:cNvSpPr>
          <p:nvPr/>
        </p:nvSpPr>
        <p:spPr>
          <a:xfrm>
            <a:off x="12192954" y="1215183"/>
            <a:ext cx="57150" cy="57150"/>
          </a:xfrm>
          <a:prstGeom prst="ellipse">
            <a:avLst/>
          </a:prstGeom>
          <a:solidFill>
            <a:srgbClr val="CC874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Node 148">
            <a:extLst>
              <a:ext uri="{FF2B5EF4-FFF2-40B4-BE49-F238E27FC236}">
                <a16:creationId xmlns:a16="http://schemas.microsoft.com/office/drawing/2014/main" id="{6A99DF00-0E75-46B9-A6E5-05CB1C17D1D0}"/>
              </a:ext>
            </a:extLst>
          </p:cNvPr>
          <p:cNvSpPr>
            <a:spLocks noGrp="1"/>
          </p:cNvSpPr>
          <p:nvPr/>
        </p:nvSpPr>
        <p:spPr>
          <a:xfrm>
            <a:off x="12324399" y="1215183"/>
            <a:ext cx="57150" cy="57150"/>
          </a:xfrm>
          <a:prstGeom prst="ellipse">
            <a:avLst/>
          </a:prstGeom>
          <a:solidFill>
            <a:srgbClr val="CC874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" name="Node 149">
            <a:extLst>
              <a:ext uri="{FF2B5EF4-FFF2-40B4-BE49-F238E27FC236}">
                <a16:creationId xmlns:a16="http://schemas.microsoft.com/office/drawing/2014/main" id="{259AF35C-E35C-4200-8D2D-B1119D0363E4}"/>
              </a:ext>
            </a:extLst>
          </p:cNvPr>
          <p:cNvSpPr>
            <a:spLocks noGrp="1"/>
          </p:cNvSpPr>
          <p:nvPr/>
        </p:nvSpPr>
        <p:spPr>
          <a:xfrm>
            <a:off x="12487275" y="1220433"/>
            <a:ext cx="80010" cy="80010"/>
          </a:xfrm>
          <a:prstGeom prst="ellipse">
            <a:avLst/>
          </a:prstGeom>
          <a:solidFill>
            <a:srgbClr val="D76665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Line 150">
            <a:extLst>
              <a:ext uri="{FF2B5EF4-FFF2-40B4-BE49-F238E27FC236}">
                <a16:creationId xmlns:a16="http://schemas.microsoft.com/office/drawing/2014/main" id="{60C62F17-1192-4D9B-BFB8-A2BDB26E8215}"/>
              </a:ext>
            </a:extLst>
          </p:cNvPr>
          <p:cNvSpPr>
            <a:spLocks noGrp="1"/>
          </p:cNvSpPr>
          <p:nvPr/>
        </p:nvSpPr>
        <p:spPr>
          <a:xfrm>
            <a:off x="12630151" y="1329019"/>
            <a:ext cx="323850" cy="953"/>
          </a:xfrm>
          <a:custGeom>
            <a:avLst/>
            <a:gdLst/>
            <a:ahLst/>
            <a:cxnLst/>
            <a:rect l="0" t="0" r="0" b="0"/>
            <a:pathLst>
              <a:path w="323850" h="953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17145">
            <a:solidFill>
              <a:srgbClr val="479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Arrowhead 151">
            <a:extLst>
              <a:ext uri="{FF2B5EF4-FFF2-40B4-BE49-F238E27FC236}">
                <a16:creationId xmlns:a16="http://schemas.microsoft.com/office/drawing/2014/main" id="{4B7C4D89-08A8-4A58-9C11-67BEC268B6B9}"/>
              </a:ext>
            </a:extLst>
          </p:cNvPr>
          <p:cNvSpPr>
            <a:spLocks noGrp="1"/>
          </p:cNvSpPr>
          <p:nvPr/>
        </p:nvSpPr>
        <p:spPr>
          <a:xfrm>
            <a:off x="12868275" y="1290918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7957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2" name="Text 152 Canonical identity">
            <a:extLst>
              <a:ext uri="{FF2B5EF4-FFF2-40B4-BE49-F238E27FC236}">
                <a16:creationId xmlns:a16="http://schemas.microsoft.com/office/drawing/2014/main" id="{FB581117-4CCB-4049-8B11-79771D3B8F75}"/>
              </a:ext>
            </a:extLst>
          </p:cNvPr>
          <p:cNvSpPr>
            <a:spLocks noGrp="1"/>
          </p:cNvSpPr>
          <p:nvPr/>
        </p:nvSpPr>
        <p:spPr>
          <a:xfrm>
            <a:off x="13058776" y="1157188"/>
            <a:ext cx="1250633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Canonical identity</a:t>
            </a:r>
          </a:p>
        </p:txBody>
      </p:sp>
      <p:sp>
        <p:nvSpPr>
          <p:cNvPr id="153" name="Text 153 → positive-pair mask">
            <a:extLst>
              <a:ext uri="{FF2B5EF4-FFF2-40B4-BE49-F238E27FC236}">
                <a16:creationId xmlns:a16="http://schemas.microsoft.com/office/drawing/2014/main" id="{24708016-58CE-4119-A935-535BA4364A98}"/>
              </a:ext>
            </a:extLst>
          </p:cNvPr>
          <p:cNvSpPr>
            <a:spLocks noGrp="1"/>
          </p:cNvSpPr>
          <p:nvPr/>
        </p:nvSpPr>
        <p:spPr>
          <a:xfrm>
            <a:off x="13058775" y="1357213"/>
            <a:ext cx="147047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Positive-pair mask</a:t>
            </a:r>
          </a:p>
        </p:txBody>
      </p:sp>
      <p:sp>
        <p:nvSpPr>
          <p:cNvPr id="154" name="Block 154">
            <a:extLst>
              <a:ext uri="{FF2B5EF4-FFF2-40B4-BE49-F238E27FC236}">
                <a16:creationId xmlns:a16="http://schemas.microsoft.com/office/drawing/2014/main" id="{3309D6DE-6563-4D38-BFB8-9D7BBB31656F}"/>
              </a:ext>
            </a:extLst>
          </p:cNvPr>
          <p:cNvSpPr>
            <a:spLocks noGrp="1"/>
          </p:cNvSpPr>
          <p:nvPr/>
        </p:nvSpPr>
        <p:spPr>
          <a:xfrm>
            <a:off x="12096750" y="2043954"/>
            <a:ext cx="85726" cy="180976"/>
          </a:xfrm>
          <a:prstGeom prst="roundRect">
            <a:avLst>
              <a:gd name="adj" fmla="val 22222"/>
            </a:avLst>
          </a:prstGeom>
          <a:solidFill>
            <a:srgbClr val="47957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Block 155">
            <a:extLst>
              <a:ext uri="{FF2B5EF4-FFF2-40B4-BE49-F238E27FC236}">
                <a16:creationId xmlns:a16="http://schemas.microsoft.com/office/drawing/2014/main" id="{B2C75796-D894-4D6A-8299-9DFDA9528E05}"/>
              </a:ext>
            </a:extLst>
          </p:cNvPr>
          <p:cNvSpPr>
            <a:spLocks noGrp="1"/>
          </p:cNvSpPr>
          <p:nvPr/>
        </p:nvSpPr>
        <p:spPr>
          <a:xfrm>
            <a:off x="12096750" y="2043954"/>
            <a:ext cx="85726" cy="180976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" name="Block 156">
            <a:extLst>
              <a:ext uri="{FF2B5EF4-FFF2-40B4-BE49-F238E27FC236}">
                <a16:creationId xmlns:a16="http://schemas.microsoft.com/office/drawing/2014/main" id="{807A3814-8410-45A5-810E-4C6A2427ED26}"/>
              </a:ext>
            </a:extLst>
          </p:cNvPr>
          <p:cNvSpPr>
            <a:spLocks noGrp="1"/>
          </p:cNvSpPr>
          <p:nvPr/>
        </p:nvSpPr>
        <p:spPr>
          <a:xfrm>
            <a:off x="12201525" y="2043954"/>
            <a:ext cx="85726" cy="180976"/>
          </a:xfrm>
          <a:prstGeom prst="roundRect">
            <a:avLst>
              <a:gd name="adj" fmla="val 22222"/>
            </a:avLst>
          </a:prstGeom>
          <a:solidFill>
            <a:srgbClr val="47957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Block 157">
            <a:extLst>
              <a:ext uri="{FF2B5EF4-FFF2-40B4-BE49-F238E27FC236}">
                <a16:creationId xmlns:a16="http://schemas.microsoft.com/office/drawing/2014/main" id="{BC9B676A-AD8E-410E-A28B-86B193062B33}"/>
              </a:ext>
            </a:extLst>
          </p:cNvPr>
          <p:cNvSpPr>
            <a:spLocks noGrp="1"/>
          </p:cNvSpPr>
          <p:nvPr/>
        </p:nvSpPr>
        <p:spPr>
          <a:xfrm>
            <a:off x="12201525" y="2043954"/>
            <a:ext cx="85726" cy="180976"/>
          </a:xfrm>
          <a:prstGeom prst="rect">
            <a:avLst/>
          </a:prstGeom>
          <a:solidFill>
            <a:srgbClr val="FFFFFF">
              <a:alpha val="39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Block 158">
            <a:extLst>
              <a:ext uri="{FF2B5EF4-FFF2-40B4-BE49-F238E27FC236}">
                <a16:creationId xmlns:a16="http://schemas.microsoft.com/office/drawing/2014/main" id="{73B5C9A5-0660-4C44-B9FA-4F68760A6AEE}"/>
              </a:ext>
            </a:extLst>
          </p:cNvPr>
          <p:cNvSpPr>
            <a:spLocks noGrp="1"/>
          </p:cNvSpPr>
          <p:nvPr/>
        </p:nvSpPr>
        <p:spPr>
          <a:xfrm>
            <a:off x="12306300" y="2043954"/>
            <a:ext cx="85726" cy="180976"/>
          </a:xfrm>
          <a:prstGeom prst="roundRect">
            <a:avLst>
              <a:gd name="adj" fmla="val 22222"/>
            </a:avLst>
          </a:prstGeom>
          <a:solidFill>
            <a:srgbClr val="47957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" name="Block 159">
            <a:extLst>
              <a:ext uri="{FF2B5EF4-FFF2-40B4-BE49-F238E27FC236}">
                <a16:creationId xmlns:a16="http://schemas.microsoft.com/office/drawing/2014/main" id="{2DA82309-DDB7-46F2-89C6-379B27C92DF3}"/>
              </a:ext>
            </a:extLst>
          </p:cNvPr>
          <p:cNvSpPr>
            <a:spLocks noGrp="1"/>
          </p:cNvSpPr>
          <p:nvPr/>
        </p:nvSpPr>
        <p:spPr>
          <a:xfrm>
            <a:off x="12306300" y="2043954"/>
            <a:ext cx="85726" cy="180976"/>
          </a:xfrm>
          <a:prstGeom prst="rect">
            <a:avLst/>
          </a:prstGeom>
          <a:solidFill>
            <a:srgbClr val="FFFFFF">
              <a:alpha val="66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Block 160">
            <a:extLst>
              <a:ext uri="{FF2B5EF4-FFF2-40B4-BE49-F238E27FC236}">
                <a16:creationId xmlns:a16="http://schemas.microsoft.com/office/drawing/2014/main" id="{28CD16C9-3400-46B1-A556-B24D6630EFAD}"/>
              </a:ext>
            </a:extLst>
          </p:cNvPr>
          <p:cNvSpPr>
            <a:spLocks noGrp="1"/>
          </p:cNvSpPr>
          <p:nvPr/>
        </p:nvSpPr>
        <p:spPr>
          <a:xfrm>
            <a:off x="12411075" y="2043954"/>
            <a:ext cx="85726" cy="180976"/>
          </a:xfrm>
          <a:prstGeom prst="roundRect">
            <a:avLst>
              <a:gd name="adj" fmla="val 22222"/>
            </a:avLst>
          </a:prstGeom>
          <a:solidFill>
            <a:srgbClr val="47957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" name="Block 161">
            <a:extLst>
              <a:ext uri="{FF2B5EF4-FFF2-40B4-BE49-F238E27FC236}">
                <a16:creationId xmlns:a16="http://schemas.microsoft.com/office/drawing/2014/main" id="{330880E2-FE72-4512-B493-31294EC34272}"/>
              </a:ext>
            </a:extLst>
          </p:cNvPr>
          <p:cNvSpPr>
            <a:spLocks noGrp="1"/>
          </p:cNvSpPr>
          <p:nvPr/>
        </p:nvSpPr>
        <p:spPr>
          <a:xfrm>
            <a:off x="12411075" y="2043954"/>
            <a:ext cx="85726" cy="180976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Block 162">
            <a:extLst>
              <a:ext uri="{FF2B5EF4-FFF2-40B4-BE49-F238E27FC236}">
                <a16:creationId xmlns:a16="http://schemas.microsoft.com/office/drawing/2014/main" id="{8D0412F5-535F-4DE1-B92A-E457723D509A}"/>
              </a:ext>
            </a:extLst>
          </p:cNvPr>
          <p:cNvSpPr>
            <a:spLocks noGrp="1"/>
          </p:cNvSpPr>
          <p:nvPr/>
        </p:nvSpPr>
        <p:spPr>
          <a:xfrm>
            <a:off x="12515850" y="2043954"/>
            <a:ext cx="85726" cy="180976"/>
          </a:xfrm>
          <a:prstGeom prst="roundRect">
            <a:avLst>
              <a:gd name="adj" fmla="val 22222"/>
            </a:avLst>
          </a:prstGeom>
          <a:solidFill>
            <a:srgbClr val="47957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Block 163">
            <a:extLst>
              <a:ext uri="{FF2B5EF4-FFF2-40B4-BE49-F238E27FC236}">
                <a16:creationId xmlns:a16="http://schemas.microsoft.com/office/drawing/2014/main" id="{02077815-4B6D-49CF-B205-8EA7735A3AE6}"/>
              </a:ext>
            </a:extLst>
          </p:cNvPr>
          <p:cNvSpPr>
            <a:spLocks noGrp="1"/>
          </p:cNvSpPr>
          <p:nvPr/>
        </p:nvSpPr>
        <p:spPr>
          <a:xfrm>
            <a:off x="12515850" y="2043954"/>
            <a:ext cx="85726" cy="180976"/>
          </a:xfrm>
          <a:prstGeom prst="rect">
            <a:avLst/>
          </a:prstGeom>
          <a:solidFill>
            <a:srgbClr val="FFFFFF">
              <a:alpha val="57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Block 164">
            <a:extLst>
              <a:ext uri="{FF2B5EF4-FFF2-40B4-BE49-F238E27FC236}">
                <a16:creationId xmlns:a16="http://schemas.microsoft.com/office/drawing/2014/main" id="{36B6FCA7-F942-4222-B169-BE44B2123096}"/>
              </a:ext>
            </a:extLst>
          </p:cNvPr>
          <p:cNvSpPr>
            <a:spLocks noGrp="1"/>
          </p:cNvSpPr>
          <p:nvPr/>
        </p:nvSpPr>
        <p:spPr>
          <a:xfrm>
            <a:off x="12620625" y="2043954"/>
            <a:ext cx="85726" cy="180976"/>
          </a:xfrm>
          <a:prstGeom prst="roundRect">
            <a:avLst>
              <a:gd name="adj" fmla="val 22222"/>
            </a:avLst>
          </a:prstGeom>
          <a:solidFill>
            <a:srgbClr val="47957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Block 165">
            <a:extLst>
              <a:ext uri="{FF2B5EF4-FFF2-40B4-BE49-F238E27FC236}">
                <a16:creationId xmlns:a16="http://schemas.microsoft.com/office/drawing/2014/main" id="{F144A84C-46E6-4DA3-A2F5-12D0B4390BF7}"/>
              </a:ext>
            </a:extLst>
          </p:cNvPr>
          <p:cNvSpPr>
            <a:spLocks noGrp="1"/>
          </p:cNvSpPr>
          <p:nvPr/>
        </p:nvSpPr>
        <p:spPr>
          <a:xfrm>
            <a:off x="12620625" y="2043954"/>
            <a:ext cx="85726" cy="180976"/>
          </a:xfrm>
          <a:prstGeom prst="rect">
            <a:avLst/>
          </a:prstGeom>
          <a:solidFill>
            <a:srgbClr val="FFFFFF">
              <a:alpha val="21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Text 166 Morgan bits → Tanimoto">
            <a:extLst>
              <a:ext uri="{FF2B5EF4-FFF2-40B4-BE49-F238E27FC236}">
                <a16:creationId xmlns:a16="http://schemas.microsoft.com/office/drawing/2014/main" id="{2DFE1574-D3C5-4578-90E8-F868AE514411}"/>
              </a:ext>
            </a:extLst>
          </p:cNvPr>
          <p:cNvSpPr>
            <a:spLocks noGrp="1"/>
          </p:cNvSpPr>
          <p:nvPr/>
        </p:nvSpPr>
        <p:spPr>
          <a:xfrm>
            <a:off x="13068300" y="1996329"/>
            <a:ext cx="1685926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Source label</a:t>
            </a:r>
          </a:p>
        </p:txBody>
      </p:sp>
      <p:sp>
        <p:nvSpPr>
          <p:cNvPr id="167" name="Text 167 r = 2 · 2048 bits">
            <a:extLst>
              <a:ext uri="{FF2B5EF4-FFF2-40B4-BE49-F238E27FC236}">
                <a16:creationId xmlns:a16="http://schemas.microsoft.com/office/drawing/2014/main" id="{3B72017F-D540-412C-A8E3-8ECC1EE5FC2D}"/>
              </a:ext>
            </a:extLst>
          </p:cNvPr>
          <p:cNvSpPr>
            <a:spLocks noGrp="1"/>
          </p:cNvSpPr>
          <p:nvPr/>
        </p:nvSpPr>
        <p:spPr>
          <a:xfrm>
            <a:off x="13068301" y="2215404"/>
            <a:ext cx="1657350" cy="220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QME14S / fg26</a:t>
            </a:r>
          </a:p>
        </p:txBody>
      </p:sp>
      <p:sp>
        <p:nvSpPr>
          <p:cNvPr id="171" name="Block 171">
            <a:extLst>
              <a:ext uri="{FF2B5EF4-FFF2-40B4-BE49-F238E27FC236}">
                <a16:creationId xmlns:a16="http://schemas.microsoft.com/office/drawing/2014/main" id="{9C4132A8-B0CC-4B98-94DA-DF010FE4077A}"/>
              </a:ext>
            </a:extLst>
          </p:cNvPr>
          <p:cNvSpPr>
            <a:spLocks noGrp="1"/>
          </p:cNvSpPr>
          <p:nvPr/>
        </p:nvSpPr>
        <p:spPr>
          <a:xfrm>
            <a:off x="190500" y="3043238"/>
            <a:ext cx="7359872" cy="1909763"/>
          </a:xfrm>
          <a:prstGeom prst="roundRect">
            <a:avLst>
              <a:gd name="adj" fmla="val 4981"/>
            </a:avLst>
          </a:prstGeom>
          <a:solidFill>
            <a:srgbClr val="F5F9FD"/>
          </a:solidFill>
          <a:ln w="13335">
            <a:solidFill>
              <a:srgbClr val="AEB8C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72" name="Text 172 (b) Cross-modal alignment">
            <a:extLst>
              <a:ext uri="{FF2B5EF4-FFF2-40B4-BE49-F238E27FC236}">
                <a16:creationId xmlns:a16="http://schemas.microsoft.com/office/drawing/2014/main" id="{9202B643-99C8-4368-A530-0819AF70D73A}"/>
              </a:ext>
            </a:extLst>
          </p:cNvPr>
          <p:cNvSpPr>
            <a:spLocks noGrp="1"/>
          </p:cNvSpPr>
          <p:nvPr/>
        </p:nvSpPr>
        <p:spPr>
          <a:xfrm>
            <a:off x="323850" y="3133726"/>
            <a:ext cx="4810858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(b) Multi-positive alignment</a:t>
            </a:r>
          </a:p>
        </p:txBody>
      </p:sp>
      <p:sp>
        <p:nvSpPr>
          <p:cNvPr id="174" name="Block 174">
            <a:extLst>
              <a:ext uri="{FF2B5EF4-FFF2-40B4-BE49-F238E27FC236}">
                <a16:creationId xmlns:a16="http://schemas.microsoft.com/office/drawing/2014/main" id="{88AAA7A6-4B47-4F0F-B8E3-4C7FF9EF7CB1}"/>
              </a:ext>
            </a:extLst>
          </p:cNvPr>
          <p:cNvSpPr>
            <a:spLocks noGrp="1"/>
          </p:cNvSpPr>
          <p:nvPr/>
        </p:nvSpPr>
        <p:spPr>
          <a:xfrm>
            <a:off x="371475" y="3619500"/>
            <a:ext cx="781050" cy="390526"/>
          </a:xfrm>
          <a:prstGeom prst="roundRect">
            <a:avLst>
              <a:gd name="adj" fmla="val 12195"/>
            </a:avLst>
          </a:prstGeom>
          <a:solidFill>
            <a:srgbClr val="F0F7FD"/>
          </a:solidFill>
          <a:ln w="13335">
            <a:solidFill>
              <a:srgbClr val="ABC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Spectrum curve 175">
            <a:extLst>
              <a:ext uri="{FF2B5EF4-FFF2-40B4-BE49-F238E27FC236}">
                <a16:creationId xmlns:a16="http://schemas.microsoft.com/office/drawing/2014/main" id="{EBD0C5FD-124D-45B2-90A8-2B7D3E58624D}"/>
              </a:ext>
            </a:extLst>
          </p:cNvPr>
          <p:cNvSpPr>
            <a:spLocks noGrp="1"/>
          </p:cNvSpPr>
          <p:nvPr/>
        </p:nvSpPr>
        <p:spPr>
          <a:xfrm>
            <a:off x="419100" y="3686176"/>
            <a:ext cx="685800" cy="257176"/>
          </a:xfrm>
          <a:custGeom>
            <a:avLst/>
            <a:gdLst/>
            <a:ahLst/>
            <a:cxnLst/>
            <a:rect l="0" t="0" r="0" b="0"/>
            <a:pathLst>
              <a:path w="685800" h="257175">
                <a:moveTo>
                  <a:pt x="0" y="257175"/>
                </a:moveTo>
                <a:lnTo>
                  <a:pt x="6668" y="257175"/>
                </a:lnTo>
                <a:lnTo>
                  <a:pt x="14288" y="257175"/>
                </a:lnTo>
                <a:lnTo>
                  <a:pt x="20955" y="257175"/>
                </a:lnTo>
                <a:lnTo>
                  <a:pt x="27622" y="257175"/>
                </a:lnTo>
                <a:lnTo>
                  <a:pt x="34290" y="257175"/>
                </a:lnTo>
                <a:lnTo>
                  <a:pt x="41910" y="257175"/>
                </a:lnTo>
                <a:lnTo>
                  <a:pt x="48578" y="257175"/>
                </a:lnTo>
                <a:lnTo>
                  <a:pt x="55245" y="257175"/>
                </a:lnTo>
                <a:lnTo>
                  <a:pt x="61913" y="257175"/>
                </a:lnTo>
                <a:lnTo>
                  <a:pt x="69532" y="256222"/>
                </a:lnTo>
                <a:lnTo>
                  <a:pt x="76200" y="250508"/>
                </a:lnTo>
                <a:lnTo>
                  <a:pt x="82868" y="234315"/>
                </a:lnTo>
                <a:lnTo>
                  <a:pt x="90488" y="200025"/>
                </a:lnTo>
                <a:lnTo>
                  <a:pt x="97155" y="160972"/>
                </a:lnTo>
                <a:lnTo>
                  <a:pt x="103822" y="147638"/>
                </a:lnTo>
                <a:lnTo>
                  <a:pt x="110490" y="171450"/>
                </a:lnTo>
                <a:lnTo>
                  <a:pt x="118110" y="211455"/>
                </a:lnTo>
                <a:lnTo>
                  <a:pt x="124778" y="240983"/>
                </a:lnTo>
                <a:lnTo>
                  <a:pt x="131445" y="253365"/>
                </a:lnTo>
                <a:lnTo>
                  <a:pt x="138113" y="256222"/>
                </a:lnTo>
                <a:lnTo>
                  <a:pt x="145732" y="257175"/>
                </a:lnTo>
                <a:lnTo>
                  <a:pt x="152400" y="257175"/>
                </a:lnTo>
                <a:lnTo>
                  <a:pt x="159068" y="257175"/>
                </a:lnTo>
                <a:lnTo>
                  <a:pt x="166688" y="257175"/>
                </a:lnTo>
                <a:lnTo>
                  <a:pt x="173355" y="257175"/>
                </a:lnTo>
                <a:lnTo>
                  <a:pt x="180023" y="257175"/>
                </a:lnTo>
                <a:lnTo>
                  <a:pt x="186690" y="257175"/>
                </a:lnTo>
                <a:lnTo>
                  <a:pt x="194310" y="256222"/>
                </a:lnTo>
                <a:lnTo>
                  <a:pt x="200977" y="255270"/>
                </a:lnTo>
                <a:lnTo>
                  <a:pt x="207645" y="250508"/>
                </a:lnTo>
                <a:lnTo>
                  <a:pt x="214313" y="239078"/>
                </a:lnTo>
                <a:lnTo>
                  <a:pt x="221932" y="213360"/>
                </a:lnTo>
                <a:lnTo>
                  <a:pt x="228600" y="170497"/>
                </a:lnTo>
                <a:lnTo>
                  <a:pt x="235268" y="111442"/>
                </a:lnTo>
                <a:lnTo>
                  <a:pt x="242888" y="49530"/>
                </a:lnTo>
                <a:lnTo>
                  <a:pt x="249555" y="5715"/>
                </a:lnTo>
                <a:lnTo>
                  <a:pt x="256223" y="0"/>
                </a:lnTo>
                <a:lnTo>
                  <a:pt x="262890" y="35242"/>
                </a:lnTo>
                <a:lnTo>
                  <a:pt x="270510" y="94297"/>
                </a:lnTo>
                <a:lnTo>
                  <a:pt x="277177" y="156210"/>
                </a:lnTo>
                <a:lnTo>
                  <a:pt x="283845" y="203835"/>
                </a:lnTo>
                <a:lnTo>
                  <a:pt x="290513" y="233363"/>
                </a:lnTo>
                <a:lnTo>
                  <a:pt x="298133" y="248603"/>
                </a:lnTo>
                <a:lnTo>
                  <a:pt x="304800" y="254317"/>
                </a:lnTo>
                <a:lnTo>
                  <a:pt x="311468" y="256222"/>
                </a:lnTo>
                <a:lnTo>
                  <a:pt x="319088" y="257175"/>
                </a:lnTo>
                <a:lnTo>
                  <a:pt x="325755" y="257175"/>
                </a:lnTo>
                <a:lnTo>
                  <a:pt x="332423" y="257175"/>
                </a:lnTo>
                <a:lnTo>
                  <a:pt x="339090" y="257175"/>
                </a:lnTo>
                <a:lnTo>
                  <a:pt x="346710" y="257175"/>
                </a:lnTo>
                <a:lnTo>
                  <a:pt x="353377" y="257175"/>
                </a:lnTo>
                <a:lnTo>
                  <a:pt x="360045" y="257175"/>
                </a:lnTo>
                <a:lnTo>
                  <a:pt x="366713" y="257175"/>
                </a:lnTo>
                <a:lnTo>
                  <a:pt x="374333" y="257175"/>
                </a:lnTo>
                <a:lnTo>
                  <a:pt x="381000" y="257175"/>
                </a:lnTo>
                <a:lnTo>
                  <a:pt x="387668" y="254317"/>
                </a:lnTo>
                <a:lnTo>
                  <a:pt x="395288" y="243840"/>
                </a:lnTo>
                <a:lnTo>
                  <a:pt x="401955" y="211455"/>
                </a:lnTo>
                <a:lnTo>
                  <a:pt x="408623" y="156210"/>
                </a:lnTo>
                <a:lnTo>
                  <a:pt x="415290" y="110490"/>
                </a:lnTo>
                <a:lnTo>
                  <a:pt x="422910" y="117158"/>
                </a:lnTo>
                <a:lnTo>
                  <a:pt x="429577" y="169545"/>
                </a:lnTo>
                <a:lnTo>
                  <a:pt x="436245" y="220980"/>
                </a:lnTo>
                <a:lnTo>
                  <a:pt x="442913" y="247650"/>
                </a:lnTo>
                <a:lnTo>
                  <a:pt x="450533" y="255270"/>
                </a:lnTo>
                <a:lnTo>
                  <a:pt x="457200" y="257175"/>
                </a:lnTo>
                <a:lnTo>
                  <a:pt x="463868" y="257175"/>
                </a:lnTo>
                <a:lnTo>
                  <a:pt x="471488" y="257175"/>
                </a:lnTo>
                <a:lnTo>
                  <a:pt x="478155" y="257175"/>
                </a:lnTo>
                <a:lnTo>
                  <a:pt x="484823" y="257175"/>
                </a:lnTo>
                <a:lnTo>
                  <a:pt x="491490" y="257175"/>
                </a:lnTo>
                <a:lnTo>
                  <a:pt x="499110" y="257175"/>
                </a:lnTo>
                <a:lnTo>
                  <a:pt x="505777" y="257175"/>
                </a:lnTo>
                <a:lnTo>
                  <a:pt x="512445" y="257175"/>
                </a:lnTo>
                <a:lnTo>
                  <a:pt x="519113" y="257175"/>
                </a:lnTo>
                <a:lnTo>
                  <a:pt x="526733" y="254317"/>
                </a:lnTo>
                <a:lnTo>
                  <a:pt x="533400" y="244792"/>
                </a:lnTo>
                <a:lnTo>
                  <a:pt x="540068" y="217170"/>
                </a:lnTo>
                <a:lnTo>
                  <a:pt x="547688" y="161925"/>
                </a:lnTo>
                <a:lnTo>
                  <a:pt x="554355" y="92392"/>
                </a:lnTo>
                <a:lnTo>
                  <a:pt x="561023" y="51435"/>
                </a:lnTo>
                <a:lnTo>
                  <a:pt x="567690" y="71438"/>
                </a:lnTo>
                <a:lnTo>
                  <a:pt x="575310" y="136208"/>
                </a:lnTo>
                <a:lnTo>
                  <a:pt x="581978" y="200978"/>
                </a:lnTo>
                <a:lnTo>
                  <a:pt x="588645" y="238125"/>
                </a:lnTo>
                <a:lnTo>
                  <a:pt x="595313" y="252413"/>
                </a:lnTo>
                <a:lnTo>
                  <a:pt x="602933" y="256222"/>
                </a:lnTo>
                <a:lnTo>
                  <a:pt x="609600" y="257175"/>
                </a:lnTo>
                <a:lnTo>
                  <a:pt x="616268" y="257175"/>
                </a:lnTo>
                <a:lnTo>
                  <a:pt x="623888" y="257175"/>
                </a:lnTo>
                <a:lnTo>
                  <a:pt x="630555" y="257175"/>
                </a:lnTo>
                <a:lnTo>
                  <a:pt x="637223" y="257175"/>
                </a:lnTo>
                <a:lnTo>
                  <a:pt x="643890" y="257175"/>
                </a:lnTo>
                <a:lnTo>
                  <a:pt x="651510" y="257175"/>
                </a:lnTo>
                <a:lnTo>
                  <a:pt x="658178" y="257175"/>
                </a:lnTo>
                <a:lnTo>
                  <a:pt x="664845" y="257175"/>
                </a:lnTo>
                <a:lnTo>
                  <a:pt x="671513" y="257175"/>
                </a:lnTo>
                <a:lnTo>
                  <a:pt x="679133" y="257175"/>
                </a:lnTo>
                <a:lnTo>
                  <a:pt x="685800" y="257175"/>
                </a:lnTo>
              </a:path>
            </a:pathLst>
          </a:custGeom>
          <a:noFill/>
          <a:ln w="19050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Line 190">
            <a:extLst>
              <a:ext uri="{FF2B5EF4-FFF2-40B4-BE49-F238E27FC236}">
                <a16:creationId xmlns:a16="http://schemas.microsoft.com/office/drawing/2014/main" id="{9CCBB580-6888-4507-9639-FEE88DB2F8D9}"/>
              </a:ext>
            </a:extLst>
          </p:cNvPr>
          <p:cNvSpPr>
            <a:spLocks noGrp="1"/>
          </p:cNvSpPr>
          <p:nvPr/>
        </p:nvSpPr>
        <p:spPr>
          <a:xfrm>
            <a:off x="1247775" y="3819526"/>
            <a:ext cx="400050" cy="953"/>
          </a:xfrm>
          <a:custGeom>
            <a:avLst/>
            <a:gdLst/>
            <a:ahLst/>
            <a:cxnLst/>
            <a:rect l="0" t="0" r="0" b="0"/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7145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" name="Arrowhead 191">
            <a:extLst>
              <a:ext uri="{FF2B5EF4-FFF2-40B4-BE49-F238E27FC236}">
                <a16:creationId xmlns:a16="http://schemas.microsoft.com/office/drawing/2014/main" id="{9B2821FF-327C-46CE-ABC0-17C703F2EE3F}"/>
              </a:ext>
            </a:extLst>
          </p:cNvPr>
          <p:cNvSpPr>
            <a:spLocks noGrp="1"/>
          </p:cNvSpPr>
          <p:nvPr/>
        </p:nvSpPr>
        <p:spPr>
          <a:xfrm>
            <a:off x="1562100" y="3781426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3977B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2" name="Line 192">
            <a:extLst>
              <a:ext uri="{FF2B5EF4-FFF2-40B4-BE49-F238E27FC236}">
                <a16:creationId xmlns:a16="http://schemas.microsoft.com/office/drawing/2014/main" id="{7E2E118B-3B07-4B85-8476-926A04A2C3A0}"/>
              </a:ext>
            </a:extLst>
          </p:cNvPr>
          <p:cNvSpPr>
            <a:spLocks noGrp="1"/>
          </p:cNvSpPr>
          <p:nvPr/>
        </p:nvSpPr>
        <p:spPr>
          <a:xfrm>
            <a:off x="1247775" y="4429126"/>
            <a:ext cx="400050" cy="953"/>
          </a:xfrm>
          <a:custGeom>
            <a:avLst/>
            <a:gdLst/>
            <a:ahLst/>
            <a:cxnLst/>
            <a:rect l="0" t="0" r="0" b="0"/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7145">
            <a:solidFill>
              <a:srgbClr val="CC8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Arrowhead 193">
            <a:extLst>
              <a:ext uri="{FF2B5EF4-FFF2-40B4-BE49-F238E27FC236}">
                <a16:creationId xmlns:a16="http://schemas.microsoft.com/office/drawing/2014/main" id="{199EC542-F0DF-4CF6-975F-E5A6CB316135}"/>
              </a:ext>
            </a:extLst>
          </p:cNvPr>
          <p:cNvSpPr>
            <a:spLocks noGrp="1"/>
          </p:cNvSpPr>
          <p:nvPr/>
        </p:nvSpPr>
        <p:spPr>
          <a:xfrm>
            <a:off x="1562100" y="4391026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C874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4" name="Block 194">
            <a:extLst>
              <a:ext uri="{FF2B5EF4-FFF2-40B4-BE49-F238E27FC236}">
                <a16:creationId xmlns:a16="http://schemas.microsoft.com/office/drawing/2014/main" id="{5FE57780-5B95-4F15-AA7A-6D7C206F6BD2}"/>
              </a:ext>
            </a:extLst>
          </p:cNvPr>
          <p:cNvSpPr>
            <a:spLocks noGrp="1"/>
          </p:cNvSpPr>
          <p:nvPr/>
        </p:nvSpPr>
        <p:spPr>
          <a:xfrm>
            <a:off x="1733550" y="36861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Block 195">
            <a:extLst>
              <a:ext uri="{FF2B5EF4-FFF2-40B4-BE49-F238E27FC236}">
                <a16:creationId xmlns:a16="http://schemas.microsoft.com/office/drawing/2014/main" id="{82814843-2201-43D4-9E9C-EB3AFD1DE667}"/>
              </a:ext>
            </a:extLst>
          </p:cNvPr>
          <p:cNvSpPr>
            <a:spLocks noGrp="1"/>
          </p:cNvSpPr>
          <p:nvPr/>
        </p:nvSpPr>
        <p:spPr>
          <a:xfrm>
            <a:off x="1733550" y="3686176"/>
            <a:ext cx="85726" cy="2286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Block 196">
            <a:extLst>
              <a:ext uri="{FF2B5EF4-FFF2-40B4-BE49-F238E27FC236}">
                <a16:creationId xmlns:a16="http://schemas.microsoft.com/office/drawing/2014/main" id="{F5443A71-C91D-4F1E-B19C-9AD7070E67A9}"/>
              </a:ext>
            </a:extLst>
          </p:cNvPr>
          <p:cNvSpPr>
            <a:spLocks noGrp="1"/>
          </p:cNvSpPr>
          <p:nvPr/>
        </p:nvSpPr>
        <p:spPr>
          <a:xfrm>
            <a:off x="1838325" y="36861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Block 197">
            <a:extLst>
              <a:ext uri="{FF2B5EF4-FFF2-40B4-BE49-F238E27FC236}">
                <a16:creationId xmlns:a16="http://schemas.microsoft.com/office/drawing/2014/main" id="{82D31AFD-E59F-4BB4-91AB-EBFA568FB998}"/>
              </a:ext>
            </a:extLst>
          </p:cNvPr>
          <p:cNvSpPr>
            <a:spLocks noGrp="1"/>
          </p:cNvSpPr>
          <p:nvPr/>
        </p:nvSpPr>
        <p:spPr>
          <a:xfrm>
            <a:off x="1838325" y="3686176"/>
            <a:ext cx="85726" cy="228600"/>
          </a:xfrm>
          <a:prstGeom prst="rect">
            <a:avLst/>
          </a:prstGeom>
          <a:solidFill>
            <a:srgbClr val="FFFFFF">
              <a:alpha val="39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Block 198">
            <a:extLst>
              <a:ext uri="{FF2B5EF4-FFF2-40B4-BE49-F238E27FC236}">
                <a16:creationId xmlns:a16="http://schemas.microsoft.com/office/drawing/2014/main" id="{C48D952B-81FC-4F2B-BAC4-95E7347C0DEB}"/>
              </a:ext>
            </a:extLst>
          </p:cNvPr>
          <p:cNvSpPr>
            <a:spLocks noGrp="1"/>
          </p:cNvSpPr>
          <p:nvPr/>
        </p:nvSpPr>
        <p:spPr>
          <a:xfrm>
            <a:off x="1943100" y="36861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Block 199">
            <a:extLst>
              <a:ext uri="{FF2B5EF4-FFF2-40B4-BE49-F238E27FC236}">
                <a16:creationId xmlns:a16="http://schemas.microsoft.com/office/drawing/2014/main" id="{1D4D546F-A301-4116-A15D-F12280827505}"/>
              </a:ext>
            </a:extLst>
          </p:cNvPr>
          <p:cNvSpPr>
            <a:spLocks noGrp="1"/>
          </p:cNvSpPr>
          <p:nvPr/>
        </p:nvSpPr>
        <p:spPr>
          <a:xfrm>
            <a:off x="1943100" y="3686176"/>
            <a:ext cx="85726" cy="228600"/>
          </a:xfrm>
          <a:prstGeom prst="rect">
            <a:avLst/>
          </a:prstGeom>
          <a:solidFill>
            <a:srgbClr val="FFFFFF">
              <a:alpha val="66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Block 200">
            <a:extLst>
              <a:ext uri="{FF2B5EF4-FFF2-40B4-BE49-F238E27FC236}">
                <a16:creationId xmlns:a16="http://schemas.microsoft.com/office/drawing/2014/main" id="{383386B4-91F9-4937-AD8D-2D0BAB304038}"/>
              </a:ext>
            </a:extLst>
          </p:cNvPr>
          <p:cNvSpPr>
            <a:spLocks noGrp="1"/>
          </p:cNvSpPr>
          <p:nvPr/>
        </p:nvSpPr>
        <p:spPr>
          <a:xfrm>
            <a:off x="2047875" y="36861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Block 201">
            <a:extLst>
              <a:ext uri="{FF2B5EF4-FFF2-40B4-BE49-F238E27FC236}">
                <a16:creationId xmlns:a16="http://schemas.microsoft.com/office/drawing/2014/main" id="{5E0E4868-5973-42CC-8AC7-632183030749}"/>
              </a:ext>
            </a:extLst>
          </p:cNvPr>
          <p:cNvSpPr>
            <a:spLocks noGrp="1"/>
          </p:cNvSpPr>
          <p:nvPr/>
        </p:nvSpPr>
        <p:spPr>
          <a:xfrm>
            <a:off x="2047875" y="3686176"/>
            <a:ext cx="85726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Block 202">
            <a:extLst>
              <a:ext uri="{FF2B5EF4-FFF2-40B4-BE49-F238E27FC236}">
                <a16:creationId xmlns:a16="http://schemas.microsoft.com/office/drawing/2014/main" id="{FF5F3E77-98A4-4740-B546-59939CD2F6E8}"/>
              </a:ext>
            </a:extLst>
          </p:cNvPr>
          <p:cNvSpPr>
            <a:spLocks noGrp="1"/>
          </p:cNvSpPr>
          <p:nvPr/>
        </p:nvSpPr>
        <p:spPr>
          <a:xfrm>
            <a:off x="2152650" y="36861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3977B5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3" name="Block 203">
            <a:extLst>
              <a:ext uri="{FF2B5EF4-FFF2-40B4-BE49-F238E27FC236}">
                <a16:creationId xmlns:a16="http://schemas.microsoft.com/office/drawing/2014/main" id="{F05728B2-EC43-46F1-835E-6F7A55BC7E41}"/>
              </a:ext>
            </a:extLst>
          </p:cNvPr>
          <p:cNvSpPr>
            <a:spLocks noGrp="1"/>
          </p:cNvSpPr>
          <p:nvPr/>
        </p:nvSpPr>
        <p:spPr>
          <a:xfrm>
            <a:off x="2152650" y="3686176"/>
            <a:ext cx="85726" cy="228600"/>
          </a:xfrm>
          <a:prstGeom prst="rect">
            <a:avLst/>
          </a:prstGeom>
          <a:solidFill>
            <a:srgbClr val="FFFFFF">
              <a:alpha val="57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Block 204">
            <a:extLst>
              <a:ext uri="{FF2B5EF4-FFF2-40B4-BE49-F238E27FC236}">
                <a16:creationId xmlns:a16="http://schemas.microsoft.com/office/drawing/2014/main" id="{62CBAF99-1E67-4E87-A89E-B2FBFF1E183F}"/>
              </a:ext>
            </a:extLst>
          </p:cNvPr>
          <p:cNvSpPr>
            <a:spLocks noGrp="1"/>
          </p:cNvSpPr>
          <p:nvPr/>
        </p:nvSpPr>
        <p:spPr>
          <a:xfrm>
            <a:off x="1733550" y="42957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Block 205">
            <a:extLst>
              <a:ext uri="{FF2B5EF4-FFF2-40B4-BE49-F238E27FC236}">
                <a16:creationId xmlns:a16="http://schemas.microsoft.com/office/drawing/2014/main" id="{DA9DBE00-6EBA-4866-B5AC-54B44647DCDE}"/>
              </a:ext>
            </a:extLst>
          </p:cNvPr>
          <p:cNvSpPr>
            <a:spLocks noGrp="1"/>
          </p:cNvSpPr>
          <p:nvPr/>
        </p:nvSpPr>
        <p:spPr>
          <a:xfrm>
            <a:off x="1733550" y="4295776"/>
            <a:ext cx="85726" cy="2286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Block 206">
            <a:extLst>
              <a:ext uri="{FF2B5EF4-FFF2-40B4-BE49-F238E27FC236}">
                <a16:creationId xmlns:a16="http://schemas.microsoft.com/office/drawing/2014/main" id="{ACBE6259-966F-4602-B5D8-0E5447D11FAA}"/>
              </a:ext>
            </a:extLst>
          </p:cNvPr>
          <p:cNvSpPr>
            <a:spLocks noGrp="1"/>
          </p:cNvSpPr>
          <p:nvPr/>
        </p:nvSpPr>
        <p:spPr>
          <a:xfrm>
            <a:off x="1838325" y="42957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Block 207">
            <a:extLst>
              <a:ext uri="{FF2B5EF4-FFF2-40B4-BE49-F238E27FC236}">
                <a16:creationId xmlns:a16="http://schemas.microsoft.com/office/drawing/2014/main" id="{EABB7DC1-8B0C-4ECA-8EC2-197FF746511C}"/>
              </a:ext>
            </a:extLst>
          </p:cNvPr>
          <p:cNvSpPr>
            <a:spLocks noGrp="1"/>
          </p:cNvSpPr>
          <p:nvPr/>
        </p:nvSpPr>
        <p:spPr>
          <a:xfrm>
            <a:off x="1838325" y="4295776"/>
            <a:ext cx="85726" cy="228600"/>
          </a:xfrm>
          <a:prstGeom prst="rect">
            <a:avLst/>
          </a:prstGeom>
          <a:solidFill>
            <a:srgbClr val="FFFFFF">
              <a:alpha val="39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Block 208">
            <a:extLst>
              <a:ext uri="{FF2B5EF4-FFF2-40B4-BE49-F238E27FC236}">
                <a16:creationId xmlns:a16="http://schemas.microsoft.com/office/drawing/2014/main" id="{97CB33F8-A543-41D5-B7E7-0A689B833885}"/>
              </a:ext>
            </a:extLst>
          </p:cNvPr>
          <p:cNvSpPr>
            <a:spLocks noGrp="1"/>
          </p:cNvSpPr>
          <p:nvPr/>
        </p:nvSpPr>
        <p:spPr>
          <a:xfrm>
            <a:off x="1943100" y="42957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Block 209">
            <a:extLst>
              <a:ext uri="{FF2B5EF4-FFF2-40B4-BE49-F238E27FC236}">
                <a16:creationId xmlns:a16="http://schemas.microsoft.com/office/drawing/2014/main" id="{E20B8404-0145-4888-BB69-EB6B1EE798C9}"/>
              </a:ext>
            </a:extLst>
          </p:cNvPr>
          <p:cNvSpPr>
            <a:spLocks noGrp="1"/>
          </p:cNvSpPr>
          <p:nvPr/>
        </p:nvSpPr>
        <p:spPr>
          <a:xfrm>
            <a:off x="1943100" y="4295776"/>
            <a:ext cx="85726" cy="228600"/>
          </a:xfrm>
          <a:prstGeom prst="rect">
            <a:avLst/>
          </a:prstGeom>
          <a:solidFill>
            <a:srgbClr val="FFFFFF">
              <a:alpha val="66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Block 210">
            <a:extLst>
              <a:ext uri="{FF2B5EF4-FFF2-40B4-BE49-F238E27FC236}">
                <a16:creationId xmlns:a16="http://schemas.microsoft.com/office/drawing/2014/main" id="{E070E17B-E534-4BD5-B579-FB285EA37155}"/>
              </a:ext>
            </a:extLst>
          </p:cNvPr>
          <p:cNvSpPr>
            <a:spLocks noGrp="1"/>
          </p:cNvSpPr>
          <p:nvPr/>
        </p:nvSpPr>
        <p:spPr>
          <a:xfrm>
            <a:off x="2047875" y="42957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Block 211">
            <a:extLst>
              <a:ext uri="{FF2B5EF4-FFF2-40B4-BE49-F238E27FC236}">
                <a16:creationId xmlns:a16="http://schemas.microsoft.com/office/drawing/2014/main" id="{B89D1ED0-3CD0-4C2C-9B06-BB9B2E5AE2DD}"/>
              </a:ext>
            </a:extLst>
          </p:cNvPr>
          <p:cNvSpPr>
            <a:spLocks noGrp="1"/>
          </p:cNvSpPr>
          <p:nvPr/>
        </p:nvSpPr>
        <p:spPr>
          <a:xfrm>
            <a:off x="2047875" y="4295776"/>
            <a:ext cx="85726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Block 212">
            <a:extLst>
              <a:ext uri="{FF2B5EF4-FFF2-40B4-BE49-F238E27FC236}">
                <a16:creationId xmlns:a16="http://schemas.microsoft.com/office/drawing/2014/main" id="{CDC25ABB-960C-4D9B-8220-AAE5E8352E10}"/>
              </a:ext>
            </a:extLst>
          </p:cNvPr>
          <p:cNvSpPr>
            <a:spLocks noGrp="1"/>
          </p:cNvSpPr>
          <p:nvPr/>
        </p:nvSpPr>
        <p:spPr>
          <a:xfrm>
            <a:off x="2152650" y="4295776"/>
            <a:ext cx="85726" cy="228600"/>
          </a:xfrm>
          <a:prstGeom prst="roundRect">
            <a:avLst>
              <a:gd name="adj" fmla="val 22222"/>
            </a:avLst>
          </a:prstGeom>
          <a:solidFill>
            <a:srgbClr val="CC8740"/>
          </a:solidFill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Block 213">
            <a:extLst>
              <a:ext uri="{FF2B5EF4-FFF2-40B4-BE49-F238E27FC236}">
                <a16:creationId xmlns:a16="http://schemas.microsoft.com/office/drawing/2014/main" id="{C0A4B2CE-3650-4B98-B3E8-483E34D703B5}"/>
              </a:ext>
            </a:extLst>
          </p:cNvPr>
          <p:cNvSpPr>
            <a:spLocks noGrp="1"/>
          </p:cNvSpPr>
          <p:nvPr/>
        </p:nvSpPr>
        <p:spPr>
          <a:xfrm>
            <a:off x="2152650" y="4295776"/>
            <a:ext cx="85726" cy="228600"/>
          </a:xfrm>
          <a:prstGeom prst="rect">
            <a:avLst/>
          </a:prstGeom>
          <a:solidFill>
            <a:srgbClr val="FFFFFF">
              <a:alpha val="57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Text 214 Sᵥ">
            <a:extLst>
              <a:ext uri="{FF2B5EF4-FFF2-40B4-BE49-F238E27FC236}">
                <a16:creationId xmlns:a16="http://schemas.microsoft.com/office/drawing/2014/main" id="{333C7C68-66F5-4E1B-8927-20C0DB76BEF4}"/>
              </a:ext>
            </a:extLst>
          </p:cNvPr>
          <p:cNvSpPr>
            <a:spLocks noGrp="1"/>
          </p:cNvSpPr>
          <p:nvPr/>
        </p:nvSpPr>
        <p:spPr>
          <a:xfrm>
            <a:off x="1885950" y="4000501"/>
            <a:ext cx="2286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215" name="Text 215 G">
            <a:extLst>
              <a:ext uri="{FF2B5EF4-FFF2-40B4-BE49-F238E27FC236}">
                <a16:creationId xmlns:a16="http://schemas.microsoft.com/office/drawing/2014/main" id="{C0E2F90E-291A-41E0-A9E2-2FDE3362AEBE}"/>
              </a:ext>
            </a:extLst>
          </p:cNvPr>
          <p:cNvSpPr>
            <a:spLocks noGrp="1"/>
          </p:cNvSpPr>
          <p:nvPr/>
        </p:nvSpPr>
        <p:spPr>
          <a:xfrm>
            <a:off x="1885950" y="4591051"/>
            <a:ext cx="228600" cy="2486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93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16" name="Line 216">
            <a:extLst>
              <a:ext uri="{FF2B5EF4-FFF2-40B4-BE49-F238E27FC236}">
                <a16:creationId xmlns:a16="http://schemas.microsoft.com/office/drawing/2014/main" id="{47EFEC1B-CC64-4DC1-9774-55ECE169910D}"/>
              </a:ext>
            </a:extLst>
          </p:cNvPr>
          <p:cNvSpPr>
            <a:spLocks noGrp="1"/>
          </p:cNvSpPr>
          <p:nvPr/>
        </p:nvSpPr>
        <p:spPr>
          <a:xfrm>
            <a:off x="2343150" y="3819526"/>
            <a:ext cx="457200" cy="295276"/>
          </a:xfrm>
          <a:custGeom>
            <a:avLst/>
            <a:gdLst/>
            <a:ahLst/>
            <a:cxnLst/>
            <a:rect l="0" t="0" r="0" b="0"/>
            <a:pathLst>
              <a:path w="457200" h="295275">
                <a:moveTo>
                  <a:pt x="0" y="0"/>
                </a:moveTo>
                <a:lnTo>
                  <a:pt x="200025" y="0"/>
                </a:lnTo>
                <a:lnTo>
                  <a:pt x="200025" y="295275"/>
                </a:lnTo>
                <a:lnTo>
                  <a:pt x="457200" y="295275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Arrowhead 217">
            <a:extLst>
              <a:ext uri="{FF2B5EF4-FFF2-40B4-BE49-F238E27FC236}">
                <a16:creationId xmlns:a16="http://schemas.microsoft.com/office/drawing/2014/main" id="{C10188FF-3CC7-4073-94DB-3C63F19611D0}"/>
              </a:ext>
            </a:extLst>
          </p:cNvPr>
          <p:cNvSpPr>
            <a:spLocks noGrp="1"/>
          </p:cNvSpPr>
          <p:nvPr/>
        </p:nvSpPr>
        <p:spPr>
          <a:xfrm>
            <a:off x="2782004" y="407670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8636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Line 218">
            <a:extLst>
              <a:ext uri="{FF2B5EF4-FFF2-40B4-BE49-F238E27FC236}">
                <a16:creationId xmlns:a16="http://schemas.microsoft.com/office/drawing/2014/main" id="{03EF5DBA-0835-4568-9A3D-AA451330A2F1}"/>
              </a:ext>
            </a:extLst>
          </p:cNvPr>
          <p:cNvSpPr>
            <a:spLocks noGrp="1"/>
          </p:cNvSpPr>
          <p:nvPr/>
        </p:nvSpPr>
        <p:spPr>
          <a:xfrm>
            <a:off x="2343150" y="4114800"/>
            <a:ext cx="200026" cy="314326"/>
          </a:xfrm>
          <a:custGeom>
            <a:avLst/>
            <a:gdLst/>
            <a:ahLst/>
            <a:cxnLst/>
            <a:rect l="0" t="0" r="0" b="0"/>
            <a:pathLst>
              <a:path w="200025" h="314325">
                <a:moveTo>
                  <a:pt x="0" y="314325"/>
                </a:moveTo>
                <a:lnTo>
                  <a:pt x="200025" y="314325"/>
                </a:lnTo>
                <a:lnTo>
                  <a:pt x="200025" y="0"/>
                </a:lnTo>
              </a:path>
            </a:pathLst>
          </a:custGeom>
          <a:noFill/>
          <a:ln w="17145">
            <a:solidFill>
              <a:srgbClr val="5863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7" name="Line 247">
            <a:extLst>
              <a:ext uri="{FF2B5EF4-FFF2-40B4-BE49-F238E27FC236}">
                <a16:creationId xmlns:a16="http://schemas.microsoft.com/office/drawing/2014/main" id="{F411AB97-7112-4B2B-AACB-1E55ADA7BD7D}"/>
              </a:ext>
            </a:extLst>
          </p:cNvPr>
          <p:cNvSpPr>
            <a:spLocks noGrp="1"/>
          </p:cNvSpPr>
          <p:nvPr/>
        </p:nvSpPr>
        <p:spPr>
          <a:xfrm>
            <a:off x="2991350" y="4493895"/>
            <a:ext cx="838200" cy="953"/>
          </a:xfrm>
          <a:custGeom>
            <a:avLst/>
            <a:gdLst/>
            <a:ahLst/>
            <a:cxnLst/>
            <a:rect l="0" t="0" r="0" b="0"/>
            <a:pathLst>
              <a:path w="838200" h="953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17145">
            <a:solidFill>
              <a:srgbClr val="3977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Arrowhead 248">
            <a:extLst>
              <a:ext uri="{FF2B5EF4-FFF2-40B4-BE49-F238E27FC236}">
                <a16:creationId xmlns:a16="http://schemas.microsoft.com/office/drawing/2014/main" id="{33B40A37-82CE-4AC2-AA38-0B46AE66799F}"/>
              </a:ext>
            </a:extLst>
          </p:cNvPr>
          <p:cNvSpPr>
            <a:spLocks noGrp="1"/>
          </p:cNvSpPr>
          <p:nvPr/>
        </p:nvSpPr>
        <p:spPr>
          <a:xfrm>
            <a:off x="3734200" y="445579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3977B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9" name="Arrowhead 249">
            <a:extLst>
              <a:ext uri="{FF2B5EF4-FFF2-40B4-BE49-F238E27FC236}">
                <a16:creationId xmlns:a16="http://schemas.microsoft.com/office/drawing/2014/main" id="{ACCE96BB-9103-43D5-B66A-499F57AA7572}"/>
              </a:ext>
            </a:extLst>
          </p:cNvPr>
          <p:cNvSpPr>
            <a:spLocks noGrp="1"/>
          </p:cNvSpPr>
          <p:nvPr/>
        </p:nvSpPr>
        <p:spPr>
          <a:xfrm>
            <a:off x="2981725" y="445579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0" y="38100"/>
                </a:moveTo>
                <a:lnTo>
                  <a:pt x="85725" y="76200"/>
                </a:lnTo>
                <a:lnTo>
                  <a:pt x="85725" y="0"/>
                </a:lnTo>
                <a:close/>
              </a:path>
            </a:pathLst>
          </a:custGeom>
          <a:solidFill>
            <a:srgbClr val="3977B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0" name="Text 250 S → G / G → S">
            <a:extLst>
              <a:ext uri="{FF2B5EF4-FFF2-40B4-BE49-F238E27FC236}">
                <a16:creationId xmlns:a16="http://schemas.microsoft.com/office/drawing/2014/main" id="{190072F2-5038-43B1-B878-2DF00F943DAE}"/>
              </a:ext>
            </a:extLst>
          </p:cNvPr>
          <p:cNvSpPr>
            <a:spLocks noGrp="1"/>
          </p:cNvSpPr>
          <p:nvPr/>
        </p:nvSpPr>
        <p:spPr>
          <a:xfrm>
            <a:off x="2877452" y="4560569"/>
            <a:ext cx="1200150" cy="220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U → V / V → U</a:t>
            </a:r>
          </a:p>
        </p:txBody>
      </p:sp>
      <p:sp>
        <p:nvSpPr>
          <p:cNvPr id="251" name="Text 251 Same molecule = positive">
            <a:extLst>
              <a:ext uri="{FF2B5EF4-FFF2-40B4-BE49-F238E27FC236}">
                <a16:creationId xmlns:a16="http://schemas.microsoft.com/office/drawing/2014/main" id="{9C799916-A490-4C9C-B16E-5EBE22B37F4B}"/>
              </a:ext>
            </a:extLst>
          </p:cNvPr>
          <p:cNvSpPr>
            <a:spLocks noGrp="1"/>
          </p:cNvSpPr>
          <p:nvPr/>
        </p:nvSpPr>
        <p:spPr>
          <a:xfrm>
            <a:off x="4204431" y="3626644"/>
            <a:ext cx="2139220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397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7B5"/>
                </a:solidFill>
                <a:latin typeface="Arial"/>
                <a:ea typeface="Arial"/>
                <a:cs typeface="Arial"/>
              </a:rPr>
              <a:t>Identity matching</a:t>
            </a:r>
          </a:p>
        </p:txBody>
      </p:sp>
      <p:sp>
        <p:nvSpPr>
          <p:cNvPr id="253" name="Block 253">
            <a:extLst>
              <a:ext uri="{FF2B5EF4-FFF2-40B4-BE49-F238E27FC236}">
                <a16:creationId xmlns:a16="http://schemas.microsoft.com/office/drawing/2014/main" id="{DBA44EA2-3A93-4498-8EEB-C4250C05B49B}"/>
              </a:ext>
            </a:extLst>
          </p:cNvPr>
          <p:cNvSpPr>
            <a:spLocks noGrp="1"/>
          </p:cNvSpPr>
          <p:nvPr/>
        </p:nvSpPr>
        <p:spPr>
          <a:xfrm>
            <a:off x="4124325" y="3951270"/>
            <a:ext cx="161926" cy="161926"/>
          </a:xfrm>
          <a:prstGeom prst="roundRect">
            <a:avLst>
              <a:gd name="adj" fmla="val 11765"/>
            </a:avLst>
          </a:prstGeom>
          <a:solidFill>
            <a:srgbClr val="4689B7"/>
          </a:solidFill>
          <a:ln w="13335">
            <a:solidFill>
              <a:srgbClr val="4689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Text 254 Positive pairs: increase probability">
            <a:extLst>
              <a:ext uri="{FF2B5EF4-FFF2-40B4-BE49-F238E27FC236}">
                <a16:creationId xmlns:a16="http://schemas.microsoft.com/office/drawing/2014/main" id="{09F93E30-A42D-4939-BAAB-7D31DF2E1012}"/>
              </a:ext>
            </a:extLst>
          </p:cNvPr>
          <p:cNvSpPr>
            <a:spLocks noGrp="1"/>
          </p:cNvSpPr>
          <p:nvPr/>
        </p:nvSpPr>
        <p:spPr>
          <a:xfrm>
            <a:off x="4381501" y="3951271"/>
            <a:ext cx="1462373" cy="1853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Same identity</a:t>
            </a:r>
          </a:p>
        </p:txBody>
      </p:sp>
      <p:sp>
        <p:nvSpPr>
          <p:cNvPr id="255" name="Block 255">
            <a:extLst>
              <a:ext uri="{FF2B5EF4-FFF2-40B4-BE49-F238E27FC236}">
                <a16:creationId xmlns:a16="http://schemas.microsoft.com/office/drawing/2014/main" id="{FF25E373-6AAA-477D-95D6-E736F79A245F}"/>
              </a:ext>
            </a:extLst>
          </p:cNvPr>
          <p:cNvSpPr>
            <a:spLocks noGrp="1"/>
          </p:cNvSpPr>
          <p:nvPr/>
        </p:nvSpPr>
        <p:spPr>
          <a:xfrm>
            <a:off x="4124325" y="4217970"/>
            <a:ext cx="161926" cy="161926"/>
          </a:xfrm>
          <a:prstGeom prst="roundRect">
            <a:avLst>
              <a:gd name="adj" fmla="val 11765"/>
            </a:avLst>
          </a:prstGeom>
          <a:solidFill>
            <a:srgbClr val="E8EDF3"/>
          </a:solidFill>
          <a:ln w="13335">
            <a:solidFill>
              <a:srgbClr val="B8C7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6" name="Text 256 Other pairs: contrastive negatives">
            <a:extLst>
              <a:ext uri="{FF2B5EF4-FFF2-40B4-BE49-F238E27FC236}">
                <a16:creationId xmlns:a16="http://schemas.microsoft.com/office/drawing/2014/main" id="{4C531B6C-CC7C-447C-99A5-CA985FDEC784}"/>
              </a:ext>
            </a:extLst>
          </p:cNvPr>
          <p:cNvSpPr>
            <a:spLocks noGrp="1"/>
          </p:cNvSpPr>
          <p:nvPr/>
        </p:nvSpPr>
        <p:spPr>
          <a:xfrm>
            <a:off x="4381502" y="4217970"/>
            <a:ext cx="1230028" cy="209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Different identity</a:t>
            </a:r>
          </a:p>
        </p:txBody>
      </p:sp>
      <p:sp>
        <p:nvSpPr>
          <p:cNvPr id="260" name="Block 260">
            <a:extLst>
              <a:ext uri="{FF2B5EF4-FFF2-40B4-BE49-F238E27FC236}">
                <a16:creationId xmlns:a16="http://schemas.microsoft.com/office/drawing/2014/main" id="{9F3E0F7D-29AD-4B7D-A2C0-6B181801F40C}"/>
              </a:ext>
            </a:extLst>
          </p:cNvPr>
          <p:cNvSpPr>
            <a:spLocks noGrp="1"/>
          </p:cNvSpPr>
          <p:nvPr/>
        </p:nvSpPr>
        <p:spPr>
          <a:xfrm>
            <a:off x="7762876" y="3047999"/>
            <a:ext cx="7029451" cy="1905000"/>
          </a:xfrm>
          <a:prstGeom prst="roundRect">
            <a:avLst>
              <a:gd name="adj" fmla="val 4981"/>
            </a:avLst>
          </a:prstGeom>
          <a:solidFill>
            <a:srgbClr val="F8F5FB"/>
          </a:solidFill>
          <a:ln w="13335">
            <a:solidFill>
              <a:srgbClr val="AEB8C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61" name="Text 261 (c) Spectral augmentation consistency">
            <a:extLst>
              <a:ext uri="{FF2B5EF4-FFF2-40B4-BE49-F238E27FC236}">
                <a16:creationId xmlns:a16="http://schemas.microsoft.com/office/drawing/2014/main" id="{3808676E-CF97-4DC9-9C72-70E56F209303}"/>
              </a:ext>
            </a:extLst>
          </p:cNvPr>
          <p:cNvSpPr>
            <a:spLocks noGrp="1"/>
          </p:cNvSpPr>
          <p:nvPr/>
        </p:nvSpPr>
        <p:spPr>
          <a:xfrm>
            <a:off x="7848601" y="3071096"/>
            <a:ext cx="6991350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(c) Proxy augmentation</a:t>
            </a:r>
          </a:p>
        </p:txBody>
      </p:sp>
      <p:sp>
        <p:nvSpPr>
          <p:cNvPr id="335" name="Block 335">
            <a:extLst>
              <a:ext uri="{FF2B5EF4-FFF2-40B4-BE49-F238E27FC236}">
                <a16:creationId xmlns:a16="http://schemas.microsoft.com/office/drawing/2014/main" id="{60E7FA49-5865-40E8-9171-B506C7034D39}"/>
              </a:ext>
            </a:extLst>
          </p:cNvPr>
          <p:cNvSpPr>
            <a:spLocks noGrp="1"/>
          </p:cNvSpPr>
          <p:nvPr/>
        </p:nvSpPr>
        <p:spPr>
          <a:xfrm>
            <a:off x="171450" y="5067300"/>
            <a:ext cx="7378922" cy="1757363"/>
          </a:xfrm>
          <a:prstGeom prst="roundRect">
            <a:avLst>
              <a:gd name="adj" fmla="val 4851"/>
            </a:avLst>
          </a:prstGeom>
          <a:solidFill>
            <a:srgbClr val="F5FAF5"/>
          </a:solidFill>
          <a:ln w="13335">
            <a:solidFill>
              <a:srgbClr val="AEB8C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36" name="Text 336 (d) Preserve graded structural similarity">
            <a:extLst>
              <a:ext uri="{FF2B5EF4-FFF2-40B4-BE49-F238E27FC236}">
                <a16:creationId xmlns:a16="http://schemas.microsoft.com/office/drawing/2014/main" id="{45F1DC0D-AC7B-46C5-B8FB-4E842F3A16E2}"/>
              </a:ext>
            </a:extLst>
          </p:cNvPr>
          <p:cNvSpPr>
            <a:spLocks noGrp="1"/>
          </p:cNvSpPr>
          <p:nvPr/>
        </p:nvSpPr>
        <p:spPr>
          <a:xfrm>
            <a:off x="323851" y="5134760"/>
            <a:ext cx="6953250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(d) Hard negatives</a:t>
            </a:r>
          </a:p>
        </p:txBody>
      </p:sp>
      <p:sp>
        <p:nvSpPr>
          <p:cNvPr id="526" name="Block 526">
            <a:extLst>
              <a:ext uri="{FF2B5EF4-FFF2-40B4-BE49-F238E27FC236}">
                <a16:creationId xmlns:a16="http://schemas.microsoft.com/office/drawing/2014/main" id="{598E5EDC-9697-424C-9DF0-6A8A39A0F00C}"/>
              </a:ext>
            </a:extLst>
          </p:cNvPr>
          <p:cNvSpPr>
            <a:spLocks noGrp="1"/>
          </p:cNvSpPr>
          <p:nvPr/>
        </p:nvSpPr>
        <p:spPr>
          <a:xfrm>
            <a:off x="7762875" y="5067300"/>
            <a:ext cx="7029452" cy="1757363"/>
          </a:xfrm>
          <a:prstGeom prst="roundRect">
            <a:avLst>
              <a:gd name="adj" fmla="val 4851"/>
            </a:avLst>
          </a:prstGeom>
          <a:solidFill>
            <a:srgbClr val="FCF8F1"/>
          </a:solidFill>
          <a:ln w="13335">
            <a:solidFill>
              <a:srgbClr val="AEB8C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27" name="Text 527 (e) Predict chemical attributes from spectra">
            <a:extLst>
              <a:ext uri="{FF2B5EF4-FFF2-40B4-BE49-F238E27FC236}">
                <a16:creationId xmlns:a16="http://schemas.microsoft.com/office/drawing/2014/main" id="{877F4ED6-7EB7-4711-9A6D-48F2202E84CD}"/>
              </a:ext>
            </a:extLst>
          </p:cNvPr>
          <p:cNvSpPr>
            <a:spLocks noGrp="1"/>
          </p:cNvSpPr>
          <p:nvPr/>
        </p:nvSpPr>
        <p:spPr>
          <a:xfrm>
            <a:off x="7848600" y="5178100"/>
            <a:ext cx="7000876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(e) Coverage masking</a:t>
            </a:r>
          </a:p>
        </p:txBody>
      </p:sp>
      <p:sp>
        <p:nvSpPr>
          <p:cNvPr id="602" name="Updated Proxy (c)">
            <a:extLst>
              <a:ext uri="{FF2B5EF4-FFF2-40B4-BE49-F238E27FC236}">
                <a16:creationId xmlns:a16="http://schemas.microsoft.com/office/drawing/2014/main" id="{62C1C98B-3CFC-4271-B826-219D8C174D6F}"/>
              </a:ext>
            </a:extLst>
          </p:cNvPr>
          <p:cNvSpPr>
            <a:spLocks noGrp="1"/>
          </p:cNvSpPr>
          <p:nvPr/>
        </p:nvSpPr>
        <p:spPr>
          <a:xfrm>
            <a:off x="1350818" y="1019176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8A6AB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6AB1"/>
                </a:solidFill>
                <a:latin typeface="Arial"/>
                <a:ea typeface="Arial"/>
                <a:cs typeface="Arial"/>
              </a:rPr>
              <a:t>Proxy (c)</a:t>
            </a:r>
          </a:p>
        </p:txBody>
      </p:sp>
      <p:sp>
        <p:nvSpPr>
          <p:cNvPr id="603" name="Updated Experiment">
            <a:extLst>
              <a:ext uri="{FF2B5EF4-FFF2-40B4-BE49-F238E27FC236}">
                <a16:creationId xmlns:a16="http://schemas.microsoft.com/office/drawing/2014/main" id="{FBC384F2-D5BC-48E4-82E0-074FE322177A}"/>
              </a:ext>
            </a:extLst>
          </p:cNvPr>
          <p:cNvSpPr>
            <a:spLocks noGrp="1"/>
          </p:cNvSpPr>
          <p:nvPr/>
        </p:nvSpPr>
        <p:spPr>
          <a:xfrm>
            <a:off x="2057400" y="1733550"/>
            <a:ext cx="14478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3977B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977B5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604" name="Updated Theory view">
            <a:extLst>
              <a:ext uri="{FF2B5EF4-FFF2-40B4-BE49-F238E27FC236}">
                <a16:creationId xmlns:a16="http://schemas.microsoft.com/office/drawing/2014/main" id="{192D9E0D-C409-42E0-89C4-BD996A6BA80D}"/>
              </a:ext>
            </a:extLst>
          </p:cNvPr>
          <p:cNvSpPr>
            <a:spLocks noGrp="1"/>
          </p:cNvSpPr>
          <p:nvPr/>
        </p:nvSpPr>
        <p:spPr>
          <a:xfrm>
            <a:off x="2057400" y="914400"/>
            <a:ext cx="14478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8A6AB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6AB1"/>
                </a:solidFill>
                <a:latin typeface="Arial"/>
                <a:ea typeface="Arial"/>
                <a:cs typeface="Arial"/>
              </a:rPr>
              <a:t>Theory view</a:t>
            </a:r>
          </a:p>
        </p:txBody>
      </p:sp>
      <p:sp>
        <p:nvSpPr>
          <p:cNvPr id="605" name="Rounded Rectangle 604">
            <a:extLst>
              <a:ext uri="{FF2B5EF4-FFF2-40B4-BE49-F238E27FC236}">
                <a16:creationId xmlns:a16="http://schemas.microsoft.com/office/drawing/2014/main" id="{7D0DCD29-1E00-450B-A406-8D0A610EEB4F}"/>
              </a:ext>
            </a:extLst>
          </p:cNvPr>
          <p:cNvSpPr>
            <a:spLocks noGrp="1"/>
          </p:cNvSpPr>
          <p:nvPr/>
        </p:nvSpPr>
        <p:spPr>
          <a:xfrm>
            <a:off x="333375" y="2152650"/>
            <a:ext cx="857250" cy="542926"/>
          </a:xfrm>
          <a:prstGeom prst="roundRect">
            <a:avLst>
              <a:gd name="adj" fmla="val 8772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6" name="Freeform 605">
            <a:extLst>
              <a:ext uri="{FF2B5EF4-FFF2-40B4-BE49-F238E27FC236}">
                <a16:creationId xmlns:a16="http://schemas.microsoft.com/office/drawing/2014/main" id="{56A9DB61-38B9-48BF-86D8-416A3CA13015}"/>
              </a:ext>
            </a:extLst>
          </p:cNvPr>
          <p:cNvSpPr>
            <a:spLocks noGrp="1"/>
          </p:cNvSpPr>
          <p:nvPr/>
        </p:nvSpPr>
        <p:spPr>
          <a:xfrm>
            <a:off x="381000" y="2226014"/>
            <a:ext cx="762000" cy="402886"/>
          </a:xfrm>
          <a:custGeom>
            <a:avLst/>
            <a:gdLst/>
            <a:ahLst/>
            <a:cxnLst/>
            <a:rect l="0" t="0" r="0" b="0"/>
            <a:pathLst>
              <a:path w="762000" h="402887">
                <a:moveTo>
                  <a:pt x="0" y="402887"/>
                </a:moveTo>
                <a:lnTo>
                  <a:pt x="6403" y="402887"/>
                </a:lnTo>
                <a:lnTo>
                  <a:pt x="12807" y="402887"/>
                </a:lnTo>
                <a:lnTo>
                  <a:pt x="19210" y="402887"/>
                </a:lnTo>
                <a:lnTo>
                  <a:pt x="25613" y="402887"/>
                </a:lnTo>
                <a:lnTo>
                  <a:pt x="32017" y="402887"/>
                </a:lnTo>
                <a:lnTo>
                  <a:pt x="38420" y="402887"/>
                </a:lnTo>
                <a:lnTo>
                  <a:pt x="44824" y="402887"/>
                </a:lnTo>
                <a:lnTo>
                  <a:pt x="51227" y="402886"/>
                </a:lnTo>
                <a:lnTo>
                  <a:pt x="57630" y="402882"/>
                </a:lnTo>
                <a:lnTo>
                  <a:pt x="64034" y="402841"/>
                </a:lnTo>
                <a:lnTo>
                  <a:pt x="70437" y="402560"/>
                </a:lnTo>
                <a:lnTo>
                  <a:pt x="76840" y="401108"/>
                </a:lnTo>
                <a:lnTo>
                  <a:pt x="83244" y="395466"/>
                </a:lnTo>
                <a:lnTo>
                  <a:pt x="89647" y="379183"/>
                </a:lnTo>
                <a:lnTo>
                  <a:pt x="96050" y="344911"/>
                </a:lnTo>
                <a:lnTo>
                  <a:pt x="102454" y="294314"/>
                </a:lnTo>
                <a:lnTo>
                  <a:pt x="108857" y="247200"/>
                </a:lnTo>
                <a:lnTo>
                  <a:pt x="115261" y="231951"/>
                </a:lnTo>
                <a:lnTo>
                  <a:pt x="121664" y="259183"/>
                </a:lnTo>
                <a:lnTo>
                  <a:pt x="128067" y="310384"/>
                </a:lnTo>
                <a:lnTo>
                  <a:pt x="134471" y="357295"/>
                </a:lnTo>
                <a:lnTo>
                  <a:pt x="140874" y="385681"/>
                </a:lnTo>
                <a:lnTo>
                  <a:pt x="147277" y="397915"/>
                </a:lnTo>
                <a:lnTo>
                  <a:pt x="153681" y="401787"/>
                </a:lnTo>
                <a:lnTo>
                  <a:pt x="160084" y="402700"/>
                </a:lnTo>
                <a:lnTo>
                  <a:pt x="166487" y="402862"/>
                </a:lnTo>
                <a:lnTo>
                  <a:pt x="172891" y="402884"/>
                </a:lnTo>
                <a:lnTo>
                  <a:pt x="179294" y="402886"/>
                </a:lnTo>
                <a:lnTo>
                  <a:pt x="185697" y="402886"/>
                </a:lnTo>
                <a:lnTo>
                  <a:pt x="192101" y="402882"/>
                </a:lnTo>
                <a:lnTo>
                  <a:pt x="198504" y="402864"/>
                </a:lnTo>
                <a:lnTo>
                  <a:pt x="204908" y="402791"/>
                </a:lnTo>
                <a:lnTo>
                  <a:pt x="211311" y="402524"/>
                </a:lnTo>
                <a:lnTo>
                  <a:pt x="217714" y="401666"/>
                </a:lnTo>
                <a:lnTo>
                  <a:pt x="224118" y="399224"/>
                </a:lnTo>
                <a:lnTo>
                  <a:pt x="230521" y="393094"/>
                </a:lnTo>
                <a:lnTo>
                  <a:pt x="236924" y="379556"/>
                </a:lnTo>
                <a:lnTo>
                  <a:pt x="243328" y="353353"/>
                </a:lnTo>
                <a:lnTo>
                  <a:pt x="249731" y="309176"/>
                </a:lnTo>
                <a:lnTo>
                  <a:pt x="256134" y="244904"/>
                </a:lnTo>
                <a:lnTo>
                  <a:pt x="262538" y="165554"/>
                </a:lnTo>
                <a:lnTo>
                  <a:pt x="268941" y="85172"/>
                </a:lnTo>
                <a:lnTo>
                  <a:pt x="275345" y="23881"/>
                </a:lnTo>
                <a:lnTo>
                  <a:pt x="281748" y="0"/>
                </a:lnTo>
                <a:lnTo>
                  <a:pt x="288151" y="21250"/>
                </a:lnTo>
                <a:lnTo>
                  <a:pt x="294555" y="80746"/>
                </a:lnTo>
                <a:lnTo>
                  <a:pt x="300958" y="160577"/>
                </a:lnTo>
                <a:lnTo>
                  <a:pt x="307361" y="240472"/>
                </a:lnTo>
                <a:lnTo>
                  <a:pt x="313765" y="305878"/>
                </a:lnTo>
                <a:lnTo>
                  <a:pt x="320168" y="351254"/>
                </a:lnTo>
                <a:lnTo>
                  <a:pt x="326571" y="378398"/>
                </a:lnTo>
                <a:lnTo>
                  <a:pt x="332975" y="392537"/>
                </a:lnTo>
                <a:lnTo>
                  <a:pt x="339378" y="398989"/>
                </a:lnTo>
                <a:lnTo>
                  <a:pt x="345782" y="401578"/>
                </a:lnTo>
                <a:lnTo>
                  <a:pt x="352185" y="402495"/>
                </a:lnTo>
                <a:lnTo>
                  <a:pt x="358588" y="402782"/>
                </a:lnTo>
                <a:lnTo>
                  <a:pt x="364992" y="402862"/>
                </a:lnTo>
                <a:lnTo>
                  <a:pt x="371395" y="402881"/>
                </a:lnTo>
                <a:lnTo>
                  <a:pt x="377798" y="402886"/>
                </a:lnTo>
                <a:lnTo>
                  <a:pt x="384202" y="402886"/>
                </a:lnTo>
                <a:lnTo>
                  <a:pt x="390605" y="402887"/>
                </a:lnTo>
                <a:lnTo>
                  <a:pt x="397008" y="402887"/>
                </a:lnTo>
                <a:lnTo>
                  <a:pt x="403412" y="402886"/>
                </a:lnTo>
                <a:lnTo>
                  <a:pt x="409815" y="402882"/>
                </a:lnTo>
                <a:lnTo>
                  <a:pt x="416218" y="402834"/>
                </a:lnTo>
                <a:lnTo>
                  <a:pt x="422622" y="402469"/>
                </a:lnTo>
                <a:lnTo>
                  <a:pt x="429025" y="400418"/>
                </a:lnTo>
                <a:lnTo>
                  <a:pt x="435429" y="391985"/>
                </a:lnTo>
                <a:lnTo>
                  <a:pt x="441832" y="366929"/>
                </a:lnTo>
                <a:lnTo>
                  <a:pt x="448235" y="314296"/>
                </a:lnTo>
                <a:lnTo>
                  <a:pt x="454639" y="239864"/>
                </a:lnTo>
                <a:lnTo>
                  <a:pt x="461042" y="178817"/>
                </a:lnTo>
                <a:lnTo>
                  <a:pt x="467445" y="172854"/>
                </a:lnTo>
                <a:lnTo>
                  <a:pt x="473849" y="226500"/>
                </a:lnTo>
                <a:lnTo>
                  <a:pt x="480252" y="301865"/>
                </a:lnTo>
                <a:lnTo>
                  <a:pt x="486655" y="359672"/>
                </a:lnTo>
                <a:lnTo>
                  <a:pt x="493059" y="389079"/>
                </a:lnTo>
                <a:lnTo>
                  <a:pt x="499462" y="399591"/>
                </a:lnTo>
                <a:lnTo>
                  <a:pt x="505866" y="402299"/>
                </a:lnTo>
                <a:lnTo>
                  <a:pt x="512269" y="402808"/>
                </a:lnTo>
                <a:lnTo>
                  <a:pt x="518672" y="402879"/>
                </a:lnTo>
                <a:lnTo>
                  <a:pt x="525076" y="402886"/>
                </a:lnTo>
                <a:lnTo>
                  <a:pt x="531479" y="402887"/>
                </a:lnTo>
                <a:lnTo>
                  <a:pt x="537882" y="402887"/>
                </a:lnTo>
                <a:lnTo>
                  <a:pt x="544286" y="402887"/>
                </a:lnTo>
                <a:lnTo>
                  <a:pt x="550689" y="402887"/>
                </a:lnTo>
                <a:lnTo>
                  <a:pt x="557092" y="402886"/>
                </a:lnTo>
                <a:lnTo>
                  <a:pt x="563496" y="402877"/>
                </a:lnTo>
                <a:lnTo>
                  <a:pt x="569899" y="402808"/>
                </a:lnTo>
                <a:lnTo>
                  <a:pt x="576303" y="402399"/>
                </a:lnTo>
                <a:lnTo>
                  <a:pt x="582706" y="400473"/>
                </a:lnTo>
                <a:lnTo>
                  <a:pt x="589109" y="393352"/>
                </a:lnTo>
                <a:lnTo>
                  <a:pt x="595513" y="372837"/>
                </a:lnTo>
                <a:lnTo>
                  <a:pt x="601916" y="327335"/>
                </a:lnTo>
                <a:lnTo>
                  <a:pt x="608319" y="251351"/>
                </a:lnTo>
                <a:lnTo>
                  <a:pt x="614723" y="160426"/>
                </a:lnTo>
                <a:lnTo>
                  <a:pt x="621126" y="93407"/>
                </a:lnTo>
                <a:lnTo>
                  <a:pt x="627529" y="87762"/>
                </a:lnTo>
                <a:lnTo>
                  <a:pt x="633933" y="146913"/>
                </a:lnTo>
                <a:lnTo>
                  <a:pt x="640336" y="237016"/>
                </a:lnTo>
                <a:lnTo>
                  <a:pt x="646739" y="317143"/>
                </a:lnTo>
                <a:lnTo>
                  <a:pt x="653143" y="367528"/>
                </a:lnTo>
                <a:lnTo>
                  <a:pt x="659546" y="391255"/>
                </a:lnTo>
                <a:lnTo>
                  <a:pt x="665950" y="399834"/>
                </a:lnTo>
                <a:lnTo>
                  <a:pt x="672353" y="402248"/>
                </a:lnTo>
                <a:lnTo>
                  <a:pt x="678756" y="402780"/>
                </a:lnTo>
                <a:lnTo>
                  <a:pt x="685160" y="402872"/>
                </a:lnTo>
                <a:lnTo>
                  <a:pt x="691563" y="402885"/>
                </a:lnTo>
                <a:lnTo>
                  <a:pt x="697966" y="402886"/>
                </a:lnTo>
                <a:lnTo>
                  <a:pt x="704370" y="402887"/>
                </a:lnTo>
                <a:lnTo>
                  <a:pt x="710773" y="402887"/>
                </a:lnTo>
                <a:lnTo>
                  <a:pt x="717176" y="402887"/>
                </a:lnTo>
                <a:lnTo>
                  <a:pt x="723580" y="402887"/>
                </a:lnTo>
                <a:lnTo>
                  <a:pt x="729983" y="402887"/>
                </a:lnTo>
                <a:lnTo>
                  <a:pt x="736387" y="402887"/>
                </a:lnTo>
                <a:lnTo>
                  <a:pt x="742790" y="402887"/>
                </a:lnTo>
                <a:lnTo>
                  <a:pt x="749193" y="402887"/>
                </a:lnTo>
                <a:lnTo>
                  <a:pt x="755597" y="402887"/>
                </a:lnTo>
                <a:lnTo>
                  <a:pt x="762000" y="402887"/>
                </a:lnTo>
              </a:path>
            </a:pathLst>
          </a:custGeom>
          <a:noFill/>
          <a:ln w="19050">
            <a:solidFill>
              <a:srgbClr val="CC87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7" name="Rounded Rectangle 606">
            <a:extLst>
              <a:ext uri="{FF2B5EF4-FFF2-40B4-BE49-F238E27FC236}">
                <a16:creationId xmlns:a16="http://schemas.microsoft.com/office/drawing/2014/main" id="{459F498C-AAC4-4A0F-A15A-E6B60AD3D248}"/>
              </a:ext>
            </a:extLst>
          </p:cNvPr>
          <p:cNvSpPr>
            <a:spLocks noGrp="1"/>
          </p:cNvSpPr>
          <p:nvPr/>
        </p:nvSpPr>
        <p:spPr>
          <a:xfrm>
            <a:off x="371475" y="4238625"/>
            <a:ext cx="781050" cy="390526"/>
          </a:xfrm>
          <a:prstGeom prst="roundRect">
            <a:avLst>
              <a:gd name="adj" fmla="val 12195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8" name="Freeform 607">
            <a:extLst>
              <a:ext uri="{FF2B5EF4-FFF2-40B4-BE49-F238E27FC236}">
                <a16:creationId xmlns:a16="http://schemas.microsoft.com/office/drawing/2014/main" id="{B3A14B6C-80C5-4C69-B8A9-775DD623B446}"/>
              </a:ext>
            </a:extLst>
          </p:cNvPr>
          <p:cNvSpPr>
            <a:spLocks noGrp="1"/>
          </p:cNvSpPr>
          <p:nvPr/>
        </p:nvSpPr>
        <p:spPr>
          <a:xfrm>
            <a:off x="419100" y="4302837"/>
            <a:ext cx="685800" cy="259638"/>
          </a:xfrm>
          <a:custGeom>
            <a:avLst/>
            <a:gdLst/>
            <a:ahLst/>
            <a:cxnLst/>
            <a:rect l="0" t="0" r="0" b="0"/>
            <a:pathLst>
              <a:path w="685800" h="259638">
                <a:moveTo>
                  <a:pt x="0" y="259638"/>
                </a:moveTo>
                <a:lnTo>
                  <a:pt x="5763" y="259638"/>
                </a:lnTo>
                <a:lnTo>
                  <a:pt x="11526" y="259638"/>
                </a:lnTo>
                <a:lnTo>
                  <a:pt x="17289" y="259638"/>
                </a:lnTo>
                <a:lnTo>
                  <a:pt x="23052" y="259638"/>
                </a:lnTo>
                <a:lnTo>
                  <a:pt x="28815" y="259638"/>
                </a:lnTo>
                <a:lnTo>
                  <a:pt x="34578" y="259638"/>
                </a:lnTo>
                <a:lnTo>
                  <a:pt x="40341" y="259638"/>
                </a:lnTo>
                <a:lnTo>
                  <a:pt x="46104" y="259638"/>
                </a:lnTo>
                <a:lnTo>
                  <a:pt x="51867" y="259635"/>
                </a:lnTo>
                <a:lnTo>
                  <a:pt x="57630" y="259608"/>
                </a:lnTo>
                <a:lnTo>
                  <a:pt x="63393" y="259428"/>
                </a:lnTo>
                <a:lnTo>
                  <a:pt x="69156" y="258492"/>
                </a:lnTo>
                <a:lnTo>
                  <a:pt x="74919" y="254856"/>
                </a:lnTo>
                <a:lnTo>
                  <a:pt x="80682" y="244362"/>
                </a:lnTo>
                <a:lnTo>
                  <a:pt x="86445" y="222276"/>
                </a:lnTo>
                <a:lnTo>
                  <a:pt x="92208" y="189669"/>
                </a:lnTo>
                <a:lnTo>
                  <a:pt x="97971" y="159307"/>
                </a:lnTo>
                <a:lnTo>
                  <a:pt x="103734" y="149479"/>
                </a:lnTo>
                <a:lnTo>
                  <a:pt x="109497" y="167029"/>
                </a:lnTo>
                <a:lnTo>
                  <a:pt x="115261" y="200026"/>
                </a:lnTo>
                <a:lnTo>
                  <a:pt x="121024" y="230257"/>
                </a:lnTo>
                <a:lnTo>
                  <a:pt x="126787" y="248550"/>
                </a:lnTo>
                <a:lnTo>
                  <a:pt x="132550" y="256434"/>
                </a:lnTo>
                <a:lnTo>
                  <a:pt x="138313" y="258929"/>
                </a:lnTo>
                <a:lnTo>
                  <a:pt x="144076" y="259518"/>
                </a:lnTo>
                <a:lnTo>
                  <a:pt x="149839" y="259622"/>
                </a:lnTo>
                <a:lnTo>
                  <a:pt x="155602" y="259636"/>
                </a:lnTo>
                <a:lnTo>
                  <a:pt x="161365" y="259638"/>
                </a:lnTo>
                <a:lnTo>
                  <a:pt x="167128" y="259637"/>
                </a:lnTo>
                <a:lnTo>
                  <a:pt x="172891" y="259635"/>
                </a:lnTo>
                <a:lnTo>
                  <a:pt x="178654" y="259623"/>
                </a:lnTo>
                <a:lnTo>
                  <a:pt x="184417" y="259576"/>
                </a:lnTo>
                <a:lnTo>
                  <a:pt x="190180" y="259404"/>
                </a:lnTo>
                <a:lnTo>
                  <a:pt x="195943" y="258851"/>
                </a:lnTo>
                <a:lnTo>
                  <a:pt x="201706" y="257278"/>
                </a:lnTo>
                <a:lnTo>
                  <a:pt x="207469" y="253327"/>
                </a:lnTo>
                <a:lnTo>
                  <a:pt x="213232" y="244602"/>
                </a:lnTo>
                <a:lnTo>
                  <a:pt x="218995" y="227717"/>
                </a:lnTo>
                <a:lnTo>
                  <a:pt x="224758" y="199247"/>
                </a:lnTo>
                <a:lnTo>
                  <a:pt x="230521" y="157827"/>
                </a:lnTo>
                <a:lnTo>
                  <a:pt x="236284" y="106690"/>
                </a:lnTo>
                <a:lnTo>
                  <a:pt x="242047" y="54889"/>
                </a:lnTo>
                <a:lnTo>
                  <a:pt x="247810" y="15390"/>
                </a:lnTo>
                <a:lnTo>
                  <a:pt x="253573" y="0"/>
                </a:lnTo>
                <a:lnTo>
                  <a:pt x="259336" y="13695"/>
                </a:lnTo>
                <a:lnTo>
                  <a:pt x="265099" y="52036"/>
                </a:lnTo>
                <a:lnTo>
                  <a:pt x="270862" y="103483"/>
                </a:lnTo>
                <a:lnTo>
                  <a:pt x="276625" y="154971"/>
                </a:lnTo>
                <a:lnTo>
                  <a:pt x="282388" y="197122"/>
                </a:lnTo>
                <a:lnTo>
                  <a:pt x="288151" y="226364"/>
                </a:lnTo>
                <a:lnTo>
                  <a:pt x="293914" y="243856"/>
                </a:lnTo>
                <a:lnTo>
                  <a:pt x="299677" y="252968"/>
                </a:lnTo>
                <a:lnTo>
                  <a:pt x="305440" y="257126"/>
                </a:lnTo>
                <a:lnTo>
                  <a:pt x="311203" y="258795"/>
                </a:lnTo>
                <a:lnTo>
                  <a:pt x="316966" y="259386"/>
                </a:lnTo>
                <a:lnTo>
                  <a:pt x="322729" y="259571"/>
                </a:lnTo>
                <a:lnTo>
                  <a:pt x="328492" y="259622"/>
                </a:lnTo>
                <a:lnTo>
                  <a:pt x="334255" y="259635"/>
                </a:lnTo>
                <a:lnTo>
                  <a:pt x="340018" y="259637"/>
                </a:lnTo>
                <a:lnTo>
                  <a:pt x="345782" y="259638"/>
                </a:lnTo>
                <a:lnTo>
                  <a:pt x="351545" y="259638"/>
                </a:lnTo>
                <a:lnTo>
                  <a:pt x="357308" y="259638"/>
                </a:lnTo>
                <a:lnTo>
                  <a:pt x="363071" y="259638"/>
                </a:lnTo>
                <a:lnTo>
                  <a:pt x="368834" y="259635"/>
                </a:lnTo>
                <a:lnTo>
                  <a:pt x="374597" y="259604"/>
                </a:lnTo>
                <a:lnTo>
                  <a:pt x="380360" y="259369"/>
                </a:lnTo>
                <a:lnTo>
                  <a:pt x="386123" y="258047"/>
                </a:lnTo>
                <a:lnTo>
                  <a:pt x="391886" y="252613"/>
                </a:lnTo>
                <a:lnTo>
                  <a:pt x="397649" y="236465"/>
                </a:lnTo>
                <a:lnTo>
                  <a:pt x="403412" y="202547"/>
                </a:lnTo>
                <a:lnTo>
                  <a:pt x="409175" y="154579"/>
                </a:lnTo>
                <a:lnTo>
                  <a:pt x="414938" y="115238"/>
                </a:lnTo>
                <a:lnTo>
                  <a:pt x="420701" y="111395"/>
                </a:lnTo>
                <a:lnTo>
                  <a:pt x="426464" y="145967"/>
                </a:lnTo>
                <a:lnTo>
                  <a:pt x="432227" y="194535"/>
                </a:lnTo>
                <a:lnTo>
                  <a:pt x="437990" y="231788"/>
                </a:lnTo>
                <a:lnTo>
                  <a:pt x="443753" y="250740"/>
                </a:lnTo>
                <a:lnTo>
                  <a:pt x="449516" y="257514"/>
                </a:lnTo>
                <a:lnTo>
                  <a:pt x="455279" y="259259"/>
                </a:lnTo>
                <a:lnTo>
                  <a:pt x="461042" y="259588"/>
                </a:lnTo>
                <a:lnTo>
                  <a:pt x="466805" y="259633"/>
                </a:lnTo>
                <a:lnTo>
                  <a:pt x="472568" y="259638"/>
                </a:lnTo>
                <a:lnTo>
                  <a:pt x="478331" y="259638"/>
                </a:lnTo>
                <a:lnTo>
                  <a:pt x="484094" y="259638"/>
                </a:lnTo>
                <a:lnTo>
                  <a:pt x="489857" y="259638"/>
                </a:lnTo>
                <a:lnTo>
                  <a:pt x="495620" y="259638"/>
                </a:lnTo>
                <a:lnTo>
                  <a:pt x="501383" y="259637"/>
                </a:lnTo>
                <a:lnTo>
                  <a:pt x="507146" y="259632"/>
                </a:lnTo>
                <a:lnTo>
                  <a:pt x="512909" y="259587"/>
                </a:lnTo>
                <a:lnTo>
                  <a:pt x="518672" y="259324"/>
                </a:lnTo>
                <a:lnTo>
                  <a:pt x="524435" y="258083"/>
                </a:lnTo>
                <a:lnTo>
                  <a:pt x="530198" y="253494"/>
                </a:lnTo>
                <a:lnTo>
                  <a:pt x="535961" y="240273"/>
                </a:lnTo>
                <a:lnTo>
                  <a:pt x="541724" y="210949"/>
                </a:lnTo>
                <a:lnTo>
                  <a:pt x="547487" y="161982"/>
                </a:lnTo>
                <a:lnTo>
                  <a:pt x="553250" y="103385"/>
                </a:lnTo>
                <a:lnTo>
                  <a:pt x="559013" y="60196"/>
                </a:lnTo>
                <a:lnTo>
                  <a:pt x="564776" y="56557"/>
                </a:lnTo>
                <a:lnTo>
                  <a:pt x="570539" y="94677"/>
                </a:lnTo>
                <a:lnTo>
                  <a:pt x="576303" y="152744"/>
                </a:lnTo>
                <a:lnTo>
                  <a:pt x="582066" y="204381"/>
                </a:lnTo>
                <a:lnTo>
                  <a:pt x="587829" y="236851"/>
                </a:lnTo>
                <a:lnTo>
                  <a:pt x="593592" y="252142"/>
                </a:lnTo>
                <a:lnTo>
                  <a:pt x="599355" y="257671"/>
                </a:lnTo>
                <a:lnTo>
                  <a:pt x="605118" y="259226"/>
                </a:lnTo>
                <a:lnTo>
                  <a:pt x="610881" y="259569"/>
                </a:lnTo>
                <a:lnTo>
                  <a:pt x="616644" y="259629"/>
                </a:lnTo>
                <a:lnTo>
                  <a:pt x="622407" y="259637"/>
                </a:lnTo>
                <a:lnTo>
                  <a:pt x="628170" y="259638"/>
                </a:lnTo>
                <a:lnTo>
                  <a:pt x="633933" y="259638"/>
                </a:lnTo>
                <a:lnTo>
                  <a:pt x="639696" y="259638"/>
                </a:lnTo>
                <a:lnTo>
                  <a:pt x="645459" y="259638"/>
                </a:lnTo>
                <a:lnTo>
                  <a:pt x="651222" y="259638"/>
                </a:lnTo>
                <a:lnTo>
                  <a:pt x="656985" y="259638"/>
                </a:lnTo>
                <a:lnTo>
                  <a:pt x="662748" y="259638"/>
                </a:lnTo>
                <a:lnTo>
                  <a:pt x="668511" y="259638"/>
                </a:lnTo>
                <a:lnTo>
                  <a:pt x="674274" y="259638"/>
                </a:lnTo>
                <a:lnTo>
                  <a:pt x="680037" y="259638"/>
                </a:lnTo>
                <a:lnTo>
                  <a:pt x="685800" y="259638"/>
                </a:lnTo>
              </a:path>
            </a:pathLst>
          </a:custGeom>
          <a:noFill/>
          <a:ln w="19050">
            <a:solidFill>
              <a:srgbClr val="CC87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12FF31D8-2276-4326-9EF1-B7898AD89F9B}"/>
              </a:ext>
            </a:extLst>
          </p:cNvPr>
          <p:cNvSpPr>
            <a:spLocks noGrp="1"/>
          </p:cNvSpPr>
          <p:nvPr/>
        </p:nvSpPr>
        <p:spPr>
          <a:xfrm>
            <a:off x="2896503" y="377330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EA182730-5FB9-4A8B-BF3B-76056EBE7D63}"/>
              </a:ext>
            </a:extLst>
          </p:cNvPr>
          <p:cNvSpPr>
            <a:spLocks noGrp="1"/>
          </p:cNvSpPr>
          <p:nvPr/>
        </p:nvSpPr>
        <p:spPr>
          <a:xfrm>
            <a:off x="302985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9A45CD01-D6FD-4521-80E4-03E05FBE084D}"/>
              </a:ext>
            </a:extLst>
          </p:cNvPr>
          <p:cNvSpPr>
            <a:spLocks noGrp="1"/>
          </p:cNvSpPr>
          <p:nvPr/>
        </p:nvSpPr>
        <p:spPr>
          <a:xfrm>
            <a:off x="316320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283F9117-A934-4171-8155-256D710E7C5C}"/>
              </a:ext>
            </a:extLst>
          </p:cNvPr>
          <p:cNvSpPr>
            <a:spLocks noGrp="1"/>
          </p:cNvSpPr>
          <p:nvPr/>
        </p:nvSpPr>
        <p:spPr>
          <a:xfrm>
            <a:off x="329655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BC007C5D-2F1D-42AC-A27D-7C5319558802}"/>
              </a:ext>
            </a:extLst>
          </p:cNvPr>
          <p:cNvSpPr>
            <a:spLocks noGrp="1"/>
          </p:cNvSpPr>
          <p:nvPr/>
        </p:nvSpPr>
        <p:spPr>
          <a:xfrm>
            <a:off x="342990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B6840A63-0889-4815-9BB1-B305B4FD823C}"/>
              </a:ext>
            </a:extLst>
          </p:cNvPr>
          <p:cNvSpPr>
            <a:spLocks noGrp="1"/>
          </p:cNvSpPr>
          <p:nvPr/>
        </p:nvSpPr>
        <p:spPr>
          <a:xfrm>
            <a:off x="356325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03E2F7D8-FA7F-4D81-A887-5965E3C231BC}"/>
              </a:ext>
            </a:extLst>
          </p:cNvPr>
          <p:cNvSpPr>
            <a:spLocks noGrp="1"/>
          </p:cNvSpPr>
          <p:nvPr/>
        </p:nvSpPr>
        <p:spPr>
          <a:xfrm>
            <a:off x="369660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F539D7AE-AA83-477E-A28A-37B6A68CC8F2}"/>
              </a:ext>
            </a:extLst>
          </p:cNvPr>
          <p:cNvSpPr>
            <a:spLocks noGrp="1"/>
          </p:cNvSpPr>
          <p:nvPr/>
        </p:nvSpPr>
        <p:spPr>
          <a:xfrm>
            <a:off x="3829953" y="37733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F92F9E83-3397-419E-BACE-A015EB402223}"/>
              </a:ext>
            </a:extLst>
          </p:cNvPr>
          <p:cNvSpPr>
            <a:spLocks noGrp="1"/>
          </p:cNvSpPr>
          <p:nvPr/>
        </p:nvSpPr>
        <p:spPr>
          <a:xfrm>
            <a:off x="2896503" y="39066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76147ECC-12EC-41C4-B79E-A8784FA2D75C}"/>
              </a:ext>
            </a:extLst>
          </p:cNvPr>
          <p:cNvSpPr>
            <a:spLocks noGrp="1"/>
          </p:cNvSpPr>
          <p:nvPr/>
        </p:nvSpPr>
        <p:spPr>
          <a:xfrm>
            <a:off x="3029853" y="390665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B1675418-10B7-4A2C-8A1B-377A4D214DEA}"/>
              </a:ext>
            </a:extLst>
          </p:cNvPr>
          <p:cNvSpPr>
            <a:spLocks noGrp="1"/>
          </p:cNvSpPr>
          <p:nvPr/>
        </p:nvSpPr>
        <p:spPr>
          <a:xfrm>
            <a:off x="3163203" y="390665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566B0E9F-885B-4FCB-B9C4-3112B0295D5D}"/>
              </a:ext>
            </a:extLst>
          </p:cNvPr>
          <p:cNvSpPr>
            <a:spLocks noGrp="1"/>
          </p:cNvSpPr>
          <p:nvPr/>
        </p:nvSpPr>
        <p:spPr>
          <a:xfrm>
            <a:off x="3296553" y="39066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17D1703F-C3D7-4CEE-9BAF-702CB5AD9D69}"/>
              </a:ext>
            </a:extLst>
          </p:cNvPr>
          <p:cNvSpPr>
            <a:spLocks noGrp="1"/>
          </p:cNvSpPr>
          <p:nvPr/>
        </p:nvSpPr>
        <p:spPr>
          <a:xfrm>
            <a:off x="3429903" y="39066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E5A3C504-51A4-48D2-B86C-8D46276D783C}"/>
              </a:ext>
            </a:extLst>
          </p:cNvPr>
          <p:cNvSpPr>
            <a:spLocks noGrp="1"/>
          </p:cNvSpPr>
          <p:nvPr/>
        </p:nvSpPr>
        <p:spPr>
          <a:xfrm>
            <a:off x="3563253" y="39066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EE319AE7-E5AF-4489-A55E-B54E51AEB006}"/>
              </a:ext>
            </a:extLst>
          </p:cNvPr>
          <p:cNvSpPr>
            <a:spLocks noGrp="1"/>
          </p:cNvSpPr>
          <p:nvPr/>
        </p:nvSpPr>
        <p:spPr>
          <a:xfrm>
            <a:off x="3696603" y="39066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A8552EA-D1A8-4CD8-A3E5-0707761752BC}"/>
              </a:ext>
            </a:extLst>
          </p:cNvPr>
          <p:cNvSpPr>
            <a:spLocks noGrp="1"/>
          </p:cNvSpPr>
          <p:nvPr/>
        </p:nvSpPr>
        <p:spPr>
          <a:xfrm>
            <a:off x="3829953" y="39066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87E5A4A2-3E96-452B-8944-AC27E7DA047A}"/>
              </a:ext>
            </a:extLst>
          </p:cNvPr>
          <p:cNvSpPr>
            <a:spLocks noGrp="1"/>
          </p:cNvSpPr>
          <p:nvPr/>
        </p:nvSpPr>
        <p:spPr>
          <a:xfrm>
            <a:off x="2896503" y="40400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BC4C1741-3968-415B-95DF-B12712FA7BB2}"/>
              </a:ext>
            </a:extLst>
          </p:cNvPr>
          <p:cNvSpPr>
            <a:spLocks noGrp="1"/>
          </p:cNvSpPr>
          <p:nvPr/>
        </p:nvSpPr>
        <p:spPr>
          <a:xfrm>
            <a:off x="3029853" y="404000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61980831-6E41-446B-A07B-18F3D144DC06}"/>
              </a:ext>
            </a:extLst>
          </p:cNvPr>
          <p:cNvSpPr>
            <a:spLocks noGrp="1"/>
          </p:cNvSpPr>
          <p:nvPr/>
        </p:nvSpPr>
        <p:spPr>
          <a:xfrm>
            <a:off x="3163203" y="404000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C97D90-B5B8-4C00-A688-1FBEBC7FED9A}"/>
              </a:ext>
            </a:extLst>
          </p:cNvPr>
          <p:cNvSpPr>
            <a:spLocks noGrp="1"/>
          </p:cNvSpPr>
          <p:nvPr/>
        </p:nvSpPr>
        <p:spPr>
          <a:xfrm>
            <a:off x="3296553" y="40400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CBA651B5-6C7C-4232-A9BA-651694BBA52A}"/>
              </a:ext>
            </a:extLst>
          </p:cNvPr>
          <p:cNvSpPr>
            <a:spLocks noGrp="1"/>
          </p:cNvSpPr>
          <p:nvPr/>
        </p:nvSpPr>
        <p:spPr>
          <a:xfrm>
            <a:off x="3429903" y="40400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3D22A44B-DE71-49C8-9D87-A4CDC7B0597C}"/>
              </a:ext>
            </a:extLst>
          </p:cNvPr>
          <p:cNvSpPr>
            <a:spLocks noGrp="1"/>
          </p:cNvSpPr>
          <p:nvPr/>
        </p:nvSpPr>
        <p:spPr>
          <a:xfrm>
            <a:off x="3563253" y="40400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458FCB2F-138C-435E-BCFA-3B953F7216DB}"/>
              </a:ext>
            </a:extLst>
          </p:cNvPr>
          <p:cNvSpPr>
            <a:spLocks noGrp="1"/>
          </p:cNvSpPr>
          <p:nvPr/>
        </p:nvSpPr>
        <p:spPr>
          <a:xfrm>
            <a:off x="3696603" y="40400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73528E85-A07D-4A03-B99D-0571821D1B4D}"/>
              </a:ext>
            </a:extLst>
          </p:cNvPr>
          <p:cNvSpPr>
            <a:spLocks noGrp="1"/>
          </p:cNvSpPr>
          <p:nvPr/>
        </p:nvSpPr>
        <p:spPr>
          <a:xfrm>
            <a:off x="3829953" y="40400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FCC2C6F3-49BD-47C8-B478-4BF7389FF8E3}"/>
              </a:ext>
            </a:extLst>
          </p:cNvPr>
          <p:cNvSpPr>
            <a:spLocks noGrp="1"/>
          </p:cNvSpPr>
          <p:nvPr/>
        </p:nvSpPr>
        <p:spPr>
          <a:xfrm>
            <a:off x="289650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09FE2DB3-0B80-49A9-8288-F8143E06F4D6}"/>
              </a:ext>
            </a:extLst>
          </p:cNvPr>
          <p:cNvSpPr>
            <a:spLocks noGrp="1"/>
          </p:cNvSpPr>
          <p:nvPr/>
        </p:nvSpPr>
        <p:spPr>
          <a:xfrm>
            <a:off x="302985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BE6AFAE5-FA4E-4722-A2B3-05458386E163}"/>
              </a:ext>
            </a:extLst>
          </p:cNvPr>
          <p:cNvSpPr>
            <a:spLocks noGrp="1"/>
          </p:cNvSpPr>
          <p:nvPr/>
        </p:nvSpPr>
        <p:spPr>
          <a:xfrm>
            <a:off x="316320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E489C434-1EF3-406D-BE60-84B140718571}"/>
              </a:ext>
            </a:extLst>
          </p:cNvPr>
          <p:cNvSpPr>
            <a:spLocks noGrp="1"/>
          </p:cNvSpPr>
          <p:nvPr/>
        </p:nvSpPr>
        <p:spPr>
          <a:xfrm>
            <a:off x="3296553" y="417335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CF4B82A0-996C-40A1-84EF-357A4F9A2854}"/>
              </a:ext>
            </a:extLst>
          </p:cNvPr>
          <p:cNvSpPr>
            <a:spLocks noGrp="1"/>
          </p:cNvSpPr>
          <p:nvPr/>
        </p:nvSpPr>
        <p:spPr>
          <a:xfrm>
            <a:off x="342990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2DBD95C9-8699-4399-9A9A-A2693D23F43A}"/>
              </a:ext>
            </a:extLst>
          </p:cNvPr>
          <p:cNvSpPr>
            <a:spLocks noGrp="1"/>
          </p:cNvSpPr>
          <p:nvPr/>
        </p:nvSpPr>
        <p:spPr>
          <a:xfrm>
            <a:off x="356325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3964B6CC-6334-4C26-99FE-7A543FA18376}"/>
              </a:ext>
            </a:extLst>
          </p:cNvPr>
          <p:cNvSpPr>
            <a:spLocks noGrp="1"/>
          </p:cNvSpPr>
          <p:nvPr/>
        </p:nvSpPr>
        <p:spPr>
          <a:xfrm>
            <a:off x="369660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DCC51213-82DD-4B93-87E1-B4A9C0E2692B}"/>
              </a:ext>
            </a:extLst>
          </p:cNvPr>
          <p:cNvSpPr>
            <a:spLocks noGrp="1"/>
          </p:cNvSpPr>
          <p:nvPr/>
        </p:nvSpPr>
        <p:spPr>
          <a:xfrm>
            <a:off x="3829953" y="417335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F93ABC06-262B-494E-B225-C2F1E558ACDE}"/>
              </a:ext>
            </a:extLst>
          </p:cNvPr>
          <p:cNvSpPr>
            <a:spLocks noGrp="1"/>
          </p:cNvSpPr>
          <p:nvPr/>
        </p:nvSpPr>
        <p:spPr>
          <a:xfrm>
            <a:off x="289650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A3F73D07-A8E5-4AEC-AD14-BE8286891927}"/>
              </a:ext>
            </a:extLst>
          </p:cNvPr>
          <p:cNvSpPr>
            <a:spLocks noGrp="1"/>
          </p:cNvSpPr>
          <p:nvPr/>
        </p:nvSpPr>
        <p:spPr>
          <a:xfrm>
            <a:off x="302985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018638D0-0ABD-44D2-816F-3727923740C8}"/>
              </a:ext>
            </a:extLst>
          </p:cNvPr>
          <p:cNvSpPr>
            <a:spLocks noGrp="1"/>
          </p:cNvSpPr>
          <p:nvPr/>
        </p:nvSpPr>
        <p:spPr>
          <a:xfrm>
            <a:off x="316320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9F99D32E-A9AC-48C9-ACB3-39D7AF705899}"/>
              </a:ext>
            </a:extLst>
          </p:cNvPr>
          <p:cNvSpPr>
            <a:spLocks noGrp="1"/>
          </p:cNvSpPr>
          <p:nvPr/>
        </p:nvSpPr>
        <p:spPr>
          <a:xfrm>
            <a:off x="329655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C9804192-B550-451B-93EC-FDFFC66A128D}"/>
              </a:ext>
            </a:extLst>
          </p:cNvPr>
          <p:cNvSpPr>
            <a:spLocks noGrp="1"/>
          </p:cNvSpPr>
          <p:nvPr/>
        </p:nvSpPr>
        <p:spPr>
          <a:xfrm>
            <a:off x="3429903" y="4306702"/>
            <a:ext cx="123826" cy="123826"/>
          </a:xfrm>
          <a:prstGeom prst="rect">
            <a:avLst/>
          </a:prstGeom>
          <a:solidFill>
            <a:srgbClr val="4689B7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3A3EE0A3-50B8-4B5E-ABF9-16210F4D9E7B}"/>
              </a:ext>
            </a:extLst>
          </p:cNvPr>
          <p:cNvSpPr>
            <a:spLocks noGrp="1"/>
          </p:cNvSpPr>
          <p:nvPr/>
        </p:nvSpPr>
        <p:spPr>
          <a:xfrm>
            <a:off x="356325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8B451091-7113-462C-B47E-7AA012AD6F3C}"/>
              </a:ext>
            </a:extLst>
          </p:cNvPr>
          <p:cNvSpPr>
            <a:spLocks noGrp="1"/>
          </p:cNvSpPr>
          <p:nvPr/>
        </p:nvSpPr>
        <p:spPr>
          <a:xfrm>
            <a:off x="369660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2B90E385-7FE1-4077-81B5-F80ABC6EDC5E}"/>
              </a:ext>
            </a:extLst>
          </p:cNvPr>
          <p:cNvSpPr>
            <a:spLocks noGrp="1"/>
          </p:cNvSpPr>
          <p:nvPr/>
        </p:nvSpPr>
        <p:spPr>
          <a:xfrm>
            <a:off x="3829953" y="4306702"/>
            <a:ext cx="123826" cy="1238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9" name="Updated Theoretical curve">
            <a:extLst>
              <a:ext uri="{FF2B5EF4-FFF2-40B4-BE49-F238E27FC236}">
                <a16:creationId xmlns:a16="http://schemas.microsoft.com/office/drawing/2014/main" id="{929E6BB4-70BC-4378-915D-6E6B5B7450A6}"/>
              </a:ext>
            </a:extLst>
          </p:cNvPr>
          <p:cNvSpPr>
            <a:spLocks noGrp="1"/>
          </p:cNvSpPr>
          <p:nvPr/>
        </p:nvSpPr>
        <p:spPr>
          <a:xfrm>
            <a:off x="7981950" y="3652120"/>
            <a:ext cx="1857376" cy="25717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397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7B5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650" name="Updated Fixed source proxy">
            <a:extLst>
              <a:ext uri="{FF2B5EF4-FFF2-40B4-BE49-F238E27FC236}">
                <a16:creationId xmlns:a16="http://schemas.microsoft.com/office/drawing/2014/main" id="{61B8EE3A-15D9-471E-A68D-824675CD8C4F}"/>
              </a:ext>
            </a:extLst>
          </p:cNvPr>
          <p:cNvSpPr>
            <a:spLocks noGrp="1"/>
          </p:cNvSpPr>
          <p:nvPr/>
        </p:nvSpPr>
        <p:spPr>
          <a:xfrm>
            <a:off x="10287000" y="3652120"/>
            <a:ext cx="2057400" cy="25717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8A6AB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6AB1"/>
                </a:solidFill>
                <a:latin typeface="Arial"/>
                <a:ea typeface="Arial"/>
                <a:cs typeface="Arial"/>
              </a:rPr>
              <a:t>Fixed proxy</a:t>
            </a:r>
          </a:p>
        </p:txBody>
      </p:sp>
      <p:sp>
        <p:nvSpPr>
          <p:cNvPr id="651" name="Updated Randomized views">
            <a:extLst>
              <a:ext uri="{FF2B5EF4-FFF2-40B4-BE49-F238E27FC236}">
                <a16:creationId xmlns:a16="http://schemas.microsoft.com/office/drawing/2014/main" id="{E607B3B2-2857-4BA1-A98F-F00D13FB24A8}"/>
              </a:ext>
            </a:extLst>
          </p:cNvPr>
          <p:cNvSpPr>
            <a:spLocks noGrp="1"/>
          </p:cNvSpPr>
          <p:nvPr/>
        </p:nvSpPr>
        <p:spPr>
          <a:xfrm>
            <a:off x="12763500" y="3652120"/>
            <a:ext cx="2028826" cy="25717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8A6AB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6AB1"/>
                </a:solidFill>
                <a:latin typeface="Arial"/>
                <a:ea typeface="Arial"/>
                <a:cs typeface="Arial"/>
              </a:rPr>
              <a:t>Random views</a:t>
            </a:r>
          </a:p>
        </p:txBody>
      </p:sp>
      <p:sp>
        <p:nvSpPr>
          <p:cNvPr id="652" name="Rounded Rectangle 651">
            <a:extLst>
              <a:ext uri="{FF2B5EF4-FFF2-40B4-BE49-F238E27FC236}">
                <a16:creationId xmlns:a16="http://schemas.microsoft.com/office/drawing/2014/main" id="{A7F6D92C-325F-4860-9C6C-AD9E401AEF5E}"/>
              </a:ext>
            </a:extLst>
          </p:cNvPr>
          <p:cNvSpPr>
            <a:spLocks noGrp="1"/>
          </p:cNvSpPr>
          <p:nvPr/>
        </p:nvSpPr>
        <p:spPr>
          <a:xfrm>
            <a:off x="8020050" y="3956920"/>
            <a:ext cx="1714500" cy="685800"/>
          </a:xfrm>
          <a:prstGeom prst="roundRect">
            <a:avLst>
              <a:gd name="adj" fmla="val 6944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3" name="Freeform 652">
            <a:extLst>
              <a:ext uri="{FF2B5EF4-FFF2-40B4-BE49-F238E27FC236}">
                <a16:creationId xmlns:a16="http://schemas.microsoft.com/office/drawing/2014/main" id="{A8A52B05-5734-4310-8FCF-7DE8B74EC3F5}"/>
              </a:ext>
            </a:extLst>
          </p:cNvPr>
          <p:cNvSpPr>
            <a:spLocks noGrp="1"/>
          </p:cNvSpPr>
          <p:nvPr/>
        </p:nvSpPr>
        <p:spPr>
          <a:xfrm>
            <a:off x="8067676" y="4038863"/>
            <a:ext cx="1619250" cy="537182"/>
          </a:xfrm>
          <a:custGeom>
            <a:avLst/>
            <a:gdLst/>
            <a:ahLst/>
            <a:cxnLst/>
            <a:rect l="0" t="0" r="0" b="0"/>
            <a:pathLst>
              <a:path w="1619250" h="537182">
                <a:moveTo>
                  <a:pt x="0" y="537182"/>
                </a:moveTo>
                <a:lnTo>
                  <a:pt x="13607" y="537182"/>
                </a:lnTo>
                <a:lnTo>
                  <a:pt x="27214" y="537182"/>
                </a:lnTo>
                <a:lnTo>
                  <a:pt x="40821" y="537182"/>
                </a:lnTo>
                <a:lnTo>
                  <a:pt x="54429" y="537182"/>
                </a:lnTo>
                <a:lnTo>
                  <a:pt x="68036" y="537182"/>
                </a:lnTo>
                <a:lnTo>
                  <a:pt x="81643" y="537182"/>
                </a:lnTo>
                <a:lnTo>
                  <a:pt x="95250" y="537182"/>
                </a:lnTo>
                <a:lnTo>
                  <a:pt x="108857" y="537182"/>
                </a:lnTo>
                <a:lnTo>
                  <a:pt x="122464" y="537176"/>
                </a:lnTo>
                <a:lnTo>
                  <a:pt x="136071" y="537121"/>
                </a:lnTo>
                <a:lnTo>
                  <a:pt x="149679" y="536747"/>
                </a:lnTo>
                <a:lnTo>
                  <a:pt x="163286" y="534810"/>
                </a:lnTo>
                <a:lnTo>
                  <a:pt x="176893" y="527288"/>
                </a:lnTo>
                <a:lnTo>
                  <a:pt x="190500" y="505577"/>
                </a:lnTo>
                <a:lnTo>
                  <a:pt x="204107" y="459882"/>
                </a:lnTo>
                <a:lnTo>
                  <a:pt x="217714" y="392418"/>
                </a:lnTo>
                <a:lnTo>
                  <a:pt x="231321" y="329600"/>
                </a:lnTo>
                <a:lnTo>
                  <a:pt x="244929" y="309268"/>
                </a:lnTo>
                <a:lnTo>
                  <a:pt x="258536" y="345578"/>
                </a:lnTo>
                <a:lnTo>
                  <a:pt x="272143" y="413846"/>
                </a:lnTo>
                <a:lnTo>
                  <a:pt x="285750" y="476393"/>
                </a:lnTo>
                <a:lnTo>
                  <a:pt x="299357" y="514241"/>
                </a:lnTo>
                <a:lnTo>
                  <a:pt x="312964" y="530553"/>
                </a:lnTo>
                <a:lnTo>
                  <a:pt x="326571" y="535715"/>
                </a:lnTo>
                <a:lnTo>
                  <a:pt x="340179" y="536934"/>
                </a:lnTo>
                <a:lnTo>
                  <a:pt x="353786" y="537150"/>
                </a:lnTo>
                <a:lnTo>
                  <a:pt x="367393" y="537179"/>
                </a:lnTo>
                <a:lnTo>
                  <a:pt x="381000" y="537182"/>
                </a:lnTo>
                <a:lnTo>
                  <a:pt x="394607" y="537181"/>
                </a:lnTo>
                <a:lnTo>
                  <a:pt x="408214" y="537176"/>
                </a:lnTo>
                <a:lnTo>
                  <a:pt x="421821" y="537152"/>
                </a:lnTo>
                <a:lnTo>
                  <a:pt x="435429" y="537054"/>
                </a:lnTo>
                <a:lnTo>
                  <a:pt x="449036" y="536699"/>
                </a:lnTo>
                <a:lnTo>
                  <a:pt x="462643" y="535554"/>
                </a:lnTo>
                <a:lnTo>
                  <a:pt x="476250" y="532299"/>
                </a:lnTo>
                <a:lnTo>
                  <a:pt x="489857" y="524125"/>
                </a:lnTo>
                <a:lnTo>
                  <a:pt x="503464" y="506074"/>
                </a:lnTo>
                <a:lnTo>
                  <a:pt x="517071" y="471138"/>
                </a:lnTo>
                <a:lnTo>
                  <a:pt x="530679" y="412235"/>
                </a:lnTo>
                <a:lnTo>
                  <a:pt x="544286" y="326539"/>
                </a:lnTo>
                <a:lnTo>
                  <a:pt x="557893" y="220738"/>
                </a:lnTo>
                <a:lnTo>
                  <a:pt x="571500" y="113563"/>
                </a:lnTo>
                <a:lnTo>
                  <a:pt x="585107" y="31842"/>
                </a:lnTo>
                <a:lnTo>
                  <a:pt x="598714" y="0"/>
                </a:lnTo>
                <a:lnTo>
                  <a:pt x="612321" y="28334"/>
                </a:lnTo>
                <a:lnTo>
                  <a:pt x="625929" y="107661"/>
                </a:lnTo>
                <a:lnTo>
                  <a:pt x="639536" y="214103"/>
                </a:lnTo>
                <a:lnTo>
                  <a:pt x="653143" y="320629"/>
                </a:lnTo>
                <a:lnTo>
                  <a:pt x="666750" y="407838"/>
                </a:lnTo>
                <a:lnTo>
                  <a:pt x="680357" y="468339"/>
                </a:lnTo>
                <a:lnTo>
                  <a:pt x="693964" y="504531"/>
                </a:lnTo>
                <a:lnTo>
                  <a:pt x="707571" y="523382"/>
                </a:lnTo>
                <a:lnTo>
                  <a:pt x="721179" y="531985"/>
                </a:lnTo>
                <a:lnTo>
                  <a:pt x="734786" y="535438"/>
                </a:lnTo>
                <a:lnTo>
                  <a:pt x="748393" y="536660"/>
                </a:lnTo>
                <a:lnTo>
                  <a:pt x="762000" y="537043"/>
                </a:lnTo>
                <a:lnTo>
                  <a:pt x="775607" y="537149"/>
                </a:lnTo>
                <a:lnTo>
                  <a:pt x="789214" y="537175"/>
                </a:lnTo>
                <a:lnTo>
                  <a:pt x="802821" y="537181"/>
                </a:lnTo>
                <a:lnTo>
                  <a:pt x="816429" y="537182"/>
                </a:lnTo>
                <a:lnTo>
                  <a:pt x="830036" y="537182"/>
                </a:lnTo>
                <a:lnTo>
                  <a:pt x="843643" y="537182"/>
                </a:lnTo>
                <a:lnTo>
                  <a:pt x="857250" y="537182"/>
                </a:lnTo>
                <a:lnTo>
                  <a:pt x="870857" y="537175"/>
                </a:lnTo>
                <a:lnTo>
                  <a:pt x="884464" y="537112"/>
                </a:lnTo>
                <a:lnTo>
                  <a:pt x="898071" y="536625"/>
                </a:lnTo>
                <a:lnTo>
                  <a:pt x="911679" y="533891"/>
                </a:lnTo>
                <a:lnTo>
                  <a:pt x="925286" y="522647"/>
                </a:lnTo>
                <a:lnTo>
                  <a:pt x="938893" y="489238"/>
                </a:lnTo>
                <a:lnTo>
                  <a:pt x="952500" y="419062"/>
                </a:lnTo>
                <a:lnTo>
                  <a:pt x="966107" y="319818"/>
                </a:lnTo>
                <a:lnTo>
                  <a:pt x="979714" y="238423"/>
                </a:lnTo>
                <a:lnTo>
                  <a:pt x="993321" y="230473"/>
                </a:lnTo>
                <a:lnTo>
                  <a:pt x="1006929" y="302000"/>
                </a:lnTo>
                <a:lnTo>
                  <a:pt x="1020536" y="402487"/>
                </a:lnTo>
                <a:lnTo>
                  <a:pt x="1034143" y="479562"/>
                </a:lnTo>
                <a:lnTo>
                  <a:pt x="1047750" y="518772"/>
                </a:lnTo>
                <a:lnTo>
                  <a:pt x="1061357" y="532788"/>
                </a:lnTo>
                <a:lnTo>
                  <a:pt x="1074964" y="536399"/>
                </a:lnTo>
                <a:lnTo>
                  <a:pt x="1088571" y="537078"/>
                </a:lnTo>
                <a:lnTo>
                  <a:pt x="1102179" y="537172"/>
                </a:lnTo>
                <a:lnTo>
                  <a:pt x="1115786" y="537181"/>
                </a:lnTo>
                <a:lnTo>
                  <a:pt x="1129393" y="537182"/>
                </a:lnTo>
                <a:lnTo>
                  <a:pt x="1143000" y="537182"/>
                </a:lnTo>
                <a:lnTo>
                  <a:pt x="1156607" y="537182"/>
                </a:lnTo>
                <a:lnTo>
                  <a:pt x="1170214" y="537182"/>
                </a:lnTo>
                <a:lnTo>
                  <a:pt x="1183821" y="537181"/>
                </a:lnTo>
                <a:lnTo>
                  <a:pt x="1197429" y="537169"/>
                </a:lnTo>
                <a:lnTo>
                  <a:pt x="1211036" y="537077"/>
                </a:lnTo>
                <a:lnTo>
                  <a:pt x="1224643" y="536532"/>
                </a:lnTo>
                <a:lnTo>
                  <a:pt x="1238250" y="533964"/>
                </a:lnTo>
                <a:lnTo>
                  <a:pt x="1251857" y="524470"/>
                </a:lnTo>
                <a:lnTo>
                  <a:pt x="1265464" y="497116"/>
                </a:lnTo>
                <a:lnTo>
                  <a:pt x="1279071" y="436446"/>
                </a:lnTo>
                <a:lnTo>
                  <a:pt x="1292679" y="335135"/>
                </a:lnTo>
                <a:lnTo>
                  <a:pt x="1306286" y="213901"/>
                </a:lnTo>
                <a:lnTo>
                  <a:pt x="1319893" y="124543"/>
                </a:lnTo>
                <a:lnTo>
                  <a:pt x="1333500" y="117015"/>
                </a:lnTo>
                <a:lnTo>
                  <a:pt x="1347107" y="195884"/>
                </a:lnTo>
                <a:lnTo>
                  <a:pt x="1360714" y="316022"/>
                </a:lnTo>
                <a:lnTo>
                  <a:pt x="1374321" y="422857"/>
                </a:lnTo>
                <a:lnTo>
                  <a:pt x="1387929" y="490037"/>
                </a:lnTo>
                <a:lnTo>
                  <a:pt x="1401536" y="521673"/>
                </a:lnTo>
                <a:lnTo>
                  <a:pt x="1415143" y="533112"/>
                </a:lnTo>
                <a:lnTo>
                  <a:pt x="1428750" y="536330"/>
                </a:lnTo>
                <a:lnTo>
                  <a:pt x="1442357" y="537040"/>
                </a:lnTo>
                <a:lnTo>
                  <a:pt x="1455964" y="537163"/>
                </a:lnTo>
                <a:lnTo>
                  <a:pt x="1469571" y="537180"/>
                </a:lnTo>
                <a:lnTo>
                  <a:pt x="1483179" y="537182"/>
                </a:lnTo>
                <a:lnTo>
                  <a:pt x="1496786" y="537182"/>
                </a:lnTo>
                <a:lnTo>
                  <a:pt x="1510393" y="537182"/>
                </a:lnTo>
                <a:lnTo>
                  <a:pt x="1524000" y="537182"/>
                </a:lnTo>
                <a:lnTo>
                  <a:pt x="1537607" y="537182"/>
                </a:lnTo>
                <a:lnTo>
                  <a:pt x="1551214" y="537182"/>
                </a:lnTo>
                <a:lnTo>
                  <a:pt x="1564821" y="537182"/>
                </a:lnTo>
                <a:lnTo>
                  <a:pt x="1578429" y="537182"/>
                </a:lnTo>
                <a:lnTo>
                  <a:pt x="1592036" y="537182"/>
                </a:lnTo>
                <a:lnTo>
                  <a:pt x="1605643" y="537182"/>
                </a:lnTo>
                <a:lnTo>
                  <a:pt x="1619250" y="537182"/>
                </a:lnTo>
              </a:path>
            </a:pathLst>
          </a:custGeom>
          <a:noFill/>
          <a:ln w="19050">
            <a:solidFill>
              <a:srgbClr val="397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4" name="Freeform 653">
            <a:extLst>
              <a:ext uri="{FF2B5EF4-FFF2-40B4-BE49-F238E27FC236}">
                <a16:creationId xmlns:a16="http://schemas.microsoft.com/office/drawing/2014/main" id="{76AAEFD3-CC88-4318-A0D1-4ABA2189742F}"/>
              </a:ext>
            </a:extLst>
          </p:cNvPr>
          <p:cNvSpPr>
            <a:spLocks noGrp="1"/>
          </p:cNvSpPr>
          <p:nvPr/>
        </p:nvSpPr>
        <p:spPr>
          <a:xfrm>
            <a:off x="9810751" y="4299821"/>
            <a:ext cx="323850" cy="95"/>
          </a:xfrm>
          <a:custGeom>
            <a:avLst/>
            <a:gdLst/>
            <a:ahLst/>
            <a:cxnLst/>
            <a:rect l="0" t="0" r="0" b="0"/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17145">
            <a:solidFill>
              <a:srgbClr val="8A6AB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5" name="Freeform 654">
            <a:extLst>
              <a:ext uri="{FF2B5EF4-FFF2-40B4-BE49-F238E27FC236}">
                <a16:creationId xmlns:a16="http://schemas.microsoft.com/office/drawing/2014/main" id="{FA9890F0-3AB9-42DC-9879-B899818363B8}"/>
              </a:ext>
            </a:extLst>
          </p:cNvPr>
          <p:cNvSpPr>
            <a:spLocks noGrp="1"/>
          </p:cNvSpPr>
          <p:nvPr/>
        </p:nvSpPr>
        <p:spPr>
          <a:xfrm>
            <a:off x="10048875" y="426172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8A6AB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56" name="Rounded Rectangle 655">
            <a:extLst>
              <a:ext uri="{FF2B5EF4-FFF2-40B4-BE49-F238E27FC236}">
                <a16:creationId xmlns:a16="http://schemas.microsoft.com/office/drawing/2014/main" id="{615F7C77-6161-45A4-8492-C3BF02BBB7BF}"/>
              </a:ext>
            </a:extLst>
          </p:cNvPr>
          <p:cNvSpPr>
            <a:spLocks noGrp="1"/>
          </p:cNvSpPr>
          <p:nvPr/>
        </p:nvSpPr>
        <p:spPr>
          <a:xfrm>
            <a:off x="10334626" y="3956920"/>
            <a:ext cx="1714500" cy="685800"/>
          </a:xfrm>
          <a:prstGeom prst="roundRect">
            <a:avLst>
              <a:gd name="adj" fmla="val 6944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7" name="Freeform 656">
            <a:extLst>
              <a:ext uri="{FF2B5EF4-FFF2-40B4-BE49-F238E27FC236}">
                <a16:creationId xmlns:a16="http://schemas.microsoft.com/office/drawing/2014/main" id="{3CDB1601-3FC8-4FDE-9013-A1DE8954C0FD}"/>
              </a:ext>
            </a:extLst>
          </p:cNvPr>
          <p:cNvSpPr>
            <a:spLocks noGrp="1"/>
          </p:cNvSpPr>
          <p:nvPr/>
        </p:nvSpPr>
        <p:spPr>
          <a:xfrm>
            <a:off x="10382251" y="4218447"/>
            <a:ext cx="1619250" cy="357599"/>
          </a:xfrm>
          <a:custGeom>
            <a:avLst/>
            <a:gdLst/>
            <a:ahLst/>
            <a:cxnLst/>
            <a:rect l="0" t="0" r="0" b="0"/>
            <a:pathLst>
              <a:path w="1619250" h="357599">
                <a:moveTo>
                  <a:pt x="0" y="357599"/>
                </a:moveTo>
                <a:lnTo>
                  <a:pt x="13607" y="357599"/>
                </a:lnTo>
                <a:lnTo>
                  <a:pt x="27214" y="357599"/>
                </a:lnTo>
                <a:lnTo>
                  <a:pt x="40821" y="357599"/>
                </a:lnTo>
                <a:lnTo>
                  <a:pt x="54429" y="357599"/>
                </a:lnTo>
                <a:lnTo>
                  <a:pt x="68036" y="357599"/>
                </a:lnTo>
                <a:lnTo>
                  <a:pt x="81643" y="357598"/>
                </a:lnTo>
                <a:lnTo>
                  <a:pt x="95250" y="357597"/>
                </a:lnTo>
                <a:lnTo>
                  <a:pt x="108857" y="357592"/>
                </a:lnTo>
                <a:lnTo>
                  <a:pt x="122464" y="357571"/>
                </a:lnTo>
                <a:lnTo>
                  <a:pt x="136071" y="357492"/>
                </a:lnTo>
                <a:lnTo>
                  <a:pt x="149679" y="357224"/>
                </a:lnTo>
                <a:lnTo>
                  <a:pt x="163286" y="356433"/>
                </a:lnTo>
                <a:lnTo>
                  <a:pt x="176893" y="354379"/>
                </a:lnTo>
                <a:lnTo>
                  <a:pt x="190500" y="349699"/>
                </a:lnTo>
                <a:lnTo>
                  <a:pt x="204107" y="340387"/>
                </a:lnTo>
                <a:lnTo>
                  <a:pt x="217714" y="324295"/>
                </a:lnTo>
                <a:lnTo>
                  <a:pt x="231321" y="300367"/>
                </a:lnTo>
                <a:lnTo>
                  <a:pt x="244929" y="270252"/>
                </a:lnTo>
                <a:lnTo>
                  <a:pt x="258536" y="239206"/>
                </a:lnTo>
                <a:lnTo>
                  <a:pt x="272143" y="215081"/>
                </a:lnTo>
                <a:lnTo>
                  <a:pt x="285750" y="205234"/>
                </a:lnTo>
                <a:lnTo>
                  <a:pt x="299357" y="212934"/>
                </a:lnTo>
                <a:lnTo>
                  <a:pt x="312964" y="235612"/>
                </a:lnTo>
                <a:lnTo>
                  <a:pt x="326571" y="266245"/>
                </a:lnTo>
                <a:lnTo>
                  <a:pt x="340179" y="296839"/>
                </a:lnTo>
                <a:lnTo>
                  <a:pt x="353786" y="321706"/>
                </a:lnTo>
                <a:lnTo>
                  <a:pt x="367393" y="338762"/>
                </a:lnTo>
                <a:lnTo>
                  <a:pt x="381000" y="348800"/>
                </a:lnTo>
                <a:lnTo>
                  <a:pt x="394607" y="353898"/>
                </a:lnTo>
                <a:lnTo>
                  <a:pt x="408214" y="356089"/>
                </a:lnTo>
                <a:lnTo>
                  <a:pt x="421821" y="356748"/>
                </a:lnTo>
                <a:lnTo>
                  <a:pt x="435429" y="356542"/>
                </a:lnTo>
                <a:lnTo>
                  <a:pt x="449036" y="355585"/>
                </a:lnTo>
                <a:lnTo>
                  <a:pt x="462643" y="353586"/>
                </a:lnTo>
                <a:lnTo>
                  <a:pt x="476250" y="349902"/>
                </a:lnTo>
                <a:lnTo>
                  <a:pt x="489857" y="343552"/>
                </a:lnTo>
                <a:lnTo>
                  <a:pt x="503464" y="333241"/>
                </a:lnTo>
                <a:lnTo>
                  <a:pt x="517071" y="317470"/>
                </a:lnTo>
                <a:lnTo>
                  <a:pt x="530679" y="294790"/>
                </a:lnTo>
                <a:lnTo>
                  <a:pt x="544286" y="264203"/>
                </a:lnTo>
                <a:lnTo>
                  <a:pt x="557893" y="225656"/>
                </a:lnTo>
                <a:lnTo>
                  <a:pt x="571500" y="180512"/>
                </a:lnTo>
                <a:lnTo>
                  <a:pt x="585107" y="131792"/>
                </a:lnTo>
                <a:lnTo>
                  <a:pt x="598714" y="84052"/>
                </a:lnTo>
                <a:lnTo>
                  <a:pt x="612321" y="42771"/>
                </a:lnTo>
                <a:lnTo>
                  <a:pt x="625929" y="13359"/>
                </a:lnTo>
                <a:lnTo>
                  <a:pt x="639536" y="0"/>
                </a:lnTo>
                <a:lnTo>
                  <a:pt x="653143" y="4678"/>
                </a:lnTo>
                <a:lnTo>
                  <a:pt x="666750" y="26693"/>
                </a:lnTo>
                <a:lnTo>
                  <a:pt x="680357" y="62833"/>
                </a:lnTo>
                <a:lnTo>
                  <a:pt x="693964" y="108141"/>
                </a:lnTo>
                <a:lnTo>
                  <a:pt x="707571" y="157030"/>
                </a:lnTo>
                <a:lnTo>
                  <a:pt x="721179" y="204393"/>
                </a:lnTo>
                <a:lnTo>
                  <a:pt x="734786" y="246417"/>
                </a:lnTo>
                <a:lnTo>
                  <a:pt x="748393" y="280944"/>
                </a:lnTo>
                <a:lnTo>
                  <a:pt x="762000" y="307389"/>
                </a:lnTo>
                <a:lnTo>
                  <a:pt x="775607" y="326353"/>
                </a:lnTo>
                <a:lnTo>
                  <a:pt x="789214" y="339126"/>
                </a:lnTo>
                <a:lnTo>
                  <a:pt x="802821" y="347223"/>
                </a:lnTo>
                <a:lnTo>
                  <a:pt x="816429" y="352062"/>
                </a:lnTo>
                <a:lnTo>
                  <a:pt x="830036" y="354791"/>
                </a:lnTo>
                <a:lnTo>
                  <a:pt x="843643" y="356246"/>
                </a:lnTo>
                <a:lnTo>
                  <a:pt x="857250" y="356975"/>
                </a:lnTo>
                <a:lnTo>
                  <a:pt x="870857" y="357305"/>
                </a:lnTo>
                <a:lnTo>
                  <a:pt x="884464" y="357379"/>
                </a:lnTo>
                <a:lnTo>
                  <a:pt x="898071" y="357143"/>
                </a:lnTo>
                <a:lnTo>
                  <a:pt x="911679" y="356205"/>
                </a:lnTo>
                <a:lnTo>
                  <a:pt x="925286" y="353551"/>
                </a:lnTo>
                <a:lnTo>
                  <a:pt x="938893" y="347175"/>
                </a:lnTo>
                <a:lnTo>
                  <a:pt x="952500" y="333996"/>
                </a:lnTo>
                <a:lnTo>
                  <a:pt x="966107" y="310650"/>
                </a:lnTo>
                <a:lnTo>
                  <a:pt x="979714" y="275566"/>
                </a:lnTo>
                <a:lnTo>
                  <a:pt x="993321" y="231699"/>
                </a:lnTo>
                <a:lnTo>
                  <a:pt x="1006929" y="187876"/>
                </a:lnTo>
                <a:lnTo>
                  <a:pt x="1020536" y="156630"/>
                </a:lnTo>
                <a:lnTo>
                  <a:pt x="1034143" y="148575"/>
                </a:lnTo>
                <a:lnTo>
                  <a:pt x="1047750" y="166641"/>
                </a:lnTo>
                <a:lnTo>
                  <a:pt x="1061357" y="204365"/>
                </a:lnTo>
                <a:lnTo>
                  <a:pt x="1074964" y="249592"/>
                </a:lnTo>
                <a:lnTo>
                  <a:pt x="1088571" y="290730"/>
                </a:lnTo>
                <a:lnTo>
                  <a:pt x="1102179" y="321235"/>
                </a:lnTo>
                <a:lnTo>
                  <a:pt x="1115786" y="340229"/>
                </a:lnTo>
                <a:lnTo>
                  <a:pt x="1129393" y="350311"/>
                </a:lnTo>
                <a:lnTo>
                  <a:pt x="1143000" y="354913"/>
                </a:lnTo>
                <a:lnTo>
                  <a:pt x="1156607" y="356728"/>
                </a:lnTo>
                <a:lnTo>
                  <a:pt x="1170214" y="357347"/>
                </a:lnTo>
                <a:lnTo>
                  <a:pt x="1183821" y="357517"/>
                </a:lnTo>
                <a:lnTo>
                  <a:pt x="1197429" y="357508"/>
                </a:lnTo>
                <a:lnTo>
                  <a:pt x="1211036" y="357331"/>
                </a:lnTo>
                <a:lnTo>
                  <a:pt x="1224643" y="356775"/>
                </a:lnTo>
                <a:lnTo>
                  <a:pt x="1238250" y="355284"/>
                </a:lnTo>
                <a:lnTo>
                  <a:pt x="1251857" y="351713"/>
                </a:lnTo>
                <a:lnTo>
                  <a:pt x="1265464" y="344061"/>
                </a:lnTo>
                <a:lnTo>
                  <a:pt x="1279071" y="329439"/>
                </a:lnTo>
                <a:lnTo>
                  <a:pt x="1292679" y="304618"/>
                </a:lnTo>
                <a:lnTo>
                  <a:pt x="1306286" y="267446"/>
                </a:lnTo>
                <a:lnTo>
                  <a:pt x="1319893" y="218850"/>
                </a:lnTo>
                <a:lnTo>
                  <a:pt x="1333500" y="164464"/>
                </a:lnTo>
                <a:lnTo>
                  <a:pt x="1347107" y="114448"/>
                </a:lnTo>
                <a:lnTo>
                  <a:pt x="1360714" y="80731"/>
                </a:lnTo>
                <a:lnTo>
                  <a:pt x="1374321" y="72463"/>
                </a:lnTo>
                <a:lnTo>
                  <a:pt x="1387929" y="92007"/>
                </a:lnTo>
                <a:lnTo>
                  <a:pt x="1401536" y="133850"/>
                </a:lnTo>
                <a:lnTo>
                  <a:pt x="1415143" y="187113"/>
                </a:lnTo>
                <a:lnTo>
                  <a:pt x="1428750" y="240109"/>
                </a:lnTo>
                <a:lnTo>
                  <a:pt x="1442357" y="284368"/>
                </a:lnTo>
                <a:lnTo>
                  <a:pt x="1455964" y="316316"/>
                </a:lnTo>
                <a:lnTo>
                  <a:pt x="1469571" y="336550"/>
                </a:lnTo>
                <a:lnTo>
                  <a:pt x="1483179" y="347892"/>
                </a:lnTo>
                <a:lnTo>
                  <a:pt x="1496786" y="353550"/>
                </a:lnTo>
                <a:lnTo>
                  <a:pt x="1510393" y="356071"/>
                </a:lnTo>
                <a:lnTo>
                  <a:pt x="1524000" y="357078"/>
                </a:lnTo>
                <a:lnTo>
                  <a:pt x="1537607" y="357438"/>
                </a:lnTo>
                <a:lnTo>
                  <a:pt x="1551214" y="357554"/>
                </a:lnTo>
                <a:lnTo>
                  <a:pt x="1564821" y="357587"/>
                </a:lnTo>
                <a:lnTo>
                  <a:pt x="1578429" y="357596"/>
                </a:lnTo>
                <a:lnTo>
                  <a:pt x="1592036" y="357598"/>
                </a:lnTo>
                <a:lnTo>
                  <a:pt x="1605643" y="357598"/>
                </a:lnTo>
                <a:lnTo>
                  <a:pt x="1619250" y="357599"/>
                </a:lnTo>
              </a:path>
            </a:pathLst>
          </a:custGeom>
          <a:noFill/>
          <a:ln w="19050">
            <a:solidFill>
              <a:srgbClr val="8A6AB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8" name="Freeform 657">
            <a:extLst>
              <a:ext uri="{FF2B5EF4-FFF2-40B4-BE49-F238E27FC236}">
                <a16:creationId xmlns:a16="http://schemas.microsoft.com/office/drawing/2014/main" id="{D036525F-B5D5-4239-A991-2716A2AC3BBC}"/>
              </a:ext>
            </a:extLst>
          </p:cNvPr>
          <p:cNvSpPr>
            <a:spLocks noGrp="1"/>
          </p:cNvSpPr>
          <p:nvPr/>
        </p:nvSpPr>
        <p:spPr>
          <a:xfrm>
            <a:off x="12096750" y="4299821"/>
            <a:ext cx="333376" cy="95"/>
          </a:xfrm>
          <a:custGeom>
            <a:avLst/>
            <a:gdLst/>
            <a:ahLst/>
            <a:cxnLst/>
            <a:rect l="0" t="0" r="0" b="0"/>
            <a:pathLst>
              <a:path w="333375" h="9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7145">
            <a:solidFill>
              <a:srgbClr val="8A6AB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9" name="Freeform 658">
            <a:extLst>
              <a:ext uri="{FF2B5EF4-FFF2-40B4-BE49-F238E27FC236}">
                <a16:creationId xmlns:a16="http://schemas.microsoft.com/office/drawing/2014/main" id="{8715EECA-7130-4C84-B756-0ED590D87E37}"/>
              </a:ext>
            </a:extLst>
          </p:cNvPr>
          <p:cNvSpPr>
            <a:spLocks noGrp="1"/>
          </p:cNvSpPr>
          <p:nvPr/>
        </p:nvSpPr>
        <p:spPr>
          <a:xfrm>
            <a:off x="12344400" y="426172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8A6AB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60" name="Rounded Rectangle 659">
            <a:extLst>
              <a:ext uri="{FF2B5EF4-FFF2-40B4-BE49-F238E27FC236}">
                <a16:creationId xmlns:a16="http://schemas.microsoft.com/office/drawing/2014/main" id="{5E372A4F-2618-406F-847C-AC635750D7C0}"/>
              </a:ext>
            </a:extLst>
          </p:cNvPr>
          <p:cNvSpPr>
            <a:spLocks noGrp="1"/>
          </p:cNvSpPr>
          <p:nvPr/>
        </p:nvSpPr>
        <p:spPr>
          <a:xfrm>
            <a:off x="12620626" y="3956920"/>
            <a:ext cx="1981200" cy="685800"/>
          </a:xfrm>
          <a:prstGeom prst="roundRect">
            <a:avLst>
              <a:gd name="adj" fmla="val 6944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1" name="Freeform 660">
            <a:extLst>
              <a:ext uri="{FF2B5EF4-FFF2-40B4-BE49-F238E27FC236}">
                <a16:creationId xmlns:a16="http://schemas.microsoft.com/office/drawing/2014/main" id="{28697066-AE8A-4091-9770-B93390C32371}"/>
              </a:ext>
            </a:extLst>
          </p:cNvPr>
          <p:cNvSpPr>
            <a:spLocks noGrp="1"/>
          </p:cNvSpPr>
          <p:nvPr/>
        </p:nvSpPr>
        <p:spPr>
          <a:xfrm>
            <a:off x="12668251" y="4146684"/>
            <a:ext cx="1885950" cy="429362"/>
          </a:xfrm>
          <a:custGeom>
            <a:avLst/>
            <a:gdLst/>
            <a:ahLst/>
            <a:cxnLst/>
            <a:rect l="0" t="0" r="0" b="0"/>
            <a:pathLst>
              <a:path w="1885950" h="429362">
                <a:moveTo>
                  <a:pt x="0" y="429362"/>
                </a:moveTo>
                <a:lnTo>
                  <a:pt x="15848" y="429362"/>
                </a:lnTo>
                <a:lnTo>
                  <a:pt x="31697" y="429362"/>
                </a:lnTo>
                <a:lnTo>
                  <a:pt x="47545" y="429362"/>
                </a:lnTo>
                <a:lnTo>
                  <a:pt x="63393" y="429362"/>
                </a:lnTo>
                <a:lnTo>
                  <a:pt x="79242" y="429361"/>
                </a:lnTo>
                <a:lnTo>
                  <a:pt x="95090" y="429351"/>
                </a:lnTo>
                <a:lnTo>
                  <a:pt x="110938" y="429299"/>
                </a:lnTo>
                <a:lnTo>
                  <a:pt x="126787" y="429061"/>
                </a:lnTo>
                <a:lnTo>
                  <a:pt x="142635" y="428146"/>
                </a:lnTo>
                <a:lnTo>
                  <a:pt x="158483" y="425228"/>
                </a:lnTo>
                <a:lnTo>
                  <a:pt x="174332" y="417517"/>
                </a:lnTo>
                <a:lnTo>
                  <a:pt x="190180" y="400757"/>
                </a:lnTo>
                <a:lnTo>
                  <a:pt x="206028" y="371133"/>
                </a:lnTo>
                <a:lnTo>
                  <a:pt x="221876" y="329446"/>
                </a:lnTo>
                <a:lnTo>
                  <a:pt x="237725" y="284844"/>
                </a:lnTo>
                <a:lnTo>
                  <a:pt x="253573" y="253163"/>
                </a:lnTo>
                <a:lnTo>
                  <a:pt x="269421" y="248280"/>
                </a:lnTo>
                <a:lnTo>
                  <a:pt x="285270" y="272491"/>
                </a:lnTo>
                <a:lnTo>
                  <a:pt x="301118" y="314810"/>
                </a:lnTo>
                <a:lnTo>
                  <a:pt x="316966" y="358852"/>
                </a:lnTo>
                <a:lnTo>
                  <a:pt x="332815" y="392778"/>
                </a:lnTo>
                <a:lnTo>
                  <a:pt x="348663" y="413362"/>
                </a:lnTo>
                <a:lnTo>
                  <a:pt x="364511" y="423463"/>
                </a:lnTo>
                <a:lnTo>
                  <a:pt x="380360" y="427528"/>
                </a:lnTo>
                <a:lnTo>
                  <a:pt x="396208" y="428879"/>
                </a:lnTo>
                <a:lnTo>
                  <a:pt x="412056" y="429244"/>
                </a:lnTo>
                <a:lnTo>
                  <a:pt x="427905" y="429302"/>
                </a:lnTo>
                <a:lnTo>
                  <a:pt x="443753" y="429232"/>
                </a:lnTo>
                <a:lnTo>
                  <a:pt x="459601" y="428995"/>
                </a:lnTo>
                <a:lnTo>
                  <a:pt x="475450" y="428381"/>
                </a:lnTo>
                <a:lnTo>
                  <a:pt x="491298" y="426924"/>
                </a:lnTo>
                <a:lnTo>
                  <a:pt x="507146" y="423733"/>
                </a:lnTo>
                <a:lnTo>
                  <a:pt x="522995" y="417289"/>
                </a:lnTo>
                <a:lnTo>
                  <a:pt x="538843" y="405311"/>
                </a:lnTo>
                <a:lnTo>
                  <a:pt x="554691" y="384859"/>
                </a:lnTo>
                <a:lnTo>
                  <a:pt x="570539" y="352872"/>
                </a:lnTo>
                <a:lnTo>
                  <a:pt x="586388" y="307246"/>
                </a:lnTo>
                <a:lnTo>
                  <a:pt x="602236" y="248273"/>
                </a:lnTo>
                <a:lnTo>
                  <a:pt x="618084" y="179920"/>
                </a:lnTo>
                <a:lnTo>
                  <a:pt x="633933" y="110207"/>
                </a:lnTo>
                <a:lnTo>
                  <a:pt x="649781" y="50058"/>
                </a:lnTo>
                <a:lnTo>
                  <a:pt x="665629" y="10638"/>
                </a:lnTo>
                <a:lnTo>
                  <a:pt x="681478" y="0"/>
                </a:lnTo>
                <a:lnTo>
                  <a:pt x="697326" y="20409"/>
                </a:lnTo>
                <a:lnTo>
                  <a:pt x="713174" y="67554"/>
                </a:lnTo>
                <a:lnTo>
                  <a:pt x="729023" y="132033"/>
                </a:lnTo>
                <a:lnTo>
                  <a:pt x="744871" y="202401"/>
                </a:lnTo>
                <a:lnTo>
                  <a:pt x="760719" y="268438"/>
                </a:lnTo>
                <a:lnTo>
                  <a:pt x="776568" y="323377"/>
                </a:lnTo>
                <a:lnTo>
                  <a:pt x="792416" y="364525"/>
                </a:lnTo>
                <a:lnTo>
                  <a:pt x="808264" y="392519"/>
                </a:lnTo>
                <a:lnTo>
                  <a:pt x="824113" y="409916"/>
                </a:lnTo>
                <a:lnTo>
                  <a:pt x="839961" y="419828"/>
                </a:lnTo>
                <a:lnTo>
                  <a:pt x="855809" y="425020"/>
                </a:lnTo>
                <a:lnTo>
                  <a:pt x="871658" y="427526"/>
                </a:lnTo>
                <a:lnTo>
                  <a:pt x="887506" y="428641"/>
                </a:lnTo>
                <a:lnTo>
                  <a:pt x="903354" y="429099"/>
                </a:lnTo>
                <a:lnTo>
                  <a:pt x="919203" y="429273"/>
                </a:lnTo>
                <a:lnTo>
                  <a:pt x="935051" y="429334"/>
                </a:lnTo>
                <a:lnTo>
                  <a:pt x="950899" y="429353"/>
                </a:lnTo>
                <a:lnTo>
                  <a:pt x="966747" y="429350"/>
                </a:lnTo>
                <a:lnTo>
                  <a:pt x="982596" y="429296"/>
                </a:lnTo>
                <a:lnTo>
                  <a:pt x="998444" y="429016"/>
                </a:lnTo>
                <a:lnTo>
                  <a:pt x="1014292" y="427849"/>
                </a:lnTo>
                <a:lnTo>
                  <a:pt x="1030141" y="423874"/>
                </a:lnTo>
                <a:lnTo>
                  <a:pt x="1045989" y="412845"/>
                </a:lnTo>
                <a:lnTo>
                  <a:pt x="1061837" y="388118"/>
                </a:lnTo>
                <a:lnTo>
                  <a:pt x="1077686" y="343920"/>
                </a:lnTo>
                <a:lnTo>
                  <a:pt x="1093534" y="282509"/>
                </a:lnTo>
                <a:lnTo>
                  <a:pt x="1109382" y="219958"/>
                </a:lnTo>
                <a:lnTo>
                  <a:pt x="1125231" y="181631"/>
                </a:lnTo>
                <a:lnTo>
                  <a:pt x="1141079" y="186215"/>
                </a:lnTo>
                <a:lnTo>
                  <a:pt x="1156927" y="231368"/>
                </a:lnTo>
                <a:lnTo>
                  <a:pt x="1172776" y="295601"/>
                </a:lnTo>
                <a:lnTo>
                  <a:pt x="1188624" y="354390"/>
                </a:lnTo>
                <a:lnTo>
                  <a:pt x="1204472" y="394499"/>
                </a:lnTo>
                <a:lnTo>
                  <a:pt x="1220321" y="415912"/>
                </a:lnTo>
                <a:lnTo>
                  <a:pt x="1236169" y="425057"/>
                </a:lnTo>
                <a:lnTo>
                  <a:pt x="1252017" y="428219"/>
                </a:lnTo>
                <a:lnTo>
                  <a:pt x="1267866" y="429110"/>
                </a:lnTo>
                <a:lnTo>
                  <a:pt x="1283714" y="429316"/>
                </a:lnTo>
                <a:lnTo>
                  <a:pt x="1299562" y="429355"/>
                </a:lnTo>
                <a:lnTo>
                  <a:pt x="1315411" y="429361"/>
                </a:lnTo>
                <a:lnTo>
                  <a:pt x="1331259" y="429357"/>
                </a:lnTo>
                <a:lnTo>
                  <a:pt x="1347107" y="429333"/>
                </a:lnTo>
                <a:lnTo>
                  <a:pt x="1362955" y="429223"/>
                </a:lnTo>
                <a:lnTo>
                  <a:pt x="1378804" y="428779"/>
                </a:lnTo>
                <a:lnTo>
                  <a:pt x="1394652" y="427251"/>
                </a:lnTo>
                <a:lnTo>
                  <a:pt x="1410500" y="422754"/>
                </a:lnTo>
                <a:lnTo>
                  <a:pt x="1426349" y="411462"/>
                </a:lnTo>
                <a:lnTo>
                  <a:pt x="1442197" y="387405"/>
                </a:lnTo>
                <a:lnTo>
                  <a:pt x="1458045" y="344260"/>
                </a:lnTo>
                <a:lnTo>
                  <a:pt x="1473894" y="279992"/>
                </a:lnTo>
                <a:lnTo>
                  <a:pt x="1489742" y="202489"/>
                </a:lnTo>
                <a:lnTo>
                  <a:pt x="1505590" y="131174"/>
                </a:lnTo>
                <a:lnTo>
                  <a:pt x="1521439" y="90213"/>
                </a:lnTo>
                <a:lnTo>
                  <a:pt x="1537287" y="95566"/>
                </a:lnTo>
                <a:lnTo>
                  <a:pt x="1553135" y="145071"/>
                </a:lnTo>
                <a:lnTo>
                  <a:pt x="1568984" y="219836"/>
                </a:lnTo>
                <a:lnTo>
                  <a:pt x="1584832" y="295733"/>
                </a:lnTo>
                <a:lnTo>
                  <a:pt x="1600680" y="355613"/>
                </a:lnTo>
                <a:lnTo>
                  <a:pt x="1616529" y="394141"/>
                </a:lnTo>
                <a:lnTo>
                  <a:pt x="1632377" y="414806"/>
                </a:lnTo>
                <a:lnTo>
                  <a:pt x="1648225" y="424157"/>
                </a:lnTo>
                <a:lnTo>
                  <a:pt x="1664074" y="427751"/>
                </a:lnTo>
                <a:lnTo>
                  <a:pt x="1679922" y="428931"/>
                </a:lnTo>
                <a:lnTo>
                  <a:pt x="1695770" y="429262"/>
                </a:lnTo>
                <a:lnTo>
                  <a:pt x="1711618" y="429342"/>
                </a:lnTo>
                <a:lnTo>
                  <a:pt x="1727467" y="429359"/>
                </a:lnTo>
                <a:lnTo>
                  <a:pt x="1743315" y="429362"/>
                </a:lnTo>
                <a:lnTo>
                  <a:pt x="1759163" y="429362"/>
                </a:lnTo>
                <a:lnTo>
                  <a:pt x="1775012" y="429362"/>
                </a:lnTo>
                <a:lnTo>
                  <a:pt x="1790860" y="429362"/>
                </a:lnTo>
                <a:lnTo>
                  <a:pt x="1806708" y="429362"/>
                </a:lnTo>
                <a:lnTo>
                  <a:pt x="1822557" y="429362"/>
                </a:lnTo>
                <a:lnTo>
                  <a:pt x="1838405" y="429362"/>
                </a:lnTo>
                <a:lnTo>
                  <a:pt x="1854253" y="429362"/>
                </a:lnTo>
                <a:lnTo>
                  <a:pt x="1870102" y="429362"/>
                </a:lnTo>
                <a:lnTo>
                  <a:pt x="1885950" y="429362"/>
                </a:lnTo>
              </a:path>
            </a:pathLst>
          </a:custGeom>
          <a:noFill/>
          <a:ln w="19050">
            <a:solidFill>
              <a:srgbClr val="8A6AB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2" name="Freeform 661">
            <a:extLst>
              <a:ext uri="{FF2B5EF4-FFF2-40B4-BE49-F238E27FC236}">
                <a16:creationId xmlns:a16="http://schemas.microsoft.com/office/drawing/2014/main" id="{FD843DA3-FA22-4B4C-9EAB-8619DF077BC6}"/>
              </a:ext>
            </a:extLst>
          </p:cNvPr>
          <p:cNvSpPr>
            <a:spLocks noGrp="1"/>
          </p:cNvSpPr>
          <p:nvPr/>
        </p:nvSpPr>
        <p:spPr>
          <a:xfrm>
            <a:off x="12668251" y="4293475"/>
            <a:ext cx="1885950" cy="282570"/>
          </a:xfrm>
          <a:custGeom>
            <a:avLst/>
            <a:gdLst/>
            <a:ahLst/>
            <a:cxnLst/>
            <a:rect l="0" t="0" r="0" b="0"/>
            <a:pathLst>
              <a:path w="1885950" h="282570">
                <a:moveTo>
                  <a:pt x="0" y="282570"/>
                </a:moveTo>
                <a:lnTo>
                  <a:pt x="15848" y="282570"/>
                </a:lnTo>
                <a:lnTo>
                  <a:pt x="31697" y="282570"/>
                </a:lnTo>
                <a:lnTo>
                  <a:pt x="47545" y="282570"/>
                </a:lnTo>
                <a:lnTo>
                  <a:pt x="63393" y="282570"/>
                </a:lnTo>
                <a:lnTo>
                  <a:pt x="79242" y="282568"/>
                </a:lnTo>
                <a:lnTo>
                  <a:pt x="95090" y="282561"/>
                </a:lnTo>
                <a:lnTo>
                  <a:pt x="110938" y="282542"/>
                </a:lnTo>
                <a:lnTo>
                  <a:pt x="126787" y="282486"/>
                </a:lnTo>
                <a:lnTo>
                  <a:pt x="142635" y="282341"/>
                </a:lnTo>
                <a:lnTo>
                  <a:pt x="158483" y="281992"/>
                </a:lnTo>
                <a:lnTo>
                  <a:pt x="174332" y="281216"/>
                </a:lnTo>
                <a:lnTo>
                  <a:pt x="190180" y="279622"/>
                </a:lnTo>
                <a:lnTo>
                  <a:pt x="206028" y="276611"/>
                </a:lnTo>
                <a:lnTo>
                  <a:pt x="221876" y="271385"/>
                </a:lnTo>
                <a:lnTo>
                  <a:pt x="237725" y="263070"/>
                </a:lnTo>
                <a:lnTo>
                  <a:pt x="253573" y="250999"/>
                </a:lnTo>
                <a:lnTo>
                  <a:pt x="269421" y="235100"/>
                </a:lnTo>
                <a:lnTo>
                  <a:pt x="285270" y="216281"/>
                </a:lnTo>
                <a:lnTo>
                  <a:pt x="301118" y="196602"/>
                </a:lnTo>
                <a:lnTo>
                  <a:pt x="316966" y="179027"/>
                </a:lnTo>
                <a:lnTo>
                  <a:pt x="332815" y="166750"/>
                </a:lnTo>
                <a:lnTo>
                  <a:pt x="348663" y="162251"/>
                </a:lnTo>
                <a:lnTo>
                  <a:pt x="364511" y="166484"/>
                </a:lnTo>
                <a:lnTo>
                  <a:pt x="380360" y="178543"/>
                </a:lnTo>
                <a:lnTo>
                  <a:pt x="396208" y="195975"/>
                </a:lnTo>
                <a:lnTo>
                  <a:pt x="412056" y="215582"/>
                </a:lnTo>
                <a:lnTo>
                  <a:pt x="427905" y="234353"/>
                </a:lnTo>
                <a:lnTo>
                  <a:pt x="443753" y="250156"/>
                </a:lnTo>
                <a:lnTo>
                  <a:pt x="459601" y="261978"/>
                </a:lnTo>
                <a:lnTo>
                  <a:pt x="475450" y="269754"/>
                </a:lnTo>
                <a:lnTo>
                  <a:pt x="491298" y="273974"/>
                </a:lnTo>
                <a:lnTo>
                  <a:pt x="507146" y="275266"/>
                </a:lnTo>
                <a:lnTo>
                  <a:pt x="522995" y="274100"/>
                </a:lnTo>
                <a:lnTo>
                  <a:pt x="538843" y="270653"/>
                </a:lnTo>
                <a:lnTo>
                  <a:pt x="554691" y="264798"/>
                </a:lnTo>
                <a:lnTo>
                  <a:pt x="570539" y="256179"/>
                </a:lnTo>
                <a:lnTo>
                  <a:pt x="586388" y="244325"/>
                </a:lnTo>
                <a:lnTo>
                  <a:pt x="602236" y="228786"/>
                </a:lnTo>
                <a:lnTo>
                  <a:pt x="618084" y="209277"/>
                </a:lnTo>
                <a:lnTo>
                  <a:pt x="633933" y="185820"/>
                </a:lnTo>
                <a:lnTo>
                  <a:pt x="649781" y="158868"/>
                </a:lnTo>
                <a:lnTo>
                  <a:pt x="665629" y="129378"/>
                </a:lnTo>
                <a:lnTo>
                  <a:pt x="681478" y="98820"/>
                </a:lnTo>
                <a:lnTo>
                  <a:pt x="697326" y="69095"/>
                </a:lnTo>
                <a:lnTo>
                  <a:pt x="713174" y="42357"/>
                </a:lnTo>
                <a:lnTo>
                  <a:pt x="729023" y="20766"/>
                </a:lnTo>
                <a:lnTo>
                  <a:pt x="744871" y="6203"/>
                </a:lnTo>
                <a:lnTo>
                  <a:pt x="760719" y="0"/>
                </a:lnTo>
                <a:lnTo>
                  <a:pt x="776568" y="2739"/>
                </a:lnTo>
                <a:lnTo>
                  <a:pt x="792416" y="14162"/>
                </a:lnTo>
                <a:lnTo>
                  <a:pt x="808264" y="33211"/>
                </a:lnTo>
                <a:lnTo>
                  <a:pt x="824113" y="58190"/>
                </a:lnTo>
                <a:lnTo>
                  <a:pt x="839961" y="87013"/>
                </a:lnTo>
                <a:lnTo>
                  <a:pt x="855809" y="117491"/>
                </a:lnTo>
                <a:lnTo>
                  <a:pt x="871658" y="147598"/>
                </a:lnTo>
                <a:lnTo>
                  <a:pt x="887506" y="175684"/>
                </a:lnTo>
                <a:lnTo>
                  <a:pt x="903354" y="200586"/>
                </a:lnTo>
                <a:lnTo>
                  <a:pt x="919203" y="221663"/>
                </a:lnTo>
                <a:lnTo>
                  <a:pt x="935051" y="238743"/>
                </a:lnTo>
                <a:lnTo>
                  <a:pt x="950899" y="252023"/>
                </a:lnTo>
                <a:lnTo>
                  <a:pt x="966747" y="261944"/>
                </a:lnTo>
                <a:lnTo>
                  <a:pt x="982596" y="269064"/>
                </a:lnTo>
                <a:lnTo>
                  <a:pt x="998444" y="273954"/>
                </a:lnTo>
                <a:lnTo>
                  <a:pt x="1014292" y="277103"/>
                </a:lnTo>
                <a:lnTo>
                  <a:pt x="1030141" y="278838"/>
                </a:lnTo>
                <a:lnTo>
                  <a:pt x="1045989" y="279238"/>
                </a:lnTo>
                <a:lnTo>
                  <a:pt x="1061837" y="278038"/>
                </a:lnTo>
                <a:lnTo>
                  <a:pt x="1077686" y="274564"/>
                </a:lnTo>
                <a:lnTo>
                  <a:pt x="1093534" y="267734"/>
                </a:lnTo>
                <a:lnTo>
                  <a:pt x="1109382" y="256264"/>
                </a:lnTo>
                <a:lnTo>
                  <a:pt x="1125231" y="239121"/>
                </a:lnTo>
                <a:lnTo>
                  <a:pt x="1141079" y="216199"/>
                </a:lnTo>
                <a:lnTo>
                  <a:pt x="1156927" y="188985"/>
                </a:lnTo>
                <a:lnTo>
                  <a:pt x="1172776" y="160833"/>
                </a:lnTo>
                <a:lnTo>
                  <a:pt x="1188624" y="136497"/>
                </a:lnTo>
                <a:lnTo>
                  <a:pt x="1204472" y="120903"/>
                </a:lnTo>
                <a:lnTo>
                  <a:pt x="1220321" y="117537"/>
                </a:lnTo>
                <a:lnTo>
                  <a:pt x="1236169" y="127182"/>
                </a:lnTo>
                <a:lnTo>
                  <a:pt x="1252017" y="147624"/>
                </a:lnTo>
                <a:lnTo>
                  <a:pt x="1267866" y="174477"/>
                </a:lnTo>
                <a:lnTo>
                  <a:pt x="1283714" y="202710"/>
                </a:lnTo>
                <a:lnTo>
                  <a:pt x="1299562" y="228150"/>
                </a:lnTo>
                <a:lnTo>
                  <a:pt x="1315411" y="248363"/>
                </a:lnTo>
                <a:lnTo>
                  <a:pt x="1331259" y="262730"/>
                </a:lnTo>
                <a:lnTo>
                  <a:pt x="1347107" y="271933"/>
                </a:lnTo>
                <a:lnTo>
                  <a:pt x="1362955" y="277245"/>
                </a:lnTo>
                <a:lnTo>
                  <a:pt x="1378804" y="279942"/>
                </a:lnTo>
                <a:lnTo>
                  <a:pt x="1394652" y="280962"/>
                </a:lnTo>
                <a:lnTo>
                  <a:pt x="1410500" y="280787"/>
                </a:lnTo>
                <a:lnTo>
                  <a:pt x="1426349" y="279425"/>
                </a:lnTo>
                <a:lnTo>
                  <a:pt x="1442197" y="276444"/>
                </a:lnTo>
                <a:lnTo>
                  <a:pt x="1458045" y="271009"/>
                </a:lnTo>
                <a:lnTo>
                  <a:pt x="1473894" y="261968"/>
                </a:lnTo>
                <a:lnTo>
                  <a:pt x="1489742" y="248057"/>
                </a:lnTo>
                <a:lnTo>
                  <a:pt x="1505590" y="228254"/>
                </a:lnTo>
                <a:lnTo>
                  <a:pt x="1521439" y="202273"/>
                </a:lnTo>
                <a:lnTo>
                  <a:pt x="1537287" y="171068"/>
                </a:lnTo>
                <a:lnTo>
                  <a:pt x="1553135" y="137129"/>
                </a:lnTo>
                <a:lnTo>
                  <a:pt x="1568984" y="104372"/>
                </a:lnTo>
                <a:lnTo>
                  <a:pt x="1584832" y="77485"/>
                </a:lnTo>
                <a:lnTo>
                  <a:pt x="1600680" y="60863"/>
                </a:lnTo>
                <a:lnTo>
                  <a:pt x="1616529" y="57437"/>
                </a:lnTo>
                <a:lnTo>
                  <a:pt x="1632377" y="67829"/>
                </a:lnTo>
                <a:lnTo>
                  <a:pt x="1648225" y="90170"/>
                </a:lnTo>
                <a:lnTo>
                  <a:pt x="1664074" y="120647"/>
                </a:lnTo>
                <a:lnTo>
                  <a:pt x="1679922" y="154565"/>
                </a:lnTo>
                <a:lnTo>
                  <a:pt x="1695770" y="187518"/>
                </a:lnTo>
                <a:lnTo>
                  <a:pt x="1711618" y="216271"/>
                </a:lnTo>
                <a:lnTo>
                  <a:pt x="1727467" y="239132"/>
                </a:lnTo>
                <a:lnTo>
                  <a:pt x="1743315" y="255837"/>
                </a:lnTo>
                <a:lnTo>
                  <a:pt x="1759163" y="267116"/>
                </a:lnTo>
                <a:lnTo>
                  <a:pt x="1775012" y="274179"/>
                </a:lnTo>
                <a:lnTo>
                  <a:pt x="1790860" y="278290"/>
                </a:lnTo>
                <a:lnTo>
                  <a:pt x="1806708" y="280520"/>
                </a:lnTo>
                <a:lnTo>
                  <a:pt x="1822557" y="281648"/>
                </a:lnTo>
                <a:lnTo>
                  <a:pt x="1838405" y="282180"/>
                </a:lnTo>
                <a:lnTo>
                  <a:pt x="1854253" y="282416"/>
                </a:lnTo>
                <a:lnTo>
                  <a:pt x="1870102" y="282513"/>
                </a:lnTo>
                <a:lnTo>
                  <a:pt x="1885950" y="282550"/>
                </a:lnTo>
              </a:path>
            </a:pathLst>
          </a:custGeom>
          <a:noFill/>
          <a:ln w="19050">
            <a:solidFill>
              <a:srgbClr val="AFA0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6" name="Rounded Rectangle 665">
            <a:extLst>
              <a:ext uri="{FF2B5EF4-FFF2-40B4-BE49-F238E27FC236}">
                <a16:creationId xmlns:a16="http://schemas.microsoft.com/office/drawing/2014/main" id="{24DE1600-AF7A-437E-8FF3-C723B1FDC31B}"/>
              </a:ext>
            </a:extLst>
          </p:cNvPr>
          <p:cNvSpPr>
            <a:spLocks noGrp="1"/>
          </p:cNvSpPr>
          <p:nvPr/>
        </p:nvSpPr>
        <p:spPr>
          <a:xfrm>
            <a:off x="371475" y="5706260"/>
            <a:ext cx="962026" cy="514350"/>
          </a:xfrm>
          <a:prstGeom prst="roundRect">
            <a:avLst>
              <a:gd name="adj" fmla="val 9259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7" name="Freeform 666">
            <a:extLst>
              <a:ext uri="{FF2B5EF4-FFF2-40B4-BE49-F238E27FC236}">
                <a16:creationId xmlns:a16="http://schemas.microsoft.com/office/drawing/2014/main" id="{5D61E352-6890-4152-8ED3-32FF3118FE46}"/>
              </a:ext>
            </a:extLst>
          </p:cNvPr>
          <p:cNvSpPr>
            <a:spLocks noGrp="1"/>
          </p:cNvSpPr>
          <p:nvPr/>
        </p:nvSpPr>
        <p:spPr>
          <a:xfrm>
            <a:off x="419100" y="5777908"/>
            <a:ext cx="866776" cy="376027"/>
          </a:xfrm>
          <a:custGeom>
            <a:avLst/>
            <a:gdLst/>
            <a:ahLst/>
            <a:cxnLst/>
            <a:rect l="0" t="0" r="0" b="0"/>
            <a:pathLst>
              <a:path w="866775" h="376027">
                <a:moveTo>
                  <a:pt x="0" y="376027"/>
                </a:moveTo>
                <a:lnTo>
                  <a:pt x="7284" y="376027"/>
                </a:lnTo>
                <a:lnTo>
                  <a:pt x="14568" y="376027"/>
                </a:lnTo>
                <a:lnTo>
                  <a:pt x="21851" y="376027"/>
                </a:lnTo>
                <a:lnTo>
                  <a:pt x="29135" y="376027"/>
                </a:lnTo>
                <a:lnTo>
                  <a:pt x="36419" y="376027"/>
                </a:lnTo>
                <a:lnTo>
                  <a:pt x="43703" y="376027"/>
                </a:lnTo>
                <a:lnTo>
                  <a:pt x="50987" y="376027"/>
                </a:lnTo>
                <a:lnTo>
                  <a:pt x="58271" y="376027"/>
                </a:lnTo>
                <a:lnTo>
                  <a:pt x="65554" y="376023"/>
                </a:lnTo>
                <a:lnTo>
                  <a:pt x="72838" y="375985"/>
                </a:lnTo>
                <a:lnTo>
                  <a:pt x="80122" y="375723"/>
                </a:lnTo>
                <a:lnTo>
                  <a:pt x="87406" y="374367"/>
                </a:lnTo>
                <a:lnTo>
                  <a:pt x="94690" y="369102"/>
                </a:lnTo>
                <a:lnTo>
                  <a:pt x="101974" y="353904"/>
                </a:lnTo>
                <a:lnTo>
                  <a:pt x="109257" y="321917"/>
                </a:lnTo>
                <a:lnTo>
                  <a:pt x="116541" y="274693"/>
                </a:lnTo>
                <a:lnTo>
                  <a:pt x="123825" y="230720"/>
                </a:lnTo>
                <a:lnTo>
                  <a:pt x="131109" y="216487"/>
                </a:lnTo>
                <a:lnTo>
                  <a:pt x="138393" y="241904"/>
                </a:lnTo>
                <a:lnTo>
                  <a:pt x="145676" y="289692"/>
                </a:lnTo>
                <a:lnTo>
                  <a:pt x="152960" y="333475"/>
                </a:lnTo>
                <a:lnTo>
                  <a:pt x="160244" y="359969"/>
                </a:lnTo>
                <a:lnTo>
                  <a:pt x="167528" y="371387"/>
                </a:lnTo>
                <a:lnTo>
                  <a:pt x="174812" y="375001"/>
                </a:lnTo>
                <a:lnTo>
                  <a:pt x="182096" y="375854"/>
                </a:lnTo>
                <a:lnTo>
                  <a:pt x="189379" y="376005"/>
                </a:lnTo>
                <a:lnTo>
                  <a:pt x="196663" y="376025"/>
                </a:lnTo>
                <a:lnTo>
                  <a:pt x="203947" y="376027"/>
                </a:lnTo>
                <a:lnTo>
                  <a:pt x="211231" y="376027"/>
                </a:lnTo>
                <a:lnTo>
                  <a:pt x="218515" y="376023"/>
                </a:lnTo>
                <a:lnTo>
                  <a:pt x="225799" y="376006"/>
                </a:lnTo>
                <a:lnTo>
                  <a:pt x="233082" y="375938"/>
                </a:lnTo>
                <a:lnTo>
                  <a:pt x="240366" y="375689"/>
                </a:lnTo>
                <a:lnTo>
                  <a:pt x="247650" y="374888"/>
                </a:lnTo>
                <a:lnTo>
                  <a:pt x="254934" y="372609"/>
                </a:lnTo>
                <a:lnTo>
                  <a:pt x="262218" y="366888"/>
                </a:lnTo>
                <a:lnTo>
                  <a:pt x="269501" y="354252"/>
                </a:lnTo>
                <a:lnTo>
                  <a:pt x="276785" y="329797"/>
                </a:lnTo>
                <a:lnTo>
                  <a:pt x="284069" y="288565"/>
                </a:lnTo>
                <a:lnTo>
                  <a:pt x="291353" y="228577"/>
                </a:lnTo>
                <a:lnTo>
                  <a:pt x="298637" y="154517"/>
                </a:lnTo>
                <a:lnTo>
                  <a:pt x="305921" y="79494"/>
                </a:lnTo>
                <a:lnTo>
                  <a:pt x="313204" y="22289"/>
                </a:lnTo>
                <a:lnTo>
                  <a:pt x="320488" y="0"/>
                </a:lnTo>
                <a:lnTo>
                  <a:pt x="327772" y="19834"/>
                </a:lnTo>
                <a:lnTo>
                  <a:pt x="335056" y="75363"/>
                </a:lnTo>
                <a:lnTo>
                  <a:pt x="342340" y="149872"/>
                </a:lnTo>
                <a:lnTo>
                  <a:pt x="349624" y="224441"/>
                </a:lnTo>
                <a:lnTo>
                  <a:pt x="356907" y="285486"/>
                </a:lnTo>
                <a:lnTo>
                  <a:pt x="364191" y="327837"/>
                </a:lnTo>
                <a:lnTo>
                  <a:pt x="371475" y="353171"/>
                </a:lnTo>
                <a:lnTo>
                  <a:pt x="378759" y="366368"/>
                </a:lnTo>
                <a:lnTo>
                  <a:pt x="386043" y="372389"/>
                </a:lnTo>
                <a:lnTo>
                  <a:pt x="393326" y="374807"/>
                </a:lnTo>
                <a:lnTo>
                  <a:pt x="400610" y="375662"/>
                </a:lnTo>
                <a:lnTo>
                  <a:pt x="407894" y="375930"/>
                </a:lnTo>
                <a:lnTo>
                  <a:pt x="415178" y="376004"/>
                </a:lnTo>
                <a:lnTo>
                  <a:pt x="422462" y="376023"/>
                </a:lnTo>
                <a:lnTo>
                  <a:pt x="429746" y="376027"/>
                </a:lnTo>
                <a:lnTo>
                  <a:pt x="437029" y="376027"/>
                </a:lnTo>
                <a:lnTo>
                  <a:pt x="444313" y="376027"/>
                </a:lnTo>
                <a:lnTo>
                  <a:pt x="451597" y="376027"/>
                </a:lnTo>
                <a:lnTo>
                  <a:pt x="458881" y="376027"/>
                </a:lnTo>
                <a:lnTo>
                  <a:pt x="466165" y="376023"/>
                </a:lnTo>
                <a:lnTo>
                  <a:pt x="473449" y="375978"/>
                </a:lnTo>
                <a:lnTo>
                  <a:pt x="480732" y="375638"/>
                </a:lnTo>
                <a:lnTo>
                  <a:pt x="488016" y="373724"/>
                </a:lnTo>
                <a:lnTo>
                  <a:pt x="495300" y="365853"/>
                </a:lnTo>
                <a:lnTo>
                  <a:pt x="502584" y="342467"/>
                </a:lnTo>
                <a:lnTo>
                  <a:pt x="509868" y="293343"/>
                </a:lnTo>
                <a:lnTo>
                  <a:pt x="517151" y="223873"/>
                </a:lnTo>
                <a:lnTo>
                  <a:pt x="524435" y="166896"/>
                </a:lnTo>
                <a:lnTo>
                  <a:pt x="531719" y="161331"/>
                </a:lnTo>
                <a:lnTo>
                  <a:pt x="539003" y="211400"/>
                </a:lnTo>
                <a:lnTo>
                  <a:pt x="546287" y="281741"/>
                </a:lnTo>
                <a:lnTo>
                  <a:pt x="553571" y="335694"/>
                </a:lnTo>
                <a:lnTo>
                  <a:pt x="560854" y="363140"/>
                </a:lnTo>
                <a:lnTo>
                  <a:pt x="568138" y="372952"/>
                </a:lnTo>
                <a:lnTo>
                  <a:pt x="575422" y="375479"/>
                </a:lnTo>
                <a:lnTo>
                  <a:pt x="582706" y="375955"/>
                </a:lnTo>
                <a:lnTo>
                  <a:pt x="589990" y="376020"/>
                </a:lnTo>
                <a:lnTo>
                  <a:pt x="597274" y="376027"/>
                </a:lnTo>
                <a:lnTo>
                  <a:pt x="604557" y="376027"/>
                </a:lnTo>
                <a:lnTo>
                  <a:pt x="611841" y="376027"/>
                </a:lnTo>
                <a:lnTo>
                  <a:pt x="619125" y="376027"/>
                </a:lnTo>
                <a:lnTo>
                  <a:pt x="626409" y="376027"/>
                </a:lnTo>
                <a:lnTo>
                  <a:pt x="633693" y="376027"/>
                </a:lnTo>
                <a:lnTo>
                  <a:pt x="640976" y="376018"/>
                </a:lnTo>
                <a:lnTo>
                  <a:pt x="648260" y="375954"/>
                </a:lnTo>
                <a:lnTo>
                  <a:pt x="655544" y="375573"/>
                </a:lnTo>
                <a:lnTo>
                  <a:pt x="662828" y="373775"/>
                </a:lnTo>
                <a:lnTo>
                  <a:pt x="670112" y="367129"/>
                </a:lnTo>
                <a:lnTo>
                  <a:pt x="677396" y="347981"/>
                </a:lnTo>
                <a:lnTo>
                  <a:pt x="684679" y="305512"/>
                </a:lnTo>
                <a:lnTo>
                  <a:pt x="691963" y="234595"/>
                </a:lnTo>
                <a:lnTo>
                  <a:pt x="699247" y="149730"/>
                </a:lnTo>
                <a:lnTo>
                  <a:pt x="706531" y="87180"/>
                </a:lnTo>
                <a:lnTo>
                  <a:pt x="713815" y="81911"/>
                </a:lnTo>
                <a:lnTo>
                  <a:pt x="721099" y="137119"/>
                </a:lnTo>
                <a:lnTo>
                  <a:pt x="728382" y="221215"/>
                </a:lnTo>
                <a:lnTo>
                  <a:pt x="735666" y="296000"/>
                </a:lnTo>
                <a:lnTo>
                  <a:pt x="742950" y="343026"/>
                </a:lnTo>
                <a:lnTo>
                  <a:pt x="750234" y="365171"/>
                </a:lnTo>
                <a:lnTo>
                  <a:pt x="757518" y="373178"/>
                </a:lnTo>
                <a:lnTo>
                  <a:pt x="764801" y="375431"/>
                </a:lnTo>
                <a:lnTo>
                  <a:pt x="772085" y="375928"/>
                </a:lnTo>
                <a:lnTo>
                  <a:pt x="779369" y="376014"/>
                </a:lnTo>
                <a:lnTo>
                  <a:pt x="786653" y="376026"/>
                </a:lnTo>
                <a:lnTo>
                  <a:pt x="793937" y="376027"/>
                </a:lnTo>
                <a:lnTo>
                  <a:pt x="801221" y="376027"/>
                </a:lnTo>
                <a:lnTo>
                  <a:pt x="808504" y="376027"/>
                </a:lnTo>
                <a:lnTo>
                  <a:pt x="815788" y="376027"/>
                </a:lnTo>
                <a:lnTo>
                  <a:pt x="823072" y="376027"/>
                </a:lnTo>
                <a:lnTo>
                  <a:pt x="830356" y="376027"/>
                </a:lnTo>
                <a:lnTo>
                  <a:pt x="837640" y="376027"/>
                </a:lnTo>
                <a:lnTo>
                  <a:pt x="844924" y="376027"/>
                </a:lnTo>
                <a:lnTo>
                  <a:pt x="852207" y="376027"/>
                </a:lnTo>
                <a:lnTo>
                  <a:pt x="859491" y="376027"/>
                </a:lnTo>
                <a:lnTo>
                  <a:pt x="866775" y="376027"/>
                </a:lnTo>
              </a:path>
            </a:pathLst>
          </a:custGeom>
          <a:noFill/>
          <a:ln w="19050">
            <a:solidFill>
              <a:srgbClr val="397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8" name="Updated Real query">
            <a:extLst>
              <a:ext uri="{FF2B5EF4-FFF2-40B4-BE49-F238E27FC236}">
                <a16:creationId xmlns:a16="http://schemas.microsoft.com/office/drawing/2014/main" id="{D6B49C2C-DAD7-46B0-B134-170E64C65871}"/>
              </a:ext>
            </a:extLst>
          </p:cNvPr>
          <p:cNvSpPr>
            <a:spLocks noGrp="1"/>
          </p:cNvSpPr>
          <p:nvPr/>
        </p:nvSpPr>
        <p:spPr>
          <a:xfrm>
            <a:off x="342900" y="6287285"/>
            <a:ext cx="1190626" cy="2428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76">
                <a:solidFill>
                  <a:srgbClr val="202932"/>
                </a:solidFill>
                <a:latin typeface="Arial"/>
                <a:ea typeface="Arial"/>
                <a:cs typeface="Arial"/>
              </a:rPr>
              <a:t>Real query</a:t>
            </a:r>
          </a:p>
        </p:txBody>
      </p:sp>
      <p:sp>
        <p:nvSpPr>
          <p:cNvPr id="669" name="Freeform 668">
            <a:extLst>
              <a:ext uri="{FF2B5EF4-FFF2-40B4-BE49-F238E27FC236}">
                <a16:creationId xmlns:a16="http://schemas.microsoft.com/office/drawing/2014/main" id="{C78BD89F-F821-45BB-A001-1AA97145B665}"/>
              </a:ext>
            </a:extLst>
          </p:cNvPr>
          <p:cNvSpPr>
            <a:spLocks noGrp="1"/>
          </p:cNvSpPr>
          <p:nvPr/>
        </p:nvSpPr>
        <p:spPr>
          <a:xfrm>
            <a:off x="1381124" y="5992009"/>
            <a:ext cx="342900" cy="95"/>
          </a:xfrm>
          <a:custGeom>
            <a:avLst/>
            <a:gdLst/>
            <a:ahLst/>
            <a:cxnLst/>
            <a:rect l="0" t="0" r="0" b="0"/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7145">
            <a:solidFill>
              <a:srgbClr val="4795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0" name="Freeform 669">
            <a:extLst>
              <a:ext uri="{FF2B5EF4-FFF2-40B4-BE49-F238E27FC236}">
                <a16:creationId xmlns:a16="http://schemas.microsoft.com/office/drawing/2014/main" id="{3E69480B-3092-4599-932A-F96636FAD41A}"/>
              </a:ext>
            </a:extLst>
          </p:cNvPr>
          <p:cNvSpPr>
            <a:spLocks noGrp="1"/>
          </p:cNvSpPr>
          <p:nvPr/>
        </p:nvSpPr>
        <p:spPr>
          <a:xfrm>
            <a:off x="1638300" y="5953909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7957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CA253708-ED1B-4BE1-8980-89932C154CAE}"/>
              </a:ext>
            </a:extLst>
          </p:cNvPr>
          <p:cNvSpPr>
            <a:spLocks noGrp="1"/>
          </p:cNvSpPr>
          <p:nvPr/>
        </p:nvSpPr>
        <p:spPr>
          <a:xfrm>
            <a:off x="1828801" y="5868184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1E549582-1FC0-4FBC-B9A2-E1A01BC63FE4}"/>
              </a:ext>
            </a:extLst>
          </p:cNvPr>
          <p:cNvSpPr>
            <a:spLocks noGrp="1"/>
          </p:cNvSpPr>
          <p:nvPr/>
        </p:nvSpPr>
        <p:spPr>
          <a:xfrm>
            <a:off x="1952625" y="5868184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9F7620B3-45F5-4007-944A-B673102CF5E1}"/>
              </a:ext>
            </a:extLst>
          </p:cNvPr>
          <p:cNvSpPr>
            <a:spLocks noGrp="1"/>
          </p:cNvSpPr>
          <p:nvPr/>
        </p:nvSpPr>
        <p:spPr>
          <a:xfrm>
            <a:off x="2076451" y="5868184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06E266F0-CB8B-4935-94A8-C83288B34F73}"/>
              </a:ext>
            </a:extLst>
          </p:cNvPr>
          <p:cNvSpPr>
            <a:spLocks noGrp="1"/>
          </p:cNvSpPr>
          <p:nvPr/>
        </p:nvSpPr>
        <p:spPr>
          <a:xfrm>
            <a:off x="2200275" y="5868184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3F121E0A-B571-4D85-AF68-FC81B6D7387B}"/>
              </a:ext>
            </a:extLst>
          </p:cNvPr>
          <p:cNvSpPr>
            <a:spLocks noGrp="1"/>
          </p:cNvSpPr>
          <p:nvPr/>
        </p:nvSpPr>
        <p:spPr>
          <a:xfrm>
            <a:off x="2324101" y="5868184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9DE5C3EB-F4AB-42B7-A553-8F87B91FFDBB}"/>
              </a:ext>
            </a:extLst>
          </p:cNvPr>
          <p:cNvSpPr>
            <a:spLocks noGrp="1"/>
          </p:cNvSpPr>
          <p:nvPr/>
        </p:nvSpPr>
        <p:spPr>
          <a:xfrm>
            <a:off x="2447925" y="5868184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7" name="Updated Embedding">
            <a:extLst>
              <a:ext uri="{FF2B5EF4-FFF2-40B4-BE49-F238E27FC236}">
                <a16:creationId xmlns:a16="http://schemas.microsoft.com/office/drawing/2014/main" id="{2AFEF57B-75DE-4F42-9F9A-3A79AF01AD68}"/>
              </a:ext>
            </a:extLst>
          </p:cNvPr>
          <p:cNvSpPr>
            <a:spLocks noGrp="1"/>
          </p:cNvSpPr>
          <p:nvPr/>
        </p:nvSpPr>
        <p:spPr>
          <a:xfrm>
            <a:off x="1733550" y="6287285"/>
            <a:ext cx="1028700" cy="2428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76">
                <a:solidFill>
                  <a:srgbClr val="202932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678" name="Freeform 677">
            <a:extLst>
              <a:ext uri="{FF2B5EF4-FFF2-40B4-BE49-F238E27FC236}">
                <a16:creationId xmlns:a16="http://schemas.microsoft.com/office/drawing/2014/main" id="{50B23089-204F-4F17-8332-B91A06B75229}"/>
              </a:ext>
            </a:extLst>
          </p:cNvPr>
          <p:cNvSpPr>
            <a:spLocks noGrp="1"/>
          </p:cNvSpPr>
          <p:nvPr/>
        </p:nvSpPr>
        <p:spPr>
          <a:xfrm>
            <a:off x="2619376" y="5992009"/>
            <a:ext cx="342900" cy="95"/>
          </a:xfrm>
          <a:custGeom>
            <a:avLst/>
            <a:gdLst/>
            <a:ahLst/>
            <a:cxnLst/>
            <a:rect l="0" t="0" r="0" b="0"/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7145">
            <a:solidFill>
              <a:srgbClr val="4795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9" name="Freeform 678">
            <a:extLst>
              <a:ext uri="{FF2B5EF4-FFF2-40B4-BE49-F238E27FC236}">
                <a16:creationId xmlns:a16="http://schemas.microsoft.com/office/drawing/2014/main" id="{77F8DAC2-026C-4169-8C6F-5960A57DF21B}"/>
              </a:ext>
            </a:extLst>
          </p:cNvPr>
          <p:cNvSpPr>
            <a:spLocks noGrp="1"/>
          </p:cNvSpPr>
          <p:nvPr/>
        </p:nvSpPr>
        <p:spPr>
          <a:xfrm>
            <a:off x="2876550" y="5953909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7957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BFD73A63-146C-459C-BE9E-3BE81E521E3F}"/>
              </a:ext>
            </a:extLst>
          </p:cNvPr>
          <p:cNvSpPr>
            <a:spLocks noGrp="1"/>
          </p:cNvSpPr>
          <p:nvPr/>
        </p:nvSpPr>
        <p:spPr>
          <a:xfrm>
            <a:off x="3048000" y="5687209"/>
            <a:ext cx="161926" cy="1619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3F0605AE-A246-40FC-9BD9-8218157250ED}"/>
              </a:ext>
            </a:extLst>
          </p:cNvPr>
          <p:cNvSpPr>
            <a:spLocks noGrp="1"/>
          </p:cNvSpPr>
          <p:nvPr/>
        </p:nvSpPr>
        <p:spPr>
          <a:xfrm>
            <a:off x="3219450" y="5687209"/>
            <a:ext cx="161926" cy="161926"/>
          </a:xfrm>
          <a:prstGeom prst="rect">
            <a:avLst/>
          </a:prstGeom>
          <a:solidFill>
            <a:srgbClr val="E0E8E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2" name="Freeform 681">
            <a:extLst>
              <a:ext uri="{FF2B5EF4-FFF2-40B4-BE49-F238E27FC236}">
                <a16:creationId xmlns:a16="http://schemas.microsoft.com/office/drawing/2014/main" id="{211EC628-1F5E-40D6-8C92-16D6D56BBCE3}"/>
              </a:ext>
            </a:extLst>
          </p:cNvPr>
          <p:cNvSpPr>
            <a:spLocks noGrp="1"/>
          </p:cNvSpPr>
          <p:nvPr/>
        </p:nvSpPr>
        <p:spPr>
          <a:xfrm>
            <a:off x="3248026" y="5715784"/>
            <a:ext cx="104776" cy="104776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0"/>
                </a:moveTo>
                <a:lnTo>
                  <a:pt x="104775" y="104775"/>
                </a:lnTo>
              </a:path>
            </a:pathLst>
          </a:custGeom>
          <a:noFill/>
          <a:ln w="13335">
            <a:solidFill>
              <a:srgbClr val="8997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1435DAA-EC09-4208-8B77-861840A451A1}"/>
              </a:ext>
            </a:extLst>
          </p:cNvPr>
          <p:cNvSpPr>
            <a:spLocks noGrp="1"/>
          </p:cNvSpPr>
          <p:nvPr/>
        </p:nvSpPr>
        <p:spPr>
          <a:xfrm>
            <a:off x="3390900" y="5687209"/>
            <a:ext cx="161926" cy="161926"/>
          </a:xfrm>
          <a:prstGeom prst="rect">
            <a:avLst/>
          </a:prstGeom>
          <a:solidFill>
            <a:srgbClr val="C78A4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CD0DD5FA-DE8F-4A85-9C1C-C035A3606BA1}"/>
              </a:ext>
            </a:extLst>
          </p:cNvPr>
          <p:cNvSpPr>
            <a:spLocks noGrp="1"/>
          </p:cNvSpPr>
          <p:nvPr/>
        </p:nvSpPr>
        <p:spPr>
          <a:xfrm>
            <a:off x="3562350" y="5687209"/>
            <a:ext cx="161926" cy="161926"/>
          </a:xfrm>
          <a:prstGeom prst="rect">
            <a:avLst/>
          </a:prstGeom>
          <a:solidFill>
            <a:srgbClr val="DFAF78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9FEAFF99-AF64-4141-BE4B-C4368B7F5E58}"/>
              </a:ext>
            </a:extLst>
          </p:cNvPr>
          <p:cNvSpPr>
            <a:spLocks noGrp="1"/>
          </p:cNvSpPr>
          <p:nvPr/>
        </p:nvSpPr>
        <p:spPr>
          <a:xfrm>
            <a:off x="3733800" y="5687209"/>
            <a:ext cx="161926" cy="161926"/>
          </a:xfrm>
          <a:prstGeom prst="rect">
            <a:avLst/>
          </a:prstGeom>
          <a:solidFill>
            <a:srgbClr val="E5C8A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16107D0B-3E2C-4CC6-9BE6-8C7EEE4FB33E}"/>
              </a:ext>
            </a:extLst>
          </p:cNvPr>
          <p:cNvSpPr>
            <a:spLocks noGrp="1"/>
          </p:cNvSpPr>
          <p:nvPr/>
        </p:nvSpPr>
        <p:spPr>
          <a:xfrm>
            <a:off x="3905250" y="568720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6F1923A5-D11A-4254-BC0A-78528FBEC179}"/>
              </a:ext>
            </a:extLst>
          </p:cNvPr>
          <p:cNvSpPr>
            <a:spLocks noGrp="1"/>
          </p:cNvSpPr>
          <p:nvPr/>
        </p:nvSpPr>
        <p:spPr>
          <a:xfrm>
            <a:off x="4076700" y="568720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E6CDF90F-4B85-41B3-90D2-2E3C9EDB291F}"/>
              </a:ext>
            </a:extLst>
          </p:cNvPr>
          <p:cNvSpPr>
            <a:spLocks noGrp="1"/>
          </p:cNvSpPr>
          <p:nvPr/>
        </p:nvSpPr>
        <p:spPr>
          <a:xfrm>
            <a:off x="3048000" y="5858659"/>
            <a:ext cx="161926" cy="1619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FCE18BB0-D682-4940-9AE2-2750CC05E74E}"/>
              </a:ext>
            </a:extLst>
          </p:cNvPr>
          <p:cNvSpPr>
            <a:spLocks noGrp="1"/>
          </p:cNvSpPr>
          <p:nvPr/>
        </p:nvSpPr>
        <p:spPr>
          <a:xfrm>
            <a:off x="3219450" y="5858659"/>
            <a:ext cx="161926" cy="161926"/>
          </a:xfrm>
          <a:prstGeom prst="rect">
            <a:avLst/>
          </a:prstGeom>
          <a:solidFill>
            <a:srgbClr val="E0E8E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0" name="Freeform 689">
            <a:extLst>
              <a:ext uri="{FF2B5EF4-FFF2-40B4-BE49-F238E27FC236}">
                <a16:creationId xmlns:a16="http://schemas.microsoft.com/office/drawing/2014/main" id="{FD42D272-E882-41EC-B2F4-BC1220689F98}"/>
              </a:ext>
            </a:extLst>
          </p:cNvPr>
          <p:cNvSpPr>
            <a:spLocks noGrp="1"/>
          </p:cNvSpPr>
          <p:nvPr/>
        </p:nvSpPr>
        <p:spPr>
          <a:xfrm>
            <a:off x="3248026" y="5887234"/>
            <a:ext cx="104776" cy="104776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0"/>
                </a:moveTo>
                <a:lnTo>
                  <a:pt x="104775" y="104775"/>
                </a:lnTo>
              </a:path>
            </a:pathLst>
          </a:custGeom>
          <a:noFill/>
          <a:ln w="13335">
            <a:solidFill>
              <a:srgbClr val="8997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7D0D3BFA-9B3F-48CE-AA92-59BE9D03F024}"/>
              </a:ext>
            </a:extLst>
          </p:cNvPr>
          <p:cNvSpPr>
            <a:spLocks noGrp="1"/>
          </p:cNvSpPr>
          <p:nvPr/>
        </p:nvSpPr>
        <p:spPr>
          <a:xfrm>
            <a:off x="3390900" y="5858659"/>
            <a:ext cx="161926" cy="161926"/>
          </a:xfrm>
          <a:prstGeom prst="rect">
            <a:avLst/>
          </a:prstGeom>
          <a:solidFill>
            <a:srgbClr val="C78A4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F21D3495-1F8A-4140-BF5B-41833BD165D9}"/>
              </a:ext>
            </a:extLst>
          </p:cNvPr>
          <p:cNvSpPr>
            <a:spLocks noGrp="1"/>
          </p:cNvSpPr>
          <p:nvPr/>
        </p:nvSpPr>
        <p:spPr>
          <a:xfrm>
            <a:off x="3562350" y="5858659"/>
            <a:ext cx="161926" cy="161926"/>
          </a:xfrm>
          <a:prstGeom prst="rect">
            <a:avLst/>
          </a:prstGeom>
          <a:solidFill>
            <a:srgbClr val="DFAF78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3136AA96-0EB3-485E-8C15-876E824BC5D4}"/>
              </a:ext>
            </a:extLst>
          </p:cNvPr>
          <p:cNvSpPr>
            <a:spLocks noGrp="1"/>
          </p:cNvSpPr>
          <p:nvPr/>
        </p:nvSpPr>
        <p:spPr>
          <a:xfrm>
            <a:off x="3733800" y="5858659"/>
            <a:ext cx="161926" cy="161926"/>
          </a:xfrm>
          <a:prstGeom prst="rect">
            <a:avLst/>
          </a:prstGeom>
          <a:solidFill>
            <a:srgbClr val="E5C8A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CD30D8D9-4C39-4A58-BBA1-673D9A6249C7}"/>
              </a:ext>
            </a:extLst>
          </p:cNvPr>
          <p:cNvSpPr>
            <a:spLocks noGrp="1"/>
          </p:cNvSpPr>
          <p:nvPr/>
        </p:nvSpPr>
        <p:spPr>
          <a:xfrm>
            <a:off x="3905250" y="585865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3A4948C9-E000-45FF-8290-42506D06BAE0}"/>
              </a:ext>
            </a:extLst>
          </p:cNvPr>
          <p:cNvSpPr>
            <a:spLocks noGrp="1"/>
          </p:cNvSpPr>
          <p:nvPr/>
        </p:nvSpPr>
        <p:spPr>
          <a:xfrm>
            <a:off x="4076700" y="585865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BB2E91C4-4863-442D-94C0-2C1F8F074B01}"/>
              </a:ext>
            </a:extLst>
          </p:cNvPr>
          <p:cNvSpPr>
            <a:spLocks noGrp="1"/>
          </p:cNvSpPr>
          <p:nvPr/>
        </p:nvSpPr>
        <p:spPr>
          <a:xfrm>
            <a:off x="3048000" y="6030109"/>
            <a:ext cx="161926" cy="1619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CA3779EE-1202-48CC-8499-B40D5F44E44A}"/>
              </a:ext>
            </a:extLst>
          </p:cNvPr>
          <p:cNvSpPr>
            <a:spLocks noGrp="1"/>
          </p:cNvSpPr>
          <p:nvPr/>
        </p:nvSpPr>
        <p:spPr>
          <a:xfrm>
            <a:off x="3219450" y="6030109"/>
            <a:ext cx="161926" cy="161926"/>
          </a:xfrm>
          <a:prstGeom prst="rect">
            <a:avLst/>
          </a:prstGeom>
          <a:solidFill>
            <a:srgbClr val="E0E8E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8" name="Freeform 697">
            <a:extLst>
              <a:ext uri="{FF2B5EF4-FFF2-40B4-BE49-F238E27FC236}">
                <a16:creationId xmlns:a16="http://schemas.microsoft.com/office/drawing/2014/main" id="{53DF03ED-7116-43A6-8516-1DAF777C6627}"/>
              </a:ext>
            </a:extLst>
          </p:cNvPr>
          <p:cNvSpPr>
            <a:spLocks noGrp="1"/>
          </p:cNvSpPr>
          <p:nvPr/>
        </p:nvSpPr>
        <p:spPr>
          <a:xfrm>
            <a:off x="3248026" y="6058684"/>
            <a:ext cx="104776" cy="104776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0"/>
                </a:moveTo>
                <a:lnTo>
                  <a:pt x="104775" y="104775"/>
                </a:lnTo>
              </a:path>
            </a:pathLst>
          </a:custGeom>
          <a:noFill/>
          <a:ln w="13335">
            <a:solidFill>
              <a:srgbClr val="8997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B0EBDEC0-7494-4A43-B4C7-C04BAC1A29F9}"/>
              </a:ext>
            </a:extLst>
          </p:cNvPr>
          <p:cNvSpPr>
            <a:spLocks noGrp="1"/>
          </p:cNvSpPr>
          <p:nvPr/>
        </p:nvSpPr>
        <p:spPr>
          <a:xfrm>
            <a:off x="3390900" y="6030109"/>
            <a:ext cx="161926" cy="161926"/>
          </a:xfrm>
          <a:prstGeom prst="rect">
            <a:avLst/>
          </a:prstGeom>
          <a:solidFill>
            <a:srgbClr val="C78A4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C0E18A7E-6698-4870-B1B7-F3E6B1C42644}"/>
              </a:ext>
            </a:extLst>
          </p:cNvPr>
          <p:cNvSpPr>
            <a:spLocks noGrp="1"/>
          </p:cNvSpPr>
          <p:nvPr/>
        </p:nvSpPr>
        <p:spPr>
          <a:xfrm>
            <a:off x="3562350" y="6030109"/>
            <a:ext cx="161926" cy="161926"/>
          </a:xfrm>
          <a:prstGeom prst="rect">
            <a:avLst/>
          </a:prstGeom>
          <a:solidFill>
            <a:srgbClr val="DFAF78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40A7E8A1-A738-479E-9A96-DBC9882767EA}"/>
              </a:ext>
            </a:extLst>
          </p:cNvPr>
          <p:cNvSpPr>
            <a:spLocks noGrp="1"/>
          </p:cNvSpPr>
          <p:nvPr/>
        </p:nvSpPr>
        <p:spPr>
          <a:xfrm>
            <a:off x="3733800" y="6030109"/>
            <a:ext cx="161926" cy="161926"/>
          </a:xfrm>
          <a:prstGeom prst="rect">
            <a:avLst/>
          </a:prstGeom>
          <a:solidFill>
            <a:srgbClr val="E5C8A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2" name="Rectangle 701">
            <a:extLst>
              <a:ext uri="{FF2B5EF4-FFF2-40B4-BE49-F238E27FC236}">
                <a16:creationId xmlns:a16="http://schemas.microsoft.com/office/drawing/2014/main" id="{E5345076-27BE-4FBF-8200-AE19EF597825}"/>
              </a:ext>
            </a:extLst>
          </p:cNvPr>
          <p:cNvSpPr>
            <a:spLocks noGrp="1"/>
          </p:cNvSpPr>
          <p:nvPr/>
        </p:nvSpPr>
        <p:spPr>
          <a:xfrm>
            <a:off x="3905250" y="603010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57A1731F-2298-466F-8529-1D78D9BF47F6}"/>
              </a:ext>
            </a:extLst>
          </p:cNvPr>
          <p:cNvSpPr>
            <a:spLocks noGrp="1"/>
          </p:cNvSpPr>
          <p:nvPr/>
        </p:nvSpPr>
        <p:spPr>
          <a:xfrm>
            <a:off x="4076700" y="603010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E8AAC515-89B7-42C3-B752-8F6E49F25A98}"/>
              </a:ext>
            </a:extLst>
          </p:cNvPr>
          <p:cNvSpPr>
            <a:spLocks noGrp="1"/>
          </p:cNvSpPr>
          <p:nvPr/>
        </p:nvSpPr>
        <p:spPr>
          <a:xfrm>
            <a:off x="3048000" y="6201559"/>
            <a:ext cx="161926" cy="161926"/>
          </a:xfrm>
          <a:prstGeom prst="rect">
            <a:avLst/>
          </a:prstGeom>
          <a:solidFill>
            <a:srgbClr val="E5EDF4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D5FECB2-A86C-44BC-958E-61B4B15D560C}"/>
              </a:ext>
            </a:extLst>
          </p:cNvPr>
          <p:cNvSpPr>
            <a:spLocks noGrp="1"/>
          </p:cNvSpPr>
          <p:nvPr/>
        </p:nvSpPr>
        <p:spPr>
          <a:xfrm>
            <a:off x="3219450" y="6201559"/>
            <a:ext cx="161926" cy="161926"/>
          </a:xfrm>
          <a:prstGeom prst="rect">
            <a:avLst/>
          </a:prstGeom>
          <a:solidFill>
            <a:srgbClr val="E0E8E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Freeform 705">
            <a:extLst>
              <a:ext uri="{FF2B5EF4-FFF2-40B4-BE49-F238E27FC236}">
                <a16:creationId xmlns:a16="http://schemas.microsoft.com/office/drawing/2014/main" id="{EBD7D40C-B035-4A4E-BB6F-6633EF9279A0}"/>
              </a:ext>
            </a:extLst>
          </p:cNvPr>
          <p:cNvSpPr>
            <a:spLocks noGrp="1"/>
          </p:cNvSpPr>
          <p:nvPr/>
        </p:nvSpPr>
        <p:spPr>
          <a:xfrm>
            <a:off x="3248026" y="6230134"/>
            <a:ext cx="104776" cy="104776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0"/>
                </a:moveTo>
                <a:lnTo>
                  <a:pt x="104775" y="104775"/>
                </a:lnTo>
              </a:path>
            </a:pathLst>
          </a:custGeom>
          <a:noFill/>
          <a:ln w="13335">
            <a:solidFill>
              <a:srgbClr val="8997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E0576814-4CD5-432A-BF55-EEE8C0097BE9}"/>
              </a:ext>
            </a:extLst>
          </p:cNvPr>
          <p:cNvSpPr>
            <a:spLocks noGrp="1"/>
          </p:cNvSpPr>
          <p:nvPr/>
        </p:nvSpPr>
        <p:spPr>
          <a:xfrm>
            <a:off x="3390900" y="6201559"/>
            <a:ext cx="161926" cy="161926"/>
          </a:xfrm>
          <a:prstGeom prst="rect">
            <a:avLst/>
          </a:prstGeom>
          <a:solidFill>
            <a:srgbClr val="C78A4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7F3F117F-5036-43BA-9E91-DCF9D1EEE1B7}"/>
              </a:ext>
            </a:extLst>
          </p:cNvPr>
          <p:cNvSpPr>
            <a:spLocks noGrp="1"/>
          </p:cNvSpPr>
          <p:nvPr/>
        </p:nvSpPr>
        <p:spPr>
          <a:xfrm>
            <a:off x="3562350" y="6201559"/>
            <a:ext cx="161926" cy="161926"/>
          </a:xfrm>
          <a:prstGeom prst="rect">
            <a:avLst/>
          </a:prstGeom>
          <a:solidFill>
            <a:srgbClr val="DFAF78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952FAA2C-9D0F-4CB6-9147-1FB0433550C7}"/>
              </a:ext>
            </a:extLst>
          </p:cNvPr>
          <p:cNvSpPr>
            <a:spLocks noGrp="1"/>
          </p:cNvSpPr>
          <p:nvPr/>
        </p:nvSpPr>
        <p:spPr>
          <a:xfrm>
            <a:off x="3733800" y="6201559"/>
            <a:ext cx="161926" cy="161926"/>
          </a:xfrm>
          <a:prstGeom prst="rect">
            <a:avLst/>
          </a:prstGeom>
          <a:solidFill>
            <a:srgbClr val="E5C8A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CABD3B31-3DBF-4225-96B7-23D066EB72FC}"/>
              </a:ext>
            </a:extLst>
          </p:cNvPr>
          <p:cNvSpPr>
            <a:spLocks noGrp="1"/>
          </p:cNvSpPr>
          <p:nvPr/>
        </p:nvSpPr>
        <p:spPr>
          <a:xfrm>
            <a:off x="3905250" y="620155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C76D4E3E-6491-4655-823D-D8F9C4CFF02A}"/>
              </a:ext>
            </a:extLst>
          </p:cNvPr>
          <p:cNvSpPr>
            <a:spLocks noGrp="1"/>
          </p:cNvSpPr>
          <p:nvPr/>
        </p:nvSpPr>
        <p:spPr>
          <a:xfrm>
            <a:off x="4076700" y="6201559"/>
            <a:ext cx="161926" cy="161926"/>
          </a:xfrm>
          <a:prstGeom prst="rect">
            <a:avLst/>
          </a:prstGeom>
          <a:solidFill>
            <a:srgbClr val="EDF2E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Updated Training ranks">
            <a:extLst>
              <a:ext uri="{FF2B5EF4-FFF2-40B4-BE49-F238E27FC236}">
                <a16:creationId xmlns:a16="http://schemas.microsoft.com/office/drawing/2014/main" id="{01B2108F-BED0-4A94-BDD7-B1AD336B65B5}"/>
              </a:ext>
            </a:extLst>
          </p:cNvPr>
          <p:cNvSpPr>
            <a:spLocks noGrp="1"/>
          </p:cNvSpPr>
          <p:nvPr/>
        </p:nvSpPr>
        <p:spPr>
          <a:xfrm>
            <a:off x="2933701" y="6401584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Training ranks</a:t>
            </a:r>
          </a:p>
        </p:txBody>
      </p:sp>
      <p:sp>
        <p:nvSpPr>
          <p:cNvPr id="713" name="Updated Remove same-identity refs">
            <a:extLst>
              <a:ext uri="{FF2B5EF4-FFF2-40B4-BE49-F238E27FC236}">
                <a16:creationId xmlns:a16="http://schemas.microsoft.com/office/drawing/2014/main" id="{6160E998-7D8C-4C21-AC43-D7EB5E5A9E4B}"/>
              </a:ext>
            </a:extLst>
          </p:cNvPr>
          <p:cNvSpPr>
            <a:spLocks noGrp="1"/>
          </p:cNvSpPr>
          <p:nvPr/>
        </p:nvSpPr>
        <p:spPr>
          <a:xfrm>
            <a:off x="4429126" y="5506234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1">
                <a:solidFill>
                  <a:srgbClr val="4795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9575"/>
                </a:solidFill>
                <a:latin typeface="Arial"/>
                <a:ea typeface="Arial"/>
                <a:cs typeface="Arial"/>
              </a:rPr>
              <a:t>Exclude positives</a:t>
            </a:r>
          </a:p>
        </p:txBody>
      </p:sp>
      <p:sp>
        <p:nvSpPr>
          <p:cNvPr id="714" name="Freeform 713">
            <a:extLst>
              <a:ext uri="{FF2B5EF4-FFF2-40B4-BE49-F238E27FC236}">
                <a16:creationId xmlns:a16="http://schemas.microsoft.com/office/drawing/2014/main" id="{53FA9A48-05B1-457B-8B14-E311A7283387}"/>
              </a:ext>
            </a:extLst>
          </p:cNvPr>
          <p:cNvSpPr>
            <a:spLocks noGrp="1"/>
          </p:cNvSpPr>
          <p:nvPr/>
        </p:nvSpPr>
        <p:spPr>
          <a:xfrm>
            <a:off x="4343401" y="6020585"/>
            <a:ext cx="361950" cy="95"/>
          </a:xfrm>
          <a:custGeom>
            <a:avLst/>
            <a:gdLst/>
            <a:ahLst/>
            <a:cxnLst/>
            <a:rect l="0" t="0" r="0" b="0"/>
            <a:pathLst>
              <a:path w="361950" h="9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17145">
            <a:solidFill>
              <a:srgbClr val="4795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Freeform 714">
            <a:extLst>
              <a:ext uri="{FF2B5EF4-FFF2-40B4-BE49-F238E27FC236}">
                <a16:creationId xmlns:a16="http://schemas.microsoft.com/office/drawing/2014/main" id="{7FA579BE-59BB-4969-993C-067CD9738085}"/>
              </a:ext>
            </a:extLst>
          </p:cNvPr>
          <p:cNvSpPr>
            <a:spLocks noGrp="1"/>
          </p:cNvSpPr>
          <p:nvPr/>
        </p:nvSpPr>
        <p:spPr>
          <a:xfrm>
            <a:off x="4619625" y="598248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7957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62C21CC2-3F31-439B-9A7F-939C22FED11F}"/>
              </a:ext>
            </a:extLst>
          </p:cNvPr>
          <p:cNvSpPr>
            <a:spLocks noGrp="1"/>
          </p:cNvSpPr>
          <p:nvPr/>
        </p:nvSpPr>
        <p:spPr>
          <a:xfrm>
            <a:off x="4857751" y="5896760"/>
            <a:ext cx="95250" cy="247650"/>
          </a:xfrm>
          <a:prstGeom prst="rect">
            <a:avLst/>
          </a:prstGeom>
          <a:solidFill>
            <a:srgbClr val="CC874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41B18B79-7F5A-4B07-B425-9765EAC3F4E5}"/>
              </a:ext>
            </a:extLst>
          </p:cNvPr>
          <p:cNvSpPr>
            <a:spLocks noGrp="1"/>
          </p:cNvSpPr>
          <p:nvPr/>
        </p:nvSpPr>
        <p:spPr>
          <a:xfrm>
            <a:off x="4981576" y="5896760"/>
            <a:ext cx="95250" cy="247650"/>
          </a:xfrm>
          <a:prstGeom prst="rect">
            <a:avLst/>
          </a:prstGeom>
          <a:solidFill>
            <a:srgbClr val="CC874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F7DE6AAC-9B5C-4080-A55F-622B430E1235}"/>
              </a:ext>
            </a:extLst>
          </p:cNvPr>
          <p:cNvSpPr>
            <a:spLocks noGrp="1"/>
          </p:cNvSpPr>
          <p:nvPr/>
        </p:nvSpPr>
        <p:spPr>
          <a:xfrm>
            <a:off x="5105401" y="5896760"/>
            <a:ext cx="95250" cy="247650"/>
          </a:xfrm>
          <a:prstGeom prst="rect">
            <a:avLst/>
          </a:prstGeom>
          <a:solidFill>
            <a:srgbClr val="CC874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724A092E-E957-4F19-9CE4-DF23E10D30C6}"/>
              </a:ext>
            </a:extLst>
          </p:cNvPr>
          <p:cNvSpPr>
            <a:spLocks noGrp="1"/>
          </p:cNvSpPr>
          <p:nvPr/>
        </p:nvSpPr>
        <p:spPr>
          <a:xfrm>
            <a:off x="5229226" y="5896760"/>
            <a:ext cx="95250" cy="247650"/>
          </a:xfrm>
          <a:prstGeom prst="rect">
            <a:avLst/>
          </a:prstGeom>
          <a:solidFill>
            <a:srgbClr val="CC874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A87B65D8-6DBE-4619-8D40-A80303046F9F}"/>
              </a:ext>
            </a:extLst>
          </p:cNvPr>
          <p:cNvSpPr>
            <a:spLocks noGrp="1"/>
          </p:cNvSpPr>
          <p:nvPr/>
        </p:nvSpPr>
        <p:spPr>
          <a:xfrm>
            <a:off x="5353051" y="5896760"/>
            <a:ext cx="95250" cy="247650"/>
          </a:xfrm>
          <a:prstGeom prst="rect">
            <a:avLst/>
          </a:prstGeom>
          <a:solidFill>
            <a:srgbClr val="CC874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Freeform 720">
            <a:extLst>
              <a:ext uri="{FF2B5EF4-FFF2-40B4-BE49-F238E27FC236}">
                <a16:creationId xmlns:a16="http://schemas.microsoft.com/office/drawing/2014/main" id="{53D71FA7-6485-4E3A-8DA7-104C1A10B65B}"/>
              </a:ext>
            </a:extLst>
          </p:cNvPr>
          <p:cNvSpPr>
            <a:spLocks noGrp="1"/>
          </p:cNvSpPr>
          <p:nvPr/>
        </p:nvSpPr>
        <p:spPr>
          <a:xfrm>
            <a:off x="5505451" y="6020585"/>
            <a:ext cx="400050" cy="95"/>
          </a:xfrm>
          <a:custGeom>
            <a:avLst/>
            <a:gdLst/>
            <a:ahLst/>
            <a:cxnLst/>
            <a:rect l="0" t="0" r="0" b="0"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7145">
            <a:solidFill>
              <a:srgbClr val="4795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Freeform 721">
            <a:extLst>
              <a:ext uri="{FF2B5EF4-FFF2-40B4-BE49-F238E27FC236}">
                <a16:creationId xmlns:a16="http://schemas.microsoft.com/office/drawing/2014/main" id="{08207A1F-735E-49F1-973C-490FE8880B88}"/>
              </a:ext>
            </a:extLst>
          </p:cNvPr>
          <p:cNvSpPr>
            <a:spLocks noGrp="1"/>
          </p:cNvSpPr>
          <p:nvPr/>
        </p:nvSpPr>
        <p:spPr>
          <a:xfrm>
            <a:off x="5819775" y="5982484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7957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23" name="Rounded Rectangle 722">
            <a:extLst>
              <a:ext uri="{FF2B5EF4-FFF2-40B4-BE49-F238E27FC236}">
                <a16:creationId xmlns:a16="http://schemas.microsoft.com/office/drawing/2014/main" id="{6B584700-C7BB-4B92-A9E9-7CB4DD07F0E9}"/>
              </a:ext>
            </a:extLst>
          </p:cNvPr>
          <p:cNvSpPr>
            <a:spLocks noGrp="1"/>
          </p:cNvSpPr>
          <p:nvPr/>
        </p:nvSpPr>
        <p:spPr>
          <a:xfrm>
            <a:off x="6029326" y="5744360"/>
            <a:ext cx="1276350" cy="649917"/>
          </a:xfrm>
          <a:prstGeom prst="roundRect">
            <a:avLst>
              <a:gd name="adj" fmla="val 9091"/>
            </a:avLst>
          </a:prstGeom>
          <a:solidFill>
            <a:srgbClr val="EAF4EC"/>
          </a:solidFill>
          <a:ln w="12383">
            <a:solidFill>
              <a:srgbClr val="9DBBA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4" name="Updated Sample one">
            <a:extLst>
              <a:ext uri="{FF2B5EF4-FFF2-40B4-BE49-F238E27FC236}">
                <a16:creationId xmlns:a16="http://schemas.microsoft.com/office/drawing/2014/main" id="{AE3AC984-2B18-4BE4-A481-A02F1750109A}"/>
              </a:ext>
            </a:extLst>
          </p:cNvPr>
          <p:cNvSpPr>
            <a:spLocks noGrp="1"/>
          </p:cNvSpPr>
          <p:nvPr/>
        </p:nvSpPr>
        <p:spPr>
          <a:xfrm>
            <a:off x="6115050" y="5801509"/>
            <a:ext cx="1152526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1">
                <a:solidFill>
                  <a:srgbClr val="4795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9575"/>
                </a:solidFill>
                <a:latin typeface="Arial"/>
                <a:ea typeface="Arial"/>
                <a:cs typeface="Arial"/>
              </a:rPr>
              <a:t>Sample one</a:t>
            </a:r>
          </a:p>
        </p:txBody>
      </p:sp>
      <p:sp>
        <p:nvSpPr>
          <p:cNvPr id="725" name="Updated Top-16 errors">
            <a:extLst>
              <a:ext uri="{FF2B5EF4-FFF2-40B4-BE49-F238E27FC236}">
                <a16:creationId xmlns:a16="http://schemas.microsoft.com/office/drawing/2014/main" id="{A58ABC3A-6A05-44D9-87B5-8606323B18C3}"/>
              </a:ext>
            </a:extLst>
          </p:cNvPr>
          <p:cNvSpPr>
            <a:spLocks noGrp="1"/>
          </p:cNvSpPr>
          <p:nvPr/>
        </p:nvSpPr>
        <p:spPr>
          <a:xfrm>
            <a:off x="6096000" y="6030109"/>
            <a:ext cx="1181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932"/>
                </a:solidFill>
                <a:latin typeface="Arial"/>
                <a:ea typeface="Arial"/>
                <a:cs typeface="Arial"/>
              </a:rPr>
              <a:t>Top-16 errors</a:t>
            </a:r>
          </a:p>
        </p:txBody>
      </p:sp>
      <p:sp>
        <p:nvSpPr>
          <p:cNvPr id="729" name="Updated Spectrum + mask">
            <a:extLst>
              <a:ext uri="{FF2B5EF4-FFF2-40B4-BE49-F238E27FC236}">
                <a16:creationId xmlns:a16="http://schemas.microsoft.com/office/drawing/2014/main" id="{7E2B6890-1F90-4332-8631-241C9C5FED28}"/>
              </a:ext>
            </a:extLst>
          </p:cNvPr>
          <p:cNvSpPr>
            <a:spLocks noGrp="1"/>
          </p:cNvSpPr>
          <p:nvPr/>
        </p:nvSpPr>
        <p:spPr>
          <a:xfrm>
            <a:off x="7981950" y="5501950"/>
            <a:ext cx="1933576" cy="25717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CC87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C8740"/>
                </a:solidFill>
                <a:latin typeface="Arial"/>
                <a:ea typeface="Arial"/>
                <a:cs typeface="Arial"/>
              </a:rPr>
              <a:t>Spectrum + mask</a:t>
            </a:r>
          </a:p>
        </p:txBody>
      </p:sp>
      <p:sp>
        <p:nvSpPr>
          <p:cNvPr id="730" name="Rounded Rectangle 729">
            <a:extLst>
              <a:ext uri="{FF2B5EF4-FFF2-40B4-BE49-F238E27FC236}">
                <a16:creationId xmlns:a16="http://schemas.microsoft.com/office/drawing/2014/main" id="{EE9A26A7-8A99-4754-B369-1C6A3624A73D}"/>
              </a:ext>
            </a:extLst>
          </p:cNvPr>
          <p:cNvSpPr>
            <a:spLocks noGrp="1"/>
          </p:cNvSpPr>
          <p:nvPr/>
        </p:nvSpPr>
        <p:spPr>
          <a:xfrm>
            <a:off x="7972425" y="5892476"/>
            <a:ext cx="1762126" cy="523876"/>
          </a:xfrm>
          <a:prstGeom prst="roundRect">
            <a:avLst>
              <a:gd name="adj" fmla="val 9091"/>
            </a:avLst>
          </a:prstGeom>
          <a:solidFill>
            <a:srgbClr val="F0F7FD"/>
          </a:solidFill>
          <a:ln w="12383">
            <a:solidFill>
              <a:srgbClr val="ABC6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1" name="Freeform 730">
            <a:extLst>
              <a:ext uri="{FF2B5EF4-FFF2-40B4-BE49-F238E27FC236}">
                <a16:creationId xmlns:a16="http://schemas.microsoft.com/office/drawing/2014/main" id="{976E8149-04CE-4D8E-A128-DB5389859345}"/>
              </a:ext>
            </a:extLst>
          </p:cNvPr>
          <p:cNvSpPr>
            <a:spLocks noGrp="1"/>
          </p:cNvSpPr>
          <p:nvPr/>
        </p:nvSpPr>
        <p:spPr>
          <a:xfrm>
            <a:off x="8020050" y="5964694"/>
            <a:ext cx="1666876" cy="384981"/>
          </a:xfrm>
          <a:custGeom>
            <a:avLst/>
            <a:gdLst/>
            <a:ahLst/>
            <a:cxnLst/>
            <a:rect l="0" t="0" r="0" b="0"/>
            <a:pathLst>
              <a:path w="1666875" h="384981">
                <a:moveTo>
                  <a:pt x="0" y="384981"/>
                </a:moveTo>
                <a:lnTo>
                  <a:pt x="14007" y="384981"/>
                </a:lnTo>
                <a:lnTo>
                  <a:pt x="28015" y="384981"/>
                </a:lnTo>
                <a:lnTo>
                  <a:pt x="42022" y="384981"/>
                </a:lnTo>
                <a:lnTo>
                  <a:pt x="56029" y="384981"/>
                </a:lnTo>
                <a:lnTo>
                  <a:pt x="70037" y="384981"/>
                </a:lnTo>
                <a:lnTo>
                  <a:pt x="84044" y="384981"/>
                </a:lnTo>
                <a:lnTo>
                  <a:pt x="98051" y="384981"/>
                </a:lnTo>
                <a:lnTo>
                  <a:pt x="112059" y="384980"/>
                </a:lnTo>
                <a:lnTo>
                  <a:pt x="126066" y="384976"/>
                </a:lnTo>
                <a:lnTo>
                  <a:pt x="140074" y="384937"/>
                </a:lnTo>
                <a:lnTo>
                  <a:pt x="154081" y="384669"/>
                </a:lnTo>
                <a:lnTo>
                  <a:pt x="168088" y="383281"/>
                </a:lnTo>
                <a:lnTo>
                  <a:pt x="182096" y="377890"/>
                </a:lnTo>
                <a:lnTo>
                  <a:pt x="196103" y="362330"/>
                </a:lnTo>
                <a:lnTo>
                  <a:pt x="210110" y="329582"/>
                </a:lnTo>
                <a:lnTo>
                  <a:pt x="224118" y="281233"/>
                </a:lnTo>
                <a:lnTo>
                  <a:pt x="238125" y="236213"/>
                </a:lnTo>
                <a:lnTo>
                  <a:pt x="252132" y="221642"/>
                </a:lnTo>
                <a:lnTo>
                  <a:pt x="266140" y="247664"/>
                </a:lnTo>
                <a:lnTo>
                  <a:pt x="280147" y="296590"/>
                </a:lnTo>
                <a:lnTo>
                  <a:pt x="294154" y="341415"/>
                </a:lnTo>
                <a:lnTo>
                  <a:pt x="308162" y="368539"/>
                </a:lnTo>
                <a:lnTo>
                  <a:pt x="322169" y="380230"/>
                </a:lnTo>
                <a:lnTo>
                  <a:pt x="336176" y="383929"/>
                </a:lnTo>
                <a:lnTo>
                  <a:pt x="350184" y="384802"/>
                </a:lnTo>
                <a:lnTo>
                  <a:pt x="364191" y="384957"/>
                </a:lnTo>
                <a:lnTo>
                  <a:pt x="378199" y="384978"/>
                </a:lnTo>
                <a:lnTo>
                  <a:pt x="392206" y="384980"/>
                </a:lnTo>
                <a:lnTo>
                  <a:pt x="406213" y="384980"/>
                </a:lnTo>
                <a:lnTo>
                  <a:pt x="420221" y="384976"/>
                </a:lnTo>
                <a:lnTo>
                  <a:pt x="434228" y="384959"/>
                </a:lnTo>
                <a:lnTo>
                  <a:pt x="448235" y="384889"/>
                </a:lnTo>
                <a:lnTo>
                  <a:pt x="462243" y="384634"/>
                </a:lnTo>
                <a:lnTo>
                  <a:pt x="476250" y="383814"/>
                </a:lnTo>
                <a:lnTo>
                  <a:pt x="490257" y="381481"/>
                </a:lnTo>
                <a:lnTo>
                  <a:pt x="504265" y="375623"/>
                </a:lnTo>
                <a:lnTo>
                  <a:pt x="518272" y="362686"/>
                </a:lnTo>
                <a:lnTo>
                  <a:pt x="532279" y="337649"/>
                </a:lnTo>
                <a:lnTo>
                  <a:pt x="546287" y="295435"/>
                </a:lnTo>
                <a:lnTo>
                  <a:pt x="560294" y="234020"/>
                </a:lnTo>
                <a:lnTo>
                  <a:pt x="574301" y="158196"/>
                </a:lnTo>
                <a:lnTo>
                  <a:pt x="588309" y="81387"/>
                </a:lnTo>
                <a:lnTo>
                  <a:pt x="602316" y="22820"/>
                </a:lnTo>
                <a:lnTo>
                  <a:pt x="616324" y="0"/>
                </a:lnTo>
                <a:lnTo>
                  <a:pt x="630331" y="20306"/>
                </a:lnTo>
                <a:lnTo>
                  <a:pt x="644338" y="77157"/>
                </a:lnTo>
                <a:lnTo>
                  <a:pt x="658346" y="153440"/>
                </a:lnTo>
                <a:lnTo>
                  <a:pt x="672353" y="229784"/>
                </a:lnTo>
                <a:lnTo>
                  <a:pt x="686360" y="292284"/>
                </a:lnTo>
                <a:lnTo>
                  <a:pt x="700368" y="335643"/>
                </a:lnTo>
                <a:lnTo>
                  <a:pt x="714375" y="361580"/>
                </a:lnTo>
                <a:lnTo>
                  <a:pt x="728382" y="375091"/>
                </a:lnTo>
                <a:lnTo>
                  <a:pt x="742390" y="381256"/>
                </a:lnTo>
                <a:lnTo>
                  <a:pt x="756397" y="383730"/>
                </a:lnTo>
                <a:lnTo>
                  <a:pt x="770404" y="384607"/>
                </a:lnTo>
                <a:lnTo>
                  <a:pt x="784412" y="384881"/>
                </a:lnTo>
                <a:lnTo>
                  <a:pt x="798419" y="384957"/>
                </a:lnTo>
                <a:lnTo>
                  <a:pt x="812426" y="384976"/>
                </a:lnTo>
                <a:lnTo>
                  <a:pt x="826434" y="384980"/>
                </a:lnTo>
                <a:lnTo>
                  <a:pt x="840441" y="384980"/>
                </a:lnTo>
                <a:lnTo>
                  <a:pt x="854449" y="384981"/>
                </a:lnTo>
                <a:lnTo>
                  <a:pt x="868456" y="384981"/>
                </a:lnTo>
                <a:lnTo>
                  <a:pt x="882463" y="384980"/>
                </a:lnTo>
                <a:lnTo>
                  <a:pt x="896471" y="384976"/>
                </a:lnTo>
                <a:lnTo>
                  <a:pt x="910478" y="384930"/>
                </a:lnTo>
                <a:lnTo>
                  <a:pt x="924485" y="384582"/>
                </a:lnTo>
                <a:lnTo>
                  <a:pt x="938493" y="382622"/>
                </a:lnTo>
                <a:lnTo>
                  <a:pt x="952500" y="374564"/>
                </a:lnTo>
                <a:lnTo>
                  <a:pt x="966507" y="350621"/>
                </a:lnTo>
                <a:lnTo>
                  <a:pt x="980515" y="300328"/>
                </a:lnTo>
                <a:lnTo>
                  <a:pt x="994522" y="229203"/>
                </a:lnTo>
                <a:lnTo>
                  <a:pt x="1008529" y="170870"/>
                </a:lnTo>
                <a:lnTo>
                  <a:pt x="1022537" y="165172"/>
                </a:lnTo>
                <a:lnTo>
                  <a:pt x="1036544" y="216433"/>
                </a:lnTo>
                <a:lnTo>
                  <a:pt x="1050551" y="288449"/>
                </a:lnTo>
                <a:lnTo>
                  <a:pt x="1064559" y="343686"/>
                </a:lnTo>
                <a:lnTo>
                  <a:pt x="1078566" y="371786"/>
                </a:lnTo>
                <a:lnTo>
                  <a:pt x="1092574" y="381832"/>
                </a:lnTo>
                <a:lnTo>
                  <a:pt x="1106581" y="384419"/>
                </a:lnTo>
                <a:lnTo>
                  <a:pt x="1120588" y="384906"/>
                </a:lnTo>
                <a:lnTo>
                  <a:pt x="1134596" y="384973"/>
                </a:lnTo>
                <a:lnTo>
                  <a:pt x="1148603" y="384980"/>
                </a:lnTo>
                <a:lnTo>
                  <a:pt x="1162610" y="384980"/>
                </a:lnTo>
                <a:lnTo>
                  <a:pt x="1176618" y="384981"/>
                </a:lnTo>
                <a:lnTo>
                  <a:pt x="1190625" y="384981"/>
                </a:lnTo>
                <a:lnTo>
                  <a:pt x="1204632" y="384980"/>
                </a:lnTo>
                <a:lnTo>
                  <a:pt x="1218640" y="384980"/>
                </a:lnTo>
                <a:lnTo>
                  <a:pt x="1232647" y="384971"/>
                </a:lnTo>
                <a:lnTo>
                  <a:pt x="1246654" y="384906"/>
                </a:lnTo>
                <a:lnTo>
                  <a:pt x="1260662" y="384515"/>
                </a:lnTo>
                <a:lnTo>
                  <a:pt x="1274669" y="382674"/>
                </a:lnTo>
                <a:lnTo>
                  <a:pt x="1288676" y="375870"/>
                </a:lnTo>
                <a:lnTo>
                  <a:pt x="1302684" y="356266"/>
                </a:lnTo>
                <a:lnTo>
                  <a:pt x="1316691" y="312786"/>
                </a:lnTo>
                <a:lnTo>
                  <a:pt x="1330699" y="240180"/>
                </a:lnTo>
                <a:lnTo>
                  <a:pt x="1344706" y="153296"/>
                </a:lnTo>
                <a:lnTo>
                  <a:pt x="1358713" y="89256"/>
                </a:lnTo>
                <a:lnTo>
                  <a:pt x="1372721" y="83861"/>
                </a:lnTo>
                <a:lnTo>
                  <a:pt x="1386728" y="140383"/>
                </a:lnTo>
                <a:lnTo>
                  <a:pt x="1400735" y="226482"/>
                </a:lnTo>
                <a:lnTo>
                  <a:pt x="1414743" y="303047"/>
                </a:lnTo>
                <a:lnTo>
                  <a:pt x="1428750" y="351193"/>
                </a:lnTo>
                <a:lnTo>
                  <a:pt x="1442757" y="373865"/>
                </a:lnTo>
                <a:lnTo>
                  <a:pt x="1456765" y="382064"/>
                </a:lnTo>
                <a:lnTo>
                  <a:pt x="1470772" y="384370"/>
                </a:lnTo>
                <a:lnTo>
                  <a:pt x="1484779" y="384879"/>
                </a:lnTo>
                <a:lnTo>
                  <a:pt x="1498787" y="384967"/>
                </a:lnTo>
                <a:lnTo>
                  <a:pt x="1512794" y="384979"/>
                </a:lnTo>
                <a:lnTo>
                  <a:pt x="1526801" y="384980"/>
                </a:lnTo>
                <a:lnTo>
                  <a:pt x="1540809" y="384981"/>
                </a:lnTo>
                <a:lnTo>
                  <a:pt x="1554816" y="384981"/>
                </a:lnTo>
                <a:lnTo>
                  <a:pt x="1568824" y="384981"/>
                </a:lnTo>
                <a:lnTo>
                  <a:pt x="1582831" y="384981"/>
                </a:lnTo>
                <a:lnTo>
                  <a:pt x="1596838" y="384981"/>
                </a:lnTo>
                <a:lnTo>
                  <a:pt x="1610846" y="384981"/>
                </a:lnTo>
                <a:lnTo>
                  <a:pt x="1624853" y="384981"/>
                </a:lnTo>
                <a:lnTo>
                  <a:pt x="1638860" y="384981"/>
                </a:lnTo>
                <a:lnTo>
                  <a:pt x="1652868" y="384981"/>
                </a:lnTo>
                <a:lnTo>
                  <a:pt x="1666875" y="384981"/>
                </a:lnTo>
              </a:path>
            </a:pathLst>
          </a:custGeom>
          <a:noFill/>
          <a:ln w="19050">
            <a:solidFill>
              <a:srgbClr val="397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F6350AE4-395D-44CE-AC8B-03DEAF68A485}"/>
              </a:ext>
            </a:extLst>
          </p:cNvPr>
          <p:cNvSpPr>
            <a:spLocks noGrp="1"/>
          </p:cNvSpPr>
          <p:nvPr/>
        </p:nvSpPr>
        <p:spPr>
          <a:xfrm>
            <a:off x="8439150" y="5832063"/>
            <a:ext cx="381000" cy="647700"/>
          </a:xfrm>
          <a:prstGeom prst="rect">
            <a:avLst/>
          </a:prstGeom>
          <a:solidFill>
            <a:srgbClr val="E9EDF0"/>
          </a:solidFill>
          <a:ln w="12383">
            <a:solidFill>
              <a:srgbClr val="CAD1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3" name="Updated Gray = unmeasured">
            <a:extLst>
              <a:ext uri="{FF2B5EF4-FFF2-40B4-BE49-F238E27FC236}">
                <a16:creationId xmlns:a16="http://schemas.microsoft.com/office/drawing/2014/main" id="{2546210F-B05B-4579-BEDD-2FC0AE67DAC0}"/>
              </a:ext>
            </a:extLst>
          </p:cNvPr>
          <p:cNvSpPr>
            <a:spLocks noGrp="1"/>
          </p:cNvSpPr>
          <p:nvPr/>
        </p:nvSpPr>
        <p:spPr>
          <a:xfrm>
            <a:off x="8096251" y="6479763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chemeClr val="bg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unmeasured</a:t>
            </a:r>
          </a:p>
        </p:txBody>
      </p:sp>
      <p:sp>
        <p:nvSpPr>
          <p:cNvPr id="734" name="Freeform 733">
            <a:extLst>
              <a:ext uri="{FF2B5EF4-FFF2-40B4-BE49-F238E27FC236}">
                <a16:creationId xmlns:a16="http://schemas.microsoft.com/office/drawing/2014/main" id="{052A9375-2BE8-401B-B241-1269F8888048}"/>
              </a:ext>
            </a:extLst>
          </p:cNvPr>
          <p:cNvSpPr>
            <a:spLocks noGrp="1"/>
          </p:cNvSpPr>
          <p:nvPr/>
        </p:nvSpPr>
        <p:spPr>
          <a:xfrm>
            <a:off x="9810751" y="6121075"/>
            <a:ext cx="323850" cy="95"/>
          </a:xfrm>
          <a:custGeom>
            <a:avLst/>
            <a:gdLst/>
            <a:ahLst/>
            <a:cxnLst/>
            <a:rect l="0" t="0" r="0" b="0"/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17145">
            <a:solidFill>
              <a:srgbClr val="CC87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5" name="Freeform 734">
            <a:extLst>
              <a:ext uri="{FF2B5EF4-FFF2-40B4-BE49-F238E27FC236}">
                <a16:creationId xmlns:a16="http://schemas.microsoft.com/office/drawing/2014/main" id="{11CECAB6-8F7E-4177-A821-4867B7201DD9}"/>
              </a:ext>
            </a:extLst>
          </p:cNvPr>
          <p:cNvSpPr>
            <a:spLocks noGrp="1"/>
          </p:cNvSpPr>
          <p:nvPr/>
        </p:nvSpPr>
        <p:spPr>
          <a:xfrm>
            <a:off x="10048875" y="6082975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C874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36" name="Rounded Rectangle 735">
            <a:extLst>
              <a:ext uri="{FF2B5EF4-FFF2-40B4-BE49-F238E27FC236}">
                <a16:creationId xmlns:a16="http://schemas.microsoft.com/office/drawing/2014/main" id="{895F06A0-050F-4AB7-9AD4-515789E5F836}"/>
              </a:ext>
            </a:extLst>
          </p:cNvPr>
          <p:cNvSpPr>
            <a:spLocks noGrp="1"/>
          </p:cNvSpPr>
          <p:nvPr/>
        </p:nvSpPr>
        <p:spPr>
          <a:xfrm>
            <a:off x="10267951" y="5625775"/>
            <a:ext cx="1809750" cy="457200"/>
          </a:xfrm>
          <a:prstGeom prst="roundRect">
            <a:avLst>
              <a:gd name="adj" fmla="val 10417"/>
            </a:avLst>
          </a:prstGeom>
          <a:solidFill>
            <a:srgbClr val="E5F0FA"/>
          </a:solidFill>
          <a:ln w="12383">
            <a:solidFill>
              <a:srgbClr val="397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7" name="Updated Valid-bin norm">
            <a:extLst>
              <a:ext uri="{FF2B5EF4-FFF2-40B4-BE49-F238E27FC236}">
                <a16:creationId xmlns:a16="http://schemas.microsoft.com/office/drawing/2014/main" id="{661FC21D-2EB1-4A4C-A379-39C7B15BF1A7}"/>
              </a:ext>
            </a:extLst>
          </p:cNvPr>
          <p:cNvSpPr>
            <a:spLocks noGrp="1"/>
          </p:cNvSpPr>
          <p:nvPr/>
        </p:nvSpPr>
        <p:spPr>
          <a:xfrm>
            <a:off x="10372726" y="5721026"/>
            <a:ext cx="1628776" cy="2428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76">
                <a:solidFill>
                  <a:srgbClr val="202932"/>
                </a:solidFill>
                <a:latin typeface="Arial"/>
                <a:ea typeface="Arial"/>
                <a:cs typeface="Arial"/>
              </a:rPr>
              <a:t>Valid-bin norm</a:t>
            </a:r>
          </a:p>
        </p:txBody>
      </p:sp>
      <p:sp>
        <p:nvSpPr>
          <p:cNvPr id="738" name="Rounded Rectangle 737">
            <a:extLst>
              <a:ext uri="{FF2B5EF4-FFF2-40B4-BE49-F238E27FC236}">
                <a16:creationId xmlns:a16="http://schemas.microsoft.com/office/drawing/2014/main" id="{64B45D96-6B7E-4D63-804F-24202EC8BAD3}"/>
              </a:ext>
            </a:extLst>
          </p:cNvPr>
          <p:cNvSpPr>
            <a:spLocks noGrp="1"/>
          </p:cNvSpPr>
          <p:nvPr/>
        </p:nvSpPr>
        <p:spPr>
          <a:xfrm>
            <a:off x="10267951" y="6168700"/>
            <a:ext cx="1809750" cy="457200"/>
          </a:xfrm>
          <a:prstGeom prst="roundRect">
            <a:avLst>
              <a:gd name="adj" fmla="val 10417"/>
            </a:avLst>
          </a:prstGeom>
          <a:solidFill>
            <a:srgbClr val="E5F0FA"/>
          </a:solidFill>
          <a:ln w="12383">
            <a:solidFill>
              <a:srgbClr val="397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9" name="Updated Patch masking">
            <a:extLst>
              <a:ext uri="{FF2B5EF4-FFF2-40B4-BE49-F238E27FC236}">
                <a16:creationId xmlns:a16="http://schemas.microsoft.com/office/drawing/2014/main" id="{7442CB4A-046D-47B3-AE3C-EC5E1D65099E}"/>
              </a:ext>
            </a:extLst>
          </p:cNvPr>
          <p:cNvSpPr>
            <a:spLocks noGrp="1"/>
          </p:cNvSpPr>
          <p:nvPr/>
        </p:nvSpPr>
        <p:spPr>
          <a:xfrm>
            <a:off x="10382251" y="6273476"/>
            <a:ext cx="1619250" cy="2428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76">
                <a:solidFill>
                  <a:srgbClr val="202932"/>
                </a:solidFill>
                <a:latin typeface="Arial"/>
                <a:ea typeface="Arial"/>
                <a:cs typeface="Arial"/>
              </a:rPr>
              <a:t>Patch masking</a:t>
            </a:r>
          </a:p>
        </p:txBody>
      </p:sp>
      <p:sp>
        <p:nvSpPr>
          <p:cNvPr id="740" name="Freeform 739">
            <a:extLst>
              <a:ext uri="{FF2B5EF4-FFF2-40B4-BE49-F238E27FC236}">
                <a16:creationId xmlns:a16="http://schemas.microsoft.com/office/drawing/2014/main" id="{F5D88F8D-DE42-4920-8E52-2A4D1BEE4C12}"/>
              </a:ext>
            </a:extLst>
          </p:cNvPr>
          <p:cNvSpPr>
            <a:spLocks noGrp="1"/>
          </p:cNvSpPr>
          <p:nvPr/>
        </p:nvSpPr>
        <p:spPr>
          <a:xfrm>
            <a:off x="11172825" y="6102025"/>
            <a:ext cx="95" cy="152400"/>
          </a:xfrm>
          <a:custGeom>
            <a:avLst/>
            <a:gdLst/>
            <a:ahLst/>
            <a:cxnLst/>
            <a:rect l="0" t="0" r="0" b="0"/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7145">
            <a:solidFill>
              <a:srgbClr val="CC87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1" name="Freeform 740">
            <a:extLst>
              <a:ext uri="{FF2B5EF4-FFF2-40B4-BE49-F238E27FC236}">
                <a16:creationId xmlns:a16="http://schemas.microsoft.com/office/drawing/2014/main" id="{E44C843C-3CBA-43AD-AA04-82E1273763A0}"/>
              </a:ext>
            </a:extLst>
          </p:cNvPr>
          <p:cNvSpPr>
            <a:spLocks noGrp="1"/>
          </p:cNvSpPr>
          <p:nvPr/>
        </p:nvSpPr>
        <p:spPr>
          <a:xfrm>
            <a:off x="11134726" y="6168700"/>
            <a:ext cx="76200" cy="85726"/>
          </a:xfrm>
          <a:custGeom>
            <a:avLst/>
            <a:gdLst/>
            <a:ahLst/>
            <a:cxnLst/>
            <a:rect l="0" t="0" r="0" b="0"/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874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42" name="Freeform 741">
            <a:extLst>
              <a:ext uri="{FF2B5EF4-FFF2-40B4-BE49-F238E27FC236}">
                <a16:creationId xmlns:a16="http://schemas.microsoft.com/office/drawing/2014/main" id="{AA8AF9C7-AD61-4EFE-8830-4E67849D619D}"/>
              </a:ext>
            </a:extLst>
          </p:cNvPr>
          <p:cNvSpPr>
            <a:spLocks noGrp="1"/>
          </p:cNvSpPr>
          <p:nvPr/>
        </p:nvSpPr>
        <p:spPr>
          <a:xfrm>
            <a:off x="12192000" y="6397301"/>
            <a:ext cx="314326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7145">
            <a:solidFill>
              <a:srgbClr val="CC87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3" name="Freeform 742">
            <a:extLst>
              <a:ext uri="{FF2B5EF4-FFF2-40B4-BE49-F238E27FC236}">
                <a16:creationId xmlns:a16="http://schemas.microsoft.com/office/drawing/2014/main" id="{D55678D3-47BB-4C9F-8339-730FB2CDD0E1}"/>
              </a:ext>
            </a:extLst>
          </p:cNvPr>
          <p:cNvSpPr>
            <a:spLocks noGrp="1"/>
          </p:cNvSpPr>
          <p:nvPr/>
        </p:nvSpPr>
        <p:spPr>
          <a:xfrm>
            <a:off x="12420600" y="6359200"/>
            <a:ext cx="85726" cy="76200"/>
          </a:xfrm>
          <a:custGeom>
            <a:avLst/>
            <a:gdLst/>
            <a:ahLst/>
            <a:cxnLst/>
            <a:rect l="0" t="0" r="0" b="0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C874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08C0D96C-C3EC-48F7-B0B9-E88C002ACDA3}"/>
              </a:ext>
            </a:extLst>
          </p:cNvPr>
          <p:cNvSpPr>
            <a:spLocks noGrp="1"/>
          </p:cNvSpPr>
          <p:nvPr/>
        </p:nvSpPr>
        <p:spPr>
          <a:xfrm>
            <a:off x="12639676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9B3730DA-4833-4EA7-A14D-D305ABB89B48}"/>
              </a:ext>
            </a:extLst>
          </p:cNvPr>
          <p:cNvSpPr>
            <a:spLocks noGrp="1"/>
          </p:cNvSpPr>
          <p:nvPr/>
        </p:nvSpPr>
        <p:spPr>
          <a:xfrm>
            <a:off x="12763501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6" name="Rectangle 745">
            <a:extLst>
              <a:ext uri="{FF2B5EF4-FFF2-40B4-BE49-F238E27FC236}">
                <a16:creationId xmlns:a16="http://schemas.microsoft.com/office/drawing/2014/main" id="{4E38331F-4850-48A1-87D6-CFE7AD3E7A7B}"/>
              </a:ext>
            </a:extLst>
          </p:cNvPr>
          <p:cNvSpPr>
            <a:spLocks noGrp="1"/>
          </p:cNvSpPr>
          <p:nvPr/>
        </p:nvSpPr>
        <p:spPr>
          <a:xfrm>
            <a:off x="12887326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E95CE76B-B7B1-47BD-B1A4-D1C7846017FC}"/>
              </a:ext>
            </a:extLst>
          </p:cNvPr>
          <p:cNvSpPr>
            <a:spLocks noGrp="1"/>
          </p:cNvSpPr>
          <p:nvPr/>
        </p:nvSpPr>
        <p:spPr>
          <a:xfrm>
            <a:off x="13011151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D92C6295-B165-411C-9E97-6EEFC46A8617}"/>
              </a:ext>
            </a:extLst>
          </p:cNvPr>
          <p:cNvSpPr>
            <a:spLocks noGrp="1"/>
          </p:cNvSpPr>
          <p:nvPr/>
        </p:nvSpPr>
        <p:spPr>
          <a:xfrm>
            <a:off x="13134976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9" name="Rectangle 748">
            <a:extLst>
              <a:ext uri="{FF2B5EF4-FFF2-40B4-BE49-F238E27FC236}">
                <a16:creationId xmlns:a16="http://schemas.microsoft.com/office/drawing/2014/main" id="{76C5285D-0DA8-43CD-8D33-7EE5F2199228}"/>
              </a:ext>
            </a:extLst>
          </p:cNvPr>
          <p:cNvSpPr>
            <a:spLocks noGrp="1"/>
          </p:cNvSpPr>
          <p:nvPr/>
        </p:nvSpPr>
        <p:spPr>
          <a:xfrm>
            <a:off x="13258801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0421399D-23DC-4CA7-A1B4-708F1EB49C59}"/>
              </a:ext>
            </a:extLst>
          </p:cNvPr>
          <p:cNvSpPr>
            <a:spLocks noGrp="1"/>
          </p:cNvSpPr>
          <p:nvPr/>
        </p:nvSpPr>
        <p:spPr>
          <a:xfrm>
            <a:off x="13382626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F3984BC4-6D84-4EDA-A74D-34AC9E4553B2}"/>
              </a:ext>
            </a:extLst>
          </p:cNvPr>
          <p:cNvSpPr>
            <a:spLocks noGrp="1"/>
          </p:cNvSpPr>
          <p:nvPr/>
        </p:nvSpPr>
        <p:spPr>
          <a:xfrm>
            <a:off x="13506451" y="5921050"/>
            <a:ext cx="95250" cy="247650"/>
          </a:xfrm>
          <a:prstGeom prst="rect">
            <a:avLst/>
          </a:prstGeom>
          <a:solidFill>
            <a:srgbClr val="3977B5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2" name="Updated Patch coverage weights">
            <a:extLst>
              <a:ext uri="{FF2B5EF4-FFF2-40B4-BE49-F238E27FC236}">
                <a16:creationId xmlns:a16="http://schemas.microsoft.com/office/drawing/2014/main" id="{0FD135CA-1F8F-425C-B72D-A6D7C5C43A71}"/>
              </a:ext>
            </a:extLst>
          </p:cNvPr>
          <p:cNvSpPr>
            <a:spLocks noGrp="1"/>
          </p:cNvSpPr>
          <p:nvPr/>
        </p:nvSpPr>
        <p:spPr>
          <a:xfrm>
            <a:off x="12353039" y="5552455"/>
            <a:ext cx="2238376" cy="2428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CC8740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CC8740"/>
                </a:solidFill>
                <a:latin typeface="Arial"/>
                <a:ea typeface="Arial"/>
                <a:cs typeface="Arial"/>
              </a:rPr>
              <a:t>Patch coverage weights</a:t>
            </a: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898F2C8B-F4E9-4B88-BD1A-268C0FC09510}"/>
              </a:ext>
            </a:extLst>
          </p:cNvPr>
          <p:cNvSpPr>
            <a:spLocks noGrp="1"/>
          </p:cNvSpPr>
          <p:nvPr/>
        </p:nvSpPr>
        <p:spPr>
          <a:xfrm>
            <a:off x="12639676" y="6187750"/>
            <a:ext cx="95250" cy="161926"/>
          </a:xfrm>
          <a:prstGeom prst="rect">
            <a:avLst/>
          </a:prstGeom>
          <a:solidFill>
            <a:srgbClr val="D6DDE2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427E3290-D594-4ED5-AEBC-81B8BED6A785}"/>
              </a:ext>
            </a:extLst>
          </p:cNvPr>
          <p:cNvSpPr>
            <a:spLocks noGrp="1"/>
          </p:cNvSpPr>
          <p:nvPr/>
        </p:nvSpPr>
        <p:spPr>
          <a:xfrm>
            <a:off x="12763501" y="6187750"/>
            <a:ext cx="95250" cy="161926"/>
          </a:xfrm>
          <a:prstGeom prst="rect">
            <a:avLst/>
          </a:prstGeom>
          <a:solidFill>
            <a:srgbClr val="D6DDE2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FF8BF95F-CB69-4C84-AA45-4351A58212BF}"/>
              </a:ext>
            </a:extLst>
          </p:cNvPr>
          <p:cNvSpPr>
            <a:spLocks noGrp="1"/>
          </p:cNvSpPr>
          <p:nvPr/>
        </p:nvSpPr>
        <p:spPr>
          <a:xfrm>
            <a:off x="12887326" y="6187750"/>
            <a:ext cx="95250" cy="161926"/>
          </a:xfrm>
          <a:prstGeom prst="rect">
            <a:avLst/>
          </a:prstGeom>
          <a:solidFill>
            <a:srgbClr val="7BA9C9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E3A6FADC-E7B5-43D0-9F28-D3105A5675AD}"/>
              </a:ext>
            </a:extLst>
          </p:cNvPr>
          <p:cNvSpPr>
            <a:spLocks noGrp="1"/>
          </p:cNvSpPr>
          <p:nvPr/>
        </p:nvSpPr>
        <p:spPr>
          <a:xfrm>
            <a:off x="13011151" y="6187750"/>
            <a:ext cx="95250" cy="161926"/>
          </a:xfrm>
          <a:prstGeom prst="rect">
            <a:avLst/>
          </a:prstGeom>
          <a:solidFill>
            <a:srgbClr val="7BA9C9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6094D08E-DBDD-4365-A895-C5544FCB564D}"/>
              </a:ext>
            </a:extLst>
          </p:cNvPr>
          <p:cNvSpPr>
            <a:spLocks noGrp="1"/>
          </p:cNvSpPr>
          <p:nvPr/>
        </p:nvSpPr>
        <p:spPr>
          <a:xfrm>
            <a:off x="13134976" y="6187750"/>
            <a:ext cx="95250" cy="161926"/>
          </a:xfrm>
          <a:prstGeom prst="rect">
            <a:avLst/>
          </a:prstGeom>
          <a:solidFill>
            <a:srgbClr val="7BA9C9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51B27052-E9A4-4B74-B090-8549207C26BA}"/>
              </a:ext>
            </a:extLst>
          </p:cNvPr>
          <p:cNvSpPr>
            <a:spLocks noGrp="1"/>
          </p:cNvSpPr>
          <p:nvPr/>
        </p:nvSpPr>
        <p:spPr>
          <a:xfrm>
            <a:off x="13258801" y="6187750"/>
            <a:ext cx="95250" cy="161926"/>
          </a:xfrm>
          <a:prstGeom prst="rect">
            <a:avLst/>
          </a:prstGeom>
          <a:solidFill>
            <a:srgbClr val="7BA9C9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E59F8467-FC53-4F68-8F92-A3E05C6AD16A}"/>
              </a:ext>
            </a:extLst>
          </p:cNvPr>
          <p:cNvSpPr>
            <a:spLocks noGrp="1"/>
          </p:cNvSpPr>
          <p:nvPr/>
        </p:nvSpPr>
        <p:spPr>
          <a:xfrm>
            <a:off x="13382626" y="6187750"/>
            <a:ext cx="95250" cy="161926"/>
          </a:xfrm>
          <a:prstGeom prst="rect">
            <a:avLst/>
          </a:prstGeom>
          <a:solidFill>
            <a:srgbClr val="7BA9C9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85055D21-6DA1-4B63-B0A0-2051C54E8CC0}"/>
              </a:ext>
            </a:extLst>
          </p:cNvPr>
          <p:cNvSpPr>
            <a:spLocks noGrp="1"/>
          </p:cNvSpPr>
          <p:nvPr/>
        </p:nvSpPr>
        <p:spPr>
          <a:xfrm>
            <a:off x="13506451" y="6187750"/>
            <a:ext cx="95250" cy="161926"/>
          </a:xfrm>
          <a:prstGeom prst="rect">
            <a:avLst/>
          </a:prstGeom>
          <a:solidFill>
            <a:srgbClr val="7BA9C9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1" name="Updated Weighted pool → h¹²⁸">
            <a:extLst>
              <a:ext uri="{FF2B5EF4-FFF2-40B4-BE49-F238E27FC236}">
                <a16:creationId xmlns:a16="http://schemas.microsoft.com/office/drawing/2014/main" id="{3CC4372B-6923-4440-9AB5-7D0B0BFF841C}"/>
              </a:ext>
            </a:extLst>
          </p:cNvPr>
          <p:cNvSpPr>
            <a:spLocks noGrp="1"/>
          </p:cNvSpPr>
          <p:nvPr/>
        </p:nvSpPr>
        <p:spPr>
          <a:xfrm>
            <a:off x="12585527" y="6365463"/>
            <a:ext cx="2190750" cy="2428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276">
                <a:solidFill>
                  <a:srgbClr val="202932"/>
                </a:solidFill>
                <a:latin typeface="Arial"/>
                <a:ea typeface="Arial"/>
                <a:cs typeface="Arial"/>
              </a:rPr>
              <a:t>Weighted pooling</a:t>
            </a:r>
          </a:p>
        </p:txBody>
      </p:sp>
      <p:sp>
        <p:nvSpPr>
          <p:cNvPr id="2" name="Text 2 (a) Paired theoretical data → shared retrieval space">
            <a:extLst>
              <a:ext uri="{FF2B5EF4-FFF2-40B4-BE49-F238E27FC236}">
                <a16:creationId xmlns:a16="http://schemas.microsoft.com/office/drawing/2014/main" id="{3AF8D784-36C4-4F57-BEE5-8F77F1F52EAD}"/>
              </a:ext>
            </a:extLst>
          </p:cNvPr>
          <p:cNvSpPr>
            <a:spLocks noGrp="1"/>
          </p:cNvSpPr>
          <p:nvPr/>
        </p:nvSpPr>
        <p:spPr>
          <a:xfrm>
            <a:off x="247650" y="147018"/>
            <a:ext cx="9525000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02932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202932"/>
                </a:solidFill>
                <a:latin typeface="Arial"/>
                <a:ea typeface="Arial"/>
                <a:cs typeface="Arial"/>
              </a:rPr>
              <a:t>(a) Shared spectral encoder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6D9FA8-54C3-03C0-6A4B-E94AF4F871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58554" y="1133953"/>
                <a:ext cx="3058904" cy="51860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𝐿𝑜𝑠𝑠</m:t>
                      </m:r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𝑄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→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𝑅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→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𝑄</m:t>
                          </m:r>
                        </m:sub>
                      </m:sSub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6D9FA8-54C3-03C0-6A4B-E94AF4F87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554" y="1133953"/>
                <a:ext cx="3058904" cy="518604"/>
              </a:xfrm>
              <a:prstGeom prst="rect">
                <a:avLst/>
              </a:prstGeom>
              <a:blipFill>
                <a:blip r:embed="rId3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8344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Macintosh PowerPoint</Application>
  <DocSecurity>0</DocSecurity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Luan Jinfeng</cp:lastModifiedBy>
  <cp:revision>2</cp:revision>
  <dcterms:created xsi:type="dcterms:W3CDTF">2026-09-10T07:46:58Z</dcterms:created>
  <dcterms:modified xsi:type="dcterms:W3CDTF">2026-09-10T07:55:34Z</dcterms:modified>
</cp:coreProperties>
</file>