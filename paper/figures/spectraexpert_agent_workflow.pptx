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9983450" cy="71342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593"/>
  </p:normalViewPr>
  <p:slideViewPr>
    <p:cSldViewPr snapToGrid="0">
      <p:cViewPr>
        <p:scale>
          <a:sx n="80" d="100"/>
          <a:sy n="80" d="100"/>
        </p:scale>
        <p:origin x="-16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A6E8A-83B4-804E-B3AA-083C81A7F430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92175" y="1143000"/>
            <a:ext cx="8642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E7361-B6EF-A94A-8E79-11A4FA1F8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E7361-B6EF-A94A-8E79-11A4FA1F8F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6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"/>
          <p:cNvSpPr/>
          <p:nvPr/>
        </p:nvSpPr>
        <p:spPr>
          <a:xfrm>
            <a:off x="390302" y="146363"/>
            <a:ext cx="3756654" cy="800119"/>
          </a:xfrm>
          <a:prstGeom prst="rect">
            <a:avLst/>
          </a:prstGeom>
          <a:solidFill>
            <a:srgbClr val="F0EBFF"/>
          </a:solidFill>
          <a:ln w="15240">
            <a:solidFill>
              <a:srgbClr val="998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tr"/>
          <p:cNvSpPr/>
          <p:nvPr/>
        </p:nvSpPr>
        <p:spPr>
          <a:xfrm>
            <a:off x="4761681" y="204908"/>
            <a:ext cx="1941751" cy="663513"/>
          </a:xfrm>
          <a:prstGeom prst="rect">
            <a:avLst/>
          </a:prstGeom>
          <a:solidFill>
            <a:srgbClr val="FFF1E8"/>
          </a:solidFill>
          <a:ln w="15240">
            <a:solidFill>
              <a:srgbClr val="FFAE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opc"/>
          <p:cNvSpPr/>
          <p:nvPr/>
        </p:nvSpPr>
        <p:spPr>
          <a:xfrm>
            <a:off x="7318158" y="117091"/>
            <a:ext cx="2283265" cy="829391"/>
          </a:xfrm>
          <a:prstGeom prst="rect">
            <a:avLst/>
          </a:prstGeom>
          <a:solidFill>
            <a:srgbClr val="EAF5FF"/>
          </a:solidFill>
          <a:ln w="15240">
            <a:solidFill>
              <a:srgbClr val="77A7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ev"/>
          <p:cNvSpPr/>
          <p:nvPr/>
        </p:nvSpPr>
        <p:spPr>
          <a:xfrm>
            <a:off x="10235664" y="117091"/>
            <a:ext cx="3444413" cy="829391"/>
          </a:xfrm>
          <a:prstGeom prst="rect">
            <a:avLst/>
          </a:prstGeom>
          <a:solidFill>
            <a:srgbClr val="FFF9DE"/>
          </a:solidFill>
          <a:ln w="15240">
            <a:solidFill>
              <a:srgbClr val="D6BD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lm"/>
          <p:cNvSpPr/>
          <p:nvPr/>
        </p:nvSpPr>
        <p:spPr>
          <a:xfrm>
            <a:off x="14304559" y="204908"/>
            <a:ext cx="2166175" cy="663513"/>
          </a:xfrm>
          <a:prstGeom prst="rect">
            <a:avLst/>
          </a:prstGeom>
          <a:solidFill>
            <a:srgbClr val="FFF0E5"/>
          </a:solidFill>
          <a:ln w="15240">
            <a:solidFill>
              <a:srgbClr val="FFAE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out"/>
          <p:cNvSpPr/>
          <p:nvPr/>
        </p:nvSpPr>
        <p:spPr>
          <a:xfrm>
            <a:off x="17065944" y="126848"/>
            <a:ext cx="2546719" cy="819634"/>
          </a:xfrm>
          <a:prstGeom prst="rect">
            <a:avLst/>
          </a:prstGeom>
          <a:solidFill>
            <a:srgbClr val="F0EBFF"/>
          </a:solidFill>
          <a:ln w="15240">
            <a:solidFill>
              <a:srgbClr val="998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qwhite"/>
          <p:cNvSpPr/>
          <p:nvPr/>
        </p:nvSpPr>
        <p:spPr>
          <a:xfrm>
            <a:off x="2166175" y="214666"/>
            <a:ext cx="1892964" cy="6635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panel_a"/>
          <p:cNvSpPr/>
          <p:nvPr/>
        </p:nvSpPr>
        <p:spPr>
          <a:xfrm>
            <a:off x="195151" y="1141633"/>
            <a:ext cx="10616208" cy="32590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5D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0" name="query"/>
          <p:cNvSpPr/>
          <p:nvPr/>
        </p:nvSpPr>
        <p:spPr>
          <a:xfrm>
            <a:off x="361029" y="1561207"/>
            <a:ext cx="2273508" cy="1083087"/>
          </a:xfrm>
          <a:prstGeom prst="roundRect">
            <a:avLst>
              <a:gd name="adj" fmla="val 7207"/>
            </a:avLst>
          </a:prstGeom>
          <a:solidFill>
            <a:srgbClr val="F0EBFC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querywhite"/>
          <p:cNvSpPr/>
          <p:nvPr/>
        </p:nvSpPr>
        <p:spPr>
          <a:xfrm>
            <a:off x="643998" y="1902721"/>
            <a:ext cx="1707570" cy="5952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ncoder"/>
          <p:cNvSpPr/>
          <p:nvPr/>
        </p:nvSpPr>
        <p:spPr>
          <a:xfrm>
            <a:off x="3102899" y="1688055"/>
            <a:ext cx="536665" cy="69278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207" y="6085"/>
                </a:lnTo>
                <a:lnTo>
                  <a:pt x="21207" y="15820"/>
                </a:lnTo>
                <a:lnTo>
                  <a:pt x="0" y="21600"/>
                </a:lnTo>
                <a:close/>
              </a:path>
            </a:pathLst>
          </a:custGeom>
          <a:solidFill>
            <a:srgbClr val="E7E7E7"/>
          </a:solidFill>
          <a:ln w="1905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zq0"/>
          <p:cNvSpPr/>
          <p:nvPr/>
        </p:nvSpPr>
        <p:spPr>
          <a:xfrm>
            <a:off x="4781197" y="1717328"/>
            <a:ext cx="156121" cy="160999"/>
          </a:xfrm>
          <a:prstGeom prst="rect">
            <a:avLst/>
          </a:prstGeom>
          <a:solidFill>
            <a:srgbClr val="EFF8FF"/>
          </a:solidFill>
          <a:ln w="10160">
            <a:solidFill>
              <a:srgbClr val="2733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zq1"/>
          <p:cNvSpPr/>
          <p:nvPr/>
        </p:nvSpPr>
        <p:spPr>
          <a:xfrm>
            <a:off x="4781197" y="1878327"/>
            <a:ext cx="156121" cy="160999"/>
          </a:xfrm>
          <a:prstGeom prst="rect">
            <a:avLst/>
          </a:prstGeom>
          <a:solidFill>
            <a:srgbClr val="B6D9F0"/>
          </a:solidFill>
          <a:ln w="10160">
            <a:solidFill>
              <a:srgbClr val="2733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zq2"/>
          <p:cNvSpPr/>
          <p:nvPr/>
        </p:nvSpPr>
        <p:spPr>
          <a:xfrm>
            <a:off x="4781197" y="2039327"/>
            <a:ext cx="156121" cy="160999"/>
          </a:xfrm>
          <a:prstGeom prst="rect">
            <a:avLst/>
          </a:prstGeom>
          <a:solidFill>
            <a:srgbClr val="52B1F0"/>
          </a:solidFill>
          <a:ln w="10160">
            <a:solidFill>
              <a:srgbClr val="2733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zq3"/>
          <p:cNvSpPr/>
          <p:nvPr/>
        </p:nvSpPr>
        <p:spPr>
          <a:xfrm>
            <a:off x="4781197" y="2200326"/>
            <a:ext cx="156121" cy="160999"/>
          </a:xfrm>
          <a:prstGeom prst="rect">
            <a:avLst/>
          </a:prstGeom>
          <a:solidFill>
            <a:srgbClr val="99C9EE"/>
          </a:solidFill>
          <a:ln w="10160">
            <a:solidFill>
              <a:srgbClr val="2733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osine"/>
          <p:cNvSpPr/>
          <p:nvPr/>
        </p:nvSpPr>
        <p:spPr>
          <a:xfrm>
            <a:off x="5874041" y="2234478"/>
            <a:ext cx="936724" cy="712301"/>
          </a:xfrm>
          <a:prstGeom prst="rect">
            <a:avLst/>
          </a:prstGeom>
          <a:solidFill>
            <a:srgbClr val="FFFFFF"/>
          </a:solidFill>
          <a:ln w="16510">
            <a:solidFill>
              <a:srgbClr val="2222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heory"/>
          <p:cNvSpPr/>
          <p:nvPr/>
        </p:nvSpPr>
        <p:spPr>
          <a:xfrm>
            <a:off x="361029" y="2907748"/>
            <a:ext cx="2693082" cy="917209"/>
          </a:xfrm>
          <a:prstGeom prst="roundRect">
            <a:avLst>
              <a:gd name="adj" fmla="val 8511"/>
            </a:avLst>
          </a:prstGeom>
          <a:solidFill>
            <a:srgbClr val="FAFBFC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cached"/>
          <p:cNvSpPr/>
          <p:nvPr/>
        </p:nvSpPr>
        <p:spPr>
          <a:xfrm>
            <a:off x="3395625" y="2907748"/>
            <a:ext cx="1990539" cy="936724"/>
          </a:xfrm>
          <a:prstGeom prst="roundRect">
            <a:avLst>
              <a:gd name="adj" fmla="val 8333"/>
            </a:avLst>
          </a:prstGeom>
          <a:solidFill>
            <a:srgbClr val="FAFBFC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" name="emb0_0"/>
          <p:cNvSpPr/>
          <p:nvPr/>
        </p:nvSpPr>
        <p:spPr>
          <a:xfrm>
            <a:off x="3990835" y="3229747"/>
            <a:ext cx="153193" cy="146363"/>
          </a:xfrm>
          <a:prstGeom prst="rect">
            <a:avLst/>
          </a:prstGeom>
          <a:solidFill>
            <a:srgbClr val="D3EDFF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emb0_1"/>
          <p:cNvSpPr/>
          <p:nvPr/>
        </p:nvSpPr>
        <p:spPr>
          <a:xfrm>
            <a:off x="4144029" y="3229747"/>
            <a:ext cx="153193" cy="146363"/>
          </a:xfrm>
          <a:prstGeom prst="rect">
            <a:avLst/>
          </a:prstGeom>
          <a:solidFill>
            <a:srgbClr val="8DC8EA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emb0_2"/>
          <p:cNvSpPr/>
          <p:nvPr/>
        </p:nvSpPr>
        <p:spPr>
          <a:xfrm>
            <a:off x="4297222" y="3229747"/>
            <a:ext cx="153193" cy="146363"/>
          </a:xfrm>
          <a:prstGeom prst="rect">
            <a:avLst/>
          </a:prstGeom>
          <a:solidFill>
            <a:srgbClr val="4AB2EB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emb0_3"/>
          <p:cNvSpPr/>
          <p:nvPr/>
        </p:nvSpPr>
        <p:spPr>
          <a:xfrm>
            <a:off x="4450416" y="3229747"/>
            <a:ext cx="153193" cy="146363"/>
          </a:xfrm>
          <a:prstGeom prst="rect">
            <a:avLst/>
          </a:prstGeom>
          <a:solidFill>
            <a:srgbClr val="3094E4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emb0_4"/>
          <p:cNvSpPr/>
          <p:nvPr/>
        </p:nvSpPr>
        <p:spPr>
          <a:xfrm>
            <a:off x="4603609" y="3229747"/>
            <a:ext cx="153193" cy="146363"/>
          </a:xfrm>
          <a:prstGeom prst="rect">
            <a:avLst/>
          </a:prstGeom>
          <a:solidFill>
            <a:srgbClr val="9ACEEF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emb0_5"/>
          <p:cNvSpPr/>
          <p:nvPr/>
        </p:nvSpPr>
        <p:spPr>
          <a:xfrm>
            <a:off x="4756803" y="3229747"/>
            <a:ext cx="153193" cy="146363"/>
          </a:xfrm>
          <a:prstGeom prst="rect">
            <a:avLst/>
          </a:prstGeom>
          <a:solidFill>
            <a:srgbClr val="F7FFFF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emb0_6"/>
          <p:cNvSpPr/>
          <p:nvPr/>
        </p:nvSpPr>
        <p:spPr>
          <a:xfrm>
            <a:off x="4909996" y="3229747"/>
            <a:ext cx="153193" cy="146363"/>
          </a:xfrm>
          <a:prstGeom prst="rect">
            <a:avLst/>
          </a:prstGeom>
          <a:solidFill>
            <a:srgbClr val="DFEDF4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emb0_7"/>
          <p:cNvSpPr/>
          <p:nvPr/>
        </p:nvSpPr>
        <p:spPr>
          <a:xfrm>
            <a:off x="5063190" y="3229747"/>
            <a:ext cx="153193" cy="146363"/>
          </a:xfrm>
          <a:prstGeom prst="rect">
            <a:avLst/>
          </a:prstGeom>
          <a:solidFill>
            <a:srgbClr val="ADD7E9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emb1_0"/>
          <p:cNvSpPr/>
          <p:nvPr/>
        </p:nvSpPr>
        <p:spPr>
          <a:xfrm>
            <a:off x="3990835" y="3444413"/>
            <a:ext cx="153193" cy="146363"/>
          </a:xfrm>
          <a:prstGeom prst="rect">
            <a:avLst/>
          </a:prstGeom>
          <a:solidFill>
            <a:srgbClr val="FFE486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emb1_1"/>
          <p:cNvSpPr/>
          <p:nvPr/>
        </p:nvSpPr>
        <p:spPr>
          <a:xfrm>
            <a:off x="4144029" y="3444413"/>
            <a:ext cx="153193" cy="146363"/>
          </a:xfrm>
          <a:prstGeom prst="rect">
            <a:avLst/>
          </a:prstGeom>
          <a:solidFill>
            <a:srgbClr val="FFE575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emb1_2"/>
          <p:cNvSpPr/>
          <p:nvPr/>
        </p:nvSpPr>
        <p:spPr>
          <a:xfrm>
            <a:off x="4297222" y="3444413"/>
            <a:ext cx="153193" cy="146363"/>
          </a:xfrm>
          <a:prstGeom prst="rect">
            <a:avLst/>
          </a:prstGeom>
          <a:solidFill>
            <a:srgbClr val="ECC354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emb1_3"/>
          <p:cNvSpPr/>
          <p:nvPr/>
        </p:nvSpPr>
        <p:spPr>
          <a:xfrm>
            <a:off x="4450416" y="3444413"/>
            <a:ext cx="153193" cy="146363"/>
          </a:xfrm>
          <a:prstGeom prst="rect">
            <a:avLst/>
          </a:prstGeom>
          <a:solidFill>
            <a:srgbClr val="38B980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emb1_4"/>
          <p:cNvSpPr/>
          <p:nvPr/>
        </p:nvSpPr>
        <p:spPr>
          <a:xfrm>
            <a:off x="4603609" y="3444413"/>
            <a:ext cx="153193" cy="146363"/>
          </a:xfrm>
          <a:prstGeom prst="rect">
            <a:avLst/>
          </a:prstGeom>
          <a:solidFill>
            <a:srgbClr val="ECEBAC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emb1_5"/>
          <p:cNvSpPr/>
          <p:nvPr/>
        </p:nvSpPr>
        <p:spPr>
          <a:xfrm>
            <a:off x="4756803" y="3444413"/>
            <a:ext cx="153193" cy="146363"/>
          </a:xfrm>
          <a:prstGeom prst="rect">
            <a:avLst/>
          </a:prstGeom>
          <a:solidFill>
            <a:srgbClr val="FFF8C8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emb1_6"/>
          <p:cNvSpPr/>
          <p:nvPr/>
        </p:nvSpPr>
        <p:spPr>
          <a:xfrm>
            <a:off x="4909996" y="3444413"/>
            <a:ext cx="153193" cy="146363"/>
          </a:xfrm>
          <a:prstGeom prst="rect">
            <a:avLst/>
          </a:prstGeom>
          <a:solidFill>
            <a:srgbClr val="F7F4D9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emb1_7"/>
          <p:cNvSpPr/>
          <p:nvPr/>
        </p:nvSpPr>
        <p:spPr>
          <a:xfrm>
            <a:off x="5063190" y="3444413"/>
            <a:ext cx="153193" cy="146363"/>
          </a:xfrm>
          <a:prstGeom prst="rect">
            <a:avLst/>
          </a:prstGeom>
          <a:solidFill>
            <a:srgbClr val="FFF6C9"/>
          </a:solidFill>
          <a:ln w="8890">
            <a:solidFill>
              <a:srgbClr val="4552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trievalresult"/>
          <p:cNvSpPr/>
          <p:nvPr/>
        </p:nvSpPr>
        <p:spPr>
          <a:xfrm>
            <a:off x="7123007" y="1356299"/>
            <a:ext cx="3551746" cy="2566234"/>
          </a:xfrm>
          <a:prstGeom prst="roundRect">
            <a:avLst>
              <a:gd name="adj" fmla="val 1901"/>
            </a:avLst>
          </a:prstGeom>
          <a:solidFill>
            <a:srgbClr val="FBFCFD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mollist"/>
          <p:cNvSpPr/>
          <p:nvPr/>
        </p:nvSpPr>
        <p:spPr>
          <a:xfrm>
            <a:off x="7327916" y="1756358"/>
            <a:ext cx="1414844" cy="2058842"/>
          </a:xfrm>
          <a:prstGeom prst="roundRect">
            <a:avLst>
              <a:gd name="adj" fmla="val 4828"/>
            </a:avLst>
          </a:prstGeom>
          <a:solidFill>
            <a:srgbClr val="FAFBFC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8" name="offline"/>
          <p:cNvSpPr/>
          <p:nvPr/>
        </p:nvSpPr>
        <p:spPr>
          <a:xfrm>
            <a:off x="341514" y="3990835"/>
            <a:ext cx="10323481" cy="34151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panel_b"/>
          <p:cNvSpPr/>
          <p:nvPr/>
        </p:nvSpPr>
        <p:spPr>
          <a:xfrm>
            <a:off x="195151" y="4468955"/>
            <a:ext cx="10616208" cy="2497931"/>
          </a:xfrm>
          <a:prstGeom prst="rect">
            <a:avLst/>
          </a:prstGeom>
          <a:solidFill>
            <a:srgbClr val="FFFFFF"/>
          </a:solidFill>
          <a:ln w="11430">
            <a:solidFill>
              <a:srgbClr val="CFD5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peaks"/>
          <p:cNvSpPr/>
          <p:nvPr/>
        </p:nvSpPr>
        <p:spPr>
          <a:xfrm>
            <a:off x="361029" y="4810469"/>
            <a:ext cx="4361622" cy="985512"/>
          </a:xfrm>
          <a:prstGeom prst="roundRect">
            <a:avLst>
              <a:gd name="adj" fmla="val 5941"/>
            </a:avLst>
          </a:prstGeom>
          <a:solidFill>
            <a:srgbClr val="F2EDFE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1" name="peakstable"/>
          <p:cNvSpPr/>
          <p:nvPr/>
        </p:nvSpPr>
        <p:spPr>
          <a:xfrm>
            <a:off x="1902721" y="4888530"/>
            <a:ext cx="2634537" cy="839149"/>
          </a:xfrm>
          <a:prstGeom prst="rect">
            <a:avLst/>
          </a:prstGeom>
          <a:solidFill>
            <a:srgbClr val="FFFFFF"/>
          </a:solidFill>
          <a:ln w="10160">
            <a:solidFill>
              <a:srgbClr val="A1A5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modes"/>
          <p:cNvSpPr/>
          <p:nvPr/>
        </p:nvSpPr>
        <p:spPr>
          <a:xfrm>
            <a:off x="380544" y="5903314"/>
            <a:ext cx="4351865" cy="965997"/>
          </a:xfrm>
          <a:prstGeom prst="roundRect">
            <a:avLst>
              <a:gd name="adj" fmla="val 6061"/>
            </a:avLst>
          </a:prstGeom>
          <a:solidFill>
            <a:srgbClr val="EAF6FF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modetable"/>
          <p:cNvSpPr/>
          <p:nvPr/>
        </p:nvSpPr>
        <p:spPr>
          <a:xfrm>
            <a:off x="2293023" y="5961859"/>
            <a:ext cx="2263750" cy="848906"/>
          </a:xfrm>
          <a:prstGeom prst="rect">
            <a:avLst/>
          </a:prstGeom>
          <a:solidFill>
            <a:srgbClr val="FFFFFF"/>
          </a:solidFill>
          <a:ln w="10160">
            <a:solidFill>
              <a:srgbClr val="A1A5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matcher"/>
          <p:cNvSpPr/>
          <p:nvPr/>
        </p:nvSpPr>
        <p:spPr>
          <a:xfrm>
            <a:off x="5151983" y="4917802"/>
            <a:ext cx="1678298" cy="1424601"/>
          </a:xfrm>
          <a:prstGeom prst="roundRect">
            <a:avLst>
              <a:gd name="adj" fmla="val 3425"/>
            </a:avLst>
          </a:prstGeom>
          <a:solidFill>
            <a:srgbClr val="FFF1E4"/>
          </a:solidFill>
          <a:ln w="13970">
            <a:solidFill>
              <a:srgbClr val="FF9C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pec_evidence"/>
          <p:cNvSpPr/>
          <p:nvPr/>
        </p:nvSpPr>
        <p:spPr>
          <a:xfrm>
            <a:off x="7230340" y="4781197"/>
            <a:ext cx="3434655" cy="1307511"/>
          </a:xfrm>
          <a:prstGeom prst="roundRect">
            <a:avLst>
              <a:gd name="adj" fmla="val 6716"/>
            </a:avLst>
          </a:prstGeom>
          <a:solidFill>
            <a:srgbClr val="FFFBE4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6" name="etable"/>
          <p:cNvSpPr/>
          <p:nvPr/>
        </p:nvSpPr>
        <p:spPr>
          <a:xfrm>
            <a:off x="7415733" y="5093438"/>
            <a:ext cx="3044354" cy="907452"/>
          </a:xfrm>
          <a:prstGeom prst="rect">
            <a:avLst/>
          </a:prstGeom>
          <a:solidFill>
            <a:srgbClr val="FFFFFF"/>
          </a:solidFill>
          <a:ln w="10160">
            <a:solidFill>
              <a:srgbClr val="A1A5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optional"/>
          <p:cNvSpPr/>
          <p:nvPr/>
        </p:nvSpPr>
        <p:spPr>
          <a:xfrm>
            <a:off x="7298643" y="6147253"/>
            <a:ext cx="3317565" cy="517150"/>
          </a:xfrm>
          <a:prstGeom prst="roundRect">
            <a:avLst>
              <a:gd name="adj" fmla="val 13208"/>
            </a:avLst>
          </a:prstGeom>
          <a:solidFill>
            <a:srgbClr val="FAFBFC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8" name="panel_c"/>
          <p:cNvSpPr/>
          <p:nvPr/>
        </p:nvSpPr>
        <p:spPr>
          <a:xfrm>
            <a:off x="10889419" y="1141633"/>
            <a:ext cx="8908638" cy="5825254"/>
          </a:xfrm>
          <a:prstGeom prst="rect">
            <a:avLst/>
          </a:prstGeom>
          <a:solidFill>
            <a:srgbClr val="FFFFFF"/>
          </a:solidFill>
          <a:ln w="11430">
            <a:solidFill>
              <a:srgbClr val="CFD5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packet"/>
          <p:cNvSpPr/>
          <p:nvPr/>
        </p:nvSpPr>
        <p:spPr>
          <a:xfrm>
            <a:off x="11035782" y="1658782"/>
            <a:ext cx="8557366" cy="2029569"/>
          </a:xfrm>
          <a:prstGeom prst="roundRect">
            <a:avLst>
              <a:gd name="adj" fmla="val 5769"/>
            </a:avLst>
          </a:prstGeom>
          <a:solidFill>
            <a:srgbClr val="FFFBE4"/>
          </a:solidFill>
          <a:ln w="11430">
            <a:solidFill>
              <a:srgbClr val="A1A5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0" name="Pcard"/>
          <p:cNvSpPr/>
          <p:nvPr/>
        </p:nvSpPr>
        <p:spPr>
          <a:xfrm>
            <a:off x="11250448" y="2010054"/>
            <a:ext cx="2341811" cy="156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AAB0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card"/>
          <p:cNvSpPr/>
          <p:nvPr/>
        </p:nvSpPr>
        <p:spPr>
          <a:xfrm>
            <a:off x="13680077" y="2010054"/>
            <a:ext cx="2790658" cy="156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AAB0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Ecard"/>
          <p:cNvSpPr/>
          <p:nvPr/>
        </p:nvSpPr>
        <p:spPr>
          <a:xfrm>
            <a:off x="16558552" y="2010054"/>
            <a:ext cx="2858960" cy="156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AAB0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Etable"/>
          <p:cNvSpPr/>
          <p:nvPr/>
        </p:nvSpPr>
        <p:spPr>
          <a:xfrm>
            <a:off x="17270853" y="2361326"/>
            <a:ext cx="2058842" cy="1112360"/>
          </a:xfrm>
          <a:prstGeom prst="rect">
            <a:avLst/>
          </a:prstGeom>
          <a:solidFill>
            <a:srgbClr val="FFFFFF"/>
          </a:solidFill>
          <a:ln w="10160">
            <a:solidFill>
              <a:srgbClr val="A1A5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ason"/>
          <p:cNvSpPr/>
          <p:nvPr/>
        </p:nvSpPr>
        <p:spPr>
          <a:xfrm>
            <a:off x="12294505" y="4000593"/>
            <a:ext cx="4800712" cy="1122118"/>
          </a:xfrm>
          <a:prstGeom prst="roundRect">
            <a:avLst>
              <a:gd name="adj" fmla="val 5217"/>
            </a:avLst>
          </a:prstGeom>
          <a:solidFill>
            <a:srgbClr val="E8F4FF"/>
          </a:solidFill>
          <a:ln w="15240">
            <a:solidFill>
              <a:srgbClr val="559B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assign"/>
          <p:cNvSpPr/>
          <p:nvPr/>
        </p:nvSpPr>
        <p:spPr>
          <a:xfrm>
            <a:off x="12479899" y="4410410"/>
            <a:ext cx="1239208" cy="614725"/>
          </a:xfrm>
          <a:prstGeom prst="roundRect">
            <a:avLst>
              <a:gd name="adj" fmla="val 7937"/>
            </a:avLst>
          </a:prstGeom>
          <a:solidFill>
            <a:srgbClr val="D9F0FF"/>
          </a:solidFill>
          <a:ln w="11430">
            <a:solidFill>
              <a:srgbClr val="79C4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compare"/>
          <p:cNvSpPr/>
          <p:nvPr/>
        </p:nvSpPr>
        <p:spPr>
          <a:xfrm>
            <a:off x="14031348" y="4410410"/>
            <a:ext cx="1395329" cy="614725"/>
          </a:xfrm>
          <a:prstGeom prst="roundRect">
            <a:avLst>
              <a:gd name="adj" fmla="val 7937"/>
            </a:avLst>
          </a:prstGeom>
          <a:solidFill>
            <a:srgbClr val="FFEAD2"/>
          </a:solidFill>
          <a:ln w="11430">
            <a:solidFill>
              <a:srgbClr val="FFB4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elect"/>
          <p:cNvSpPr/>
          <p:nvPr/>
        </p:nvSpPr>
        <p:spPr>
          <a:xfrm>
            <a:off x="15738918" y="4410410"/>
            <a:ext cx="1180663" cy="614725"/>
          </a:xfrm>
          <a:prstGeom prst="roundRect">
            <a:avLst>
              <a:gd name="adj" fmla="val 7937"/>
            </a:avLst>
          </a:prstGeom>
          <a:solidFill>
            <a:srgbClr val="FFF5CD"/>
          </a:solidFill>
          <a:ln w="11430">
            <a:solidFill>
              <a:srgbClr val="DEBD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llmoutput"/>
          <p:cNvSpPr/>
          <p:nvPr/>
        </p:nvSpPr>
        <p:spPr>
          <a:xfrm>
            <a:off x="17290368" y="3922533"/>
            <a:ext cx="2322295" cy="1122118"/>
          </a:xfrm>
          <a:prstGeom prst="rect">
            <a:avLst/>
          </a:prstGeom>
          <a:solidFill>
            <a:srgbClr val="F1EBFF"/>
          </a:solidFill>
          <a:ln w="11430">
            <a:solidFill>
              <a:srgbClr val="AC97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chematic"/>
          <p:cNvSpPr/>
          <p:nvPr/>
        </p:nvSpPr>
        <p:spPr>
          <a:xfrm>
            <a:off x="11016267" y="5386164"/>
            <a:ext cx="6176525" cy="1395329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1430">
            <a:solidFill>
              <a:srgbClr val="A1A2A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" name="dot0_0"/>
          <p:cNvSpPr/>
          <p:nvPr/>
        </p:nvSpPr>
        <p:spPr>
          <a:xfrm>
            <a:off x="11587279" y="632893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dot0_1"/>
          <p:cNvSpPr/>
          <p:nvPr/>
        </p:nvSpPr>
        <p:spPr>
          <a:xfrm>
            <a:off x="12226593" y="627058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1_0"/>
          <p:cNvSpPr/>
          <p:nvPr/>
        </p:nvSpPr>
        <p:spPr>
          <a:xfrm>
            <a:off x="13099698" y="632893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1_1"/>
          <p:cNvSpPr/>
          <p:nvPr/>
        </p:nvSpPr>
        <p:spPr>
          <a:xfrm>
            <a:off x="13739012" y="627058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dot2_0"/>
          <p:cNvSpPr/>
          <p:nvPr/>
        </p:nvSpPr>
        <p:spPr>
          <a:xfrm>
            <a:off x="14602360" y="632893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dot2_1"/>
          <p:cNvSpPr/>
          <p:nvPr/>
        </p:nvSpPr>
        <p:spPr>
          <a:xfrm>
            <a:off x="15241674" y="627058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3_0"/>
          <p:cNvSpPr/>
          <p:nvPr/>
        </p:nvSpPr>
        <p:spPr>
          <a:xfrm>
            <a:off x="16328664" y="632893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3_1"/>
          <p:cNvSpPr/>
          <p:nvPr/>
        </p:nvSpPr>
        <p:spPr>
          <a:xfrm>
            <a:off x="16871574" y="6270588"/>
            <a:ext cx="35127" cy="35127"/>
          </a:xfrm>
          <a:prstGeom prst="ellipse">
            <a:avLst/>
          </a:prstGeom>
          <a:solidFill>
            <a:srgbClr val="FF4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qaxis"/>
          <p:cNvSpPr/>
          <p:nvPr/>
        </p:nvSpPr>
        <p:spPr>
          <a:xfrm>
            <a:off x="2224720" y="263454"/>
            <a:ext cx="0" cy="55618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evbars_axisx"/>
          <p:cNvSpPr/>
          <p:nvPr/>
        </p:nvSpPr>
        <p:spPr>
          <a:xfrm>
            <a:off x="10479602" y="878179"/>
            <a:ext cx="887936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evbars_axisy"/>
          <p:cNvSpPr/>
          <p:nvPr/>
        </p:nvSpPr>
        <p:spPr>
          <a:xfrm>
            <a:off x="10479602" y="439089"/>
            <a:ext cx="0" cy="439089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evbars0"/>
          <p:cNvSpPr/>
          <p:nvPr/>
        </p:nvSpPr>
        <p:spPr>
          <a:xfrm flipV="1">
            <a:off x="10586155" y="759625"/>
            <a:ext cx="0" cy="118554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evbars1"/>
          <p:cNvSpPr/>
          <p:nvPr/>
        </p:nvSpPr>
        <p:spPr>
          <a:xfrm flipV="1">
            <a:off x="10674948" y="658634"/>
            <a:ext cx="0" cy="219545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evbars2"/>
          <p:cNvSpPr/>
          <p:nvPr/>
        </p:nvSpPr>
        <p:spPr>
          <a:xfrm flipV="1">
            <a:off x="10745983" y="702543"/>
            <a:ext cx="0" cy="175636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evbars3"/>
          <p:cNvSpPr/>
          <p:nvPr/>
        </p:nvSpPr>
        <p:spPr>
          <a:xfrm flipV="1">
            <a:off x="10825897" y="491780"/>
            <a:ext cx="0" cy="386399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evbars4"/>
          <p:cNvSpPr/>
          <p:nvPr/>
        </p:nvSpPr>
        <p:spPr>
          <a:xfrm flipV="1">
            <a:off x="10923570" y="772797"/>
            <a:ext cx="0" cy="105381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evbars5"/>
          <p:cNvSpPr/>
          <p:nvPr/>
        </p:nvSpPr>
        <p:spPr>
          <a:xfrm flipV="1">
            <a:off x="11118916" y="790361"/>
            <a:ext cx="0" cy="87818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evbars6"/>
          <p:cNvSpPr/>
          <p:nvPr/>
        </p:nvSpPr>
        <p:spPr>
          <a:xfrm flipV="1">
            <a:off x="11198831" y="667416"/>
            <a:ext cx="0" cy="210763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78" name="flow0"/>
          <p:cNvCxnSpPr/>
          <p:nvPr/>
        </p:nvCxnSpPr>
        <p:spPr>
          <a:xfrm>
            <a:off x="4146956" y="526907"/>
            <a:ext cx="585453" cy="0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cxnSp>
        <p:nvCxnSpPr>
          <p:cNvPr id="79" name="flow1"/>
          <p:cNvCxnSpPr/>
          <p:nvPr/>
        </p:nvCxnSpPr>
        <p:spPr>
          <a:xfrm>
            <a:off x="6703433" y="526907"/>
            <a:ext cx="585453" cy="0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cxnSp>
        <p:nvCxnSpPr>
          <p:cNvPr id="80" name="flow2"/>
          <p:cNvCxnSpPr/>
          <p:nvPr/>
        </p:nvCxnSpPr>
        <p:spPr>
          <a:xfrm>
            <a:off x="9601423" y="526907"/>
            <a:ext cx="604968" cy="0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cxnSp>
        <p:nvCxnSpPr>
          <p:cNvPr id="81" name="flow3"/>
          <p:cNvCxnSpPr/>
          <p:nvPr/>
        </p:nvCxnSpPr>
        <p:spPr>
          <a:xfrm>
            <a:off x="13680077" y="526907"/>
            <a:ext cx="595210" cy="0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cxnSp>
        <p:nvCxnSpPr>
          <p:cNvPr id="82" name="flow4"/>
          <p:cNvCxnSpPr/>
          <p:nvPr/>
        </p:nvCxnSpPr>
        <p:spPr>
          <a:xfrm>
            <a:off x="16470734" y="526907"/>
            <a:ext cx="565938" cy="0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sp>
        <p:nvSpPr>
          <p:cNvPr id="83" name="queryaxis"/>
          <p:cNvSpPr/>
          <p:nvPr/>
        </p:nvSpPr>
        <p:spPr>
          <a:xfrm>
            <a:off x="683028" y="1941751"/>
            <a:ext cx="0" cy="497635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84" name="q_to_enc"/>
          <p:cNvCxnSpPr/>
          <p:nvPr/>
        </p:nvCxnSpPr>
        <p:spPr>
          <a:xfrm>
            <a:off x="2634537" y="2049084"/>
            <a:ext cx="448847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85" name="enc_to_vec"/>
          <p:cNvCxnSpPr/>
          <p:nvPr/>
        </p:nvCxnSpPr>
        <p:spPr>
          <a:xfrm>
            <a:off x="3639564" y="2049084"/>
            <a:ext cx="1122118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86" name="vec_to_cos"/>
          <p:cNvCxnSpPr/>
          <p:nvPr/>
        </p:nvCxnSpPr>
        <p:spPr>
          <a:xfrm>
            <a:off x="4937317" y="2029569"/>
            <a:ext cx="926967" cy="409817"/>
          </a:xfrm>
          <a:prstGeom prst="bentConnector3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sp>
        <p:nvSpPr>
          <p:cNvPr id="87" name="theoryaxis0"/>
          <p:cNvSpPr/>
          <p:nvPr/>
        </p:nvSpPr>
        <p:spPr>
          <a:xfrm>
            <a:off x="585453" y="3259020"/>
            <a:ext cx="0" cy="419574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theoryaxis1"/>
          <p:cNvSpPr/>
          <p:nvPr/>
        </p:nvSpPr>
        <p:spPr>
          <a:xfrm>
            <a:off x="1463632" y="3259020"/>
            <a:ext cx="0" cy="419574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theoryaxis2"/>
          <p:cNvSpPr/>
          <p:nvPr/>
        </p:nvSpPr>
        <p:spPr>
          <a:xfrm>
            <a:off x="2293023" y="3259020"/>
            <a:ext cx="0" cy="419574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90" name="theory_to_cache"/>
          <p:cNvCxnSpPr/>
          <p:nvPr/>
        </p:nvCxnSpPr>
        <p:spPr>
          <a:xfrm>
            <a:off x="3054111" y="3356595"/>
            <a:ext cx="341514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91" name="cache_to_cos"/>
          <p:cNvCxnSpPr/>
          <p:nvPr/>
        </p:nvCxnSpPr>
        <p:spPr>
          <a:xfrm flipV="1">
            <a:off x="5386164" y="2780900"/>
            <a:ext cx="487877" cy="585453"/>
          </a:xfrm>
          <a:prstGeom prst="bentConnector3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92" name="cos_to_candidates"/>
          <p:cNvCxnSpPr/>
          <p:nvPr/>
        </p:nvCxnSpPr>
        <p:spPr>
          <a:xfrm>
            <a:off x="6810766" y="2595507"/>
            <a:ext cx="312241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sp>
        <p:nvSpPr>
          <p:cNvPr id="93" name="specaxis0"/>
          <p:cNvSpPr/>
          <p:nvPr/>
        </p:nvSpPr>
        <p:spPr>
          <a:xfrm>
            <a:off x="8967183" y="1756358"/>
            <a:ext cx="0" cy="321999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specaxis1"/>
          <p:cNvSpPr/>
          <p:nvPr/>
        </p:nvSpPr>
        <p:spPr>
          <a:xfrm>
            <a:off x="8967183" y="2234478"/>
            <a:ext cx="0" cy="321999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specaxis2"/>
          <p:cNvSpPr/>
          <p:nvPr/>
        </p:nvSpPr>
        <p:spPr>
          <a:xfrm>
            <a:off x="8967183" y="2712597"/>
            <a:ext cx="0" cy="321999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specaxis3"/>
          <p:cNvSpPr/>
          <p:nvPr/>
        </p:nvSpPr>
        <p:spPr>
          <a:xfrm>
            <a:off x="8967183" y="3376110"/>
            <a:ext cx="0" cy="321999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qpeaks_axisx"/>
          <p:cNvSpPr/>
          <p:nvPr/>
        </p:nvSpPr>
        <p:spPr>
          <a:xfrm>
            <a:off x="575695" y="5659375"/>
            <a:ext cx="1161148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" name="qpeaks_axisy"/>
          <p:cNvSpPr/>
          <p:nvPr/>
        </p:nvSpPr>
        <p:spPr>
          <a:xfrm>
            <a:off x="575695" y="5161741"/>
            <a:ext cx="0" cy="497635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qpeaks0"/>
          <p:cNvSpPr/>
          <p:nvPr/>
        </p:nvSpPr>
        <p:spPr>
          <a:xfrm flipV="1">
            <a:off x="703421" y="5475251"/>
            <a:ext cx="0" cy="184125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" name="qpeaks1"/>
          <p:cNvSpPr/>
          <p:nvPr/>
        </p:nvSpPr>
        <p:spPr>
          <a:xfrm flipV="1">
            <a:off x="831148" y="5475251"/>
            <a:ext cx="0" cy="184125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qpeaks2"/>
          <p:cNvSpPr/>
          <p:nvPr/>
        </p:nvSpPr>
        <p:spPr>
          <a:xfrm flipV="1">
            <a:off x="982097" y="5261268"/>
            <a:ext cx="0" cy="398108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qpeaks3"/>
          <p:cNvSpPr/>
          <p:nvPr/>
        </p:nvSpPr>
        <p:spPr>
          <a:xfrm flipV="1">
            <a:off x="1109823" y="5510085"/>
            <a:ext cx="0" cy="149290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qpeaks4"/>
          <p:cNvSpPr/>
          <p:nvPr/>
        </p:nvSpPr>
        <p:spPr>
          <a:xfrm flipV="1">
            <a:off x="1539448" y="5246339"/>
            <a:ext cx="0" cy="413037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qpeaks5"/>
          <p:cNvSpPr/>
          <p:nvPr/>
        </p:nvSpPr>
        <p:spPr>
          <a:xfrm flipV="1">
            <a:off x="1620728" y="5510085"/>
            <a:ext cx="0" cy="149290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peakstablev0"/>
          <p:cNvSpPr/>
          <p:nvPr/>
        </p:nvSpPr>
        <p:spPr>
          <a:xfrm>
            <a:off x="2587701" y="4888530"/>
            <a:ext cx="0" cy="839149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peakstablev1"/>
          <p:cNvSpPr/>
          <p:nvPr/>
        </p:nvSpPr>
        <p:spPr>
          <a:xfrm>
            <a:off x="3114608" y="4888530"/>
            <a:ext cx="0" cy="839149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peakstablev2"/>
          <p:cNvSpPr/>
          <p:nvPr/>
        </p:nvSpPr>
        <p:spPr>
          <a:xfrm>
            <a:off x="3957660" y="4888530"/>
            <a:ext cx="0" cy="839149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peakstableh1"/>
          <p:cNvSpPr/>
          <p:nvPr/>
        </p:nvSpPr>
        <p:spPr>
          <a:xfrm>
            <a:off x="1902721" y="5056359"/>
            <a:ext cx="2634537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peakstableh2"/>
          <p:cNvSpPr/>
          <p:nvPr/>
        </p:nvSpPr>
        <p:spPr>
          <a:xfrm>
            <a:off x="1902721" y="5224189"/>
            <a:ext cx="2634537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peakstableh3"/>
          <p:cNvSpPr/>
          <p:nvPr/>
        </p:nvSpPr>
        <p:spPr>
          <a:xfrm>
            <a:off x="1902721" y="5392019"/>
            <a:ext cx="2634537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peakstableh4"/>
          <p:cNvSpPr/>
          <p:nvPr/>
        </p:nvSpPr>
        <p:spPr>
          <a:xfrm>
            <a:off x="1902721" y="5559849"/>
            <a:ext cx="2634537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modetablev0"/>
          <p:cNvSpPr/>
          <p:nvPr/>
        </p:nvSpPr>
        <p:spPr>
          <a:xfrm>
            <a:off x="3289073" y="5961859"/>
            <a:ext cx="0" cy="848906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modetablev1"/>
          <p:cNvSpPr/>
          <p:nvPr/>
        </p:nvSpPr>
        <p:spPr>
          <a:xfrm>
            <a:off x="3900285" y="5961859"/>
            <a:ext cx="0" cy="848906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modetableh1"/>
          <p:cNvSpPr/>
          <p:nvPr/>
        </p:nvSpPr>
        <p:spPr>
          <a:xfrm>
            <a:off x="2293023" y="6131641"/>
            <a:ext cx="2263750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modetableh2"/>
          <p:cNvSpPr/>
          <p:nvPr/>
        </p:nvSpPr>
        <p:spPr>
          <a:xfrm>
            <a:off x="2293023" y="6301422"/>
            <a:ext cx="2263750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modetableh3"/>
          <p:cNvSpPr/>
          <p:nvPr/>
        </p:nvSpPr>
        <p:spPr>
          <a:xfrm>
            <a:off x="2293023" y="6471203"/>
            <a:ext cx="2263750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modetableh4"/>
          <p:cNvSpPr/>
          <p:nvPr/>
        </p:nvSpPr>
        <p:spPr>
          <a:xfrm>
            <a:off x="2293023" y="6640984"/>
            <a:ext cx="2263750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8" name="peak_to_match"/>
          <p:cNvCxnSpPr/>
          <p:nvPr/>
        </p:nvCxnSpPr>
        <p:spPr>
          <a:xfrm>
            <a:off x="4722651" y="5161741"/>
            <a:ext cx="419574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119" name="mode_to_match"/>
          <p:cNvCxnSpPr/>
          <p:nvPr/>
        </p:nvCxnSpPr>
        <p:spPr>
          <a:xfrm>
            <a:off x="4732409" y="6244828"/>
            <a:ext cx="409817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sp>
        <p:nvSpPr>
          <p:cNvPr id="121" name="etablev0"/>
          <p:cNvSpPr/>
          <p:nvPr/>
        </p:nvSpPr>
        <p:spPr>
          <a:xfrm>
            <a:off x="8237709" y="5093438"/>
            <a:ext cx="0" cy="907452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etablev1"/>
          <p:cNvSpPr/>
          <p:nvPr/>
        </p:nvSpPr>
        <p:spPr>
          <a:xfrm>
            <a:off x="9516337" y="5093438"/>
            <a:ext cx="0" cy="907452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etableh1"/>
          <p:cNvSpPr/>
          <p:nvPr/>
        </p:nvSpPr>
        <p:spPr>
          <a:xfrm>
            <a:off x="7415733" y="5274928"/>
            <a:ext cx="3044354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etableh2"/>
          <p:cNvSpPr/>
          <p:nvPr/>
        </p:nvSpPr>
        <p:spPr>
          <a:xfrm>
            <a:off x="7415733" y="5456419"/>
            <a:ext cx="3044354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etableh3"/>
          <p:cNvSpPr/>
          <p:nvPr/>
        </p:nvSpPr>
        <p:spPr>
          <a:xfrm>
            <a:off x="7415733" y="5637909"/>
            <a:ext cx="3044354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etableh4"/>
          <p:cNvSpPr/>
          <p:nvPr/>
        </p:nvSpPr>
        <p:spPr>
          <a:xfrm>
            <a:off x="7415733" y="5819399"/>
            <a:ext cx="3044354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27" name="match_to_e"/>
          <p:cNvCxnSpPr/>
          <p:nvPr/>
        </p:nvCxnSpPr>
        <p:spPr>
          <a:xfrm>
            <a:off x="6830281" y="5200771"/>
            <a:ext cx="400059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sp>
        <p:nvSpPr>
          <p:cNvPr id="128" name="Pchart_axisx"/>
          <p:cNvSpPr/>
          <p:nvPr/>
        </p:nvSpPr>
        <p:spPr>
          <a:xfrm>
            <a:off x="11455357" y="3317565"/>
            <a:ext cx="1961266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Pchart_axisy"/>
          <p:cNvSpPr/>
          <p:nvPr/>
        </p:nvSpPr>
        <p:spPr>
          <a:xfrm>
            <a:off x="11455357" y="2693082"/>
            <a:ext cx="0" cy="624483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Pchart0"/>
          <p:cNvSpPr/>
          <p:nvPr/>
        </p:nvSpPr>
        <p:spPr>
          <a:xfrm flipV="1">
            <a:off x="11573033" y="3092751"/>
            <a:ext cx="0" cy="224814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Pchart1"/>
          <p:cNvSpPr/>
          <p:nvPr/>
        </p:nvSpPr>
        <p:spPr>
          <a:xfrm flipV="1">
            <a:off x="11769159" y="2992834"/>
            <a:ext cx="0" cy="324731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Pchart2"/>
          <p:cNvSpPr/>
          <p:nvPr/>
        </p:nvSpPr>
        <p:spPr>
          <a:xfrm flipV="1">
            <a:off x="11926061" y="3230137"/>
            <a:ext cx="0" cy="87428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Pchart3"/>
          <p:cNvSpPr/>
          <p:nvPr/>
        </p:nvSpPr>
        <p:spPr>
          <a:xfrm flipV="1">
            <a:off x="12043736" y="2693082"/>
            <a:ext cx="0" cy="624483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Pchart4"/>
          <p:cNvSpPr/>
          <p:nvPr/>
        </p:nvSpPr>
        <p:spPr>
          <a:xfrm flipV="1">
            <a:off x="12612504" y="3086506"/>
            <a:ext cx="0" cy="231059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Pchart5"/>
          <p:cNvSpPr/>
          <p:nvPr/>
        </p:nvSpPr>
        <p:spPr>
          <a:xfrm flipV="1">
            <a:off x="13122433" y="2705572"/>
            <a:ext cx="0" cy="611993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6" name="Pchart6"/>
          <p:cNvSpPr/>
          <p:nvPr/>
        </p:nvSpPr>
        <p:spPr>
          <a:xfrm flipV="1">
            <a:off x="13220496" y="3173934"/>
            <a:ext cx="0" cy="143631"/>
          </a:xfrm>
          <a:prstGeom prst="line">
            <a:avLst/>
          </a:prstGeom>
          <a:noFill/>
          <a:ln w="17780">
            <a:solidFill>
              <a:srgbClr val="146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Etablev0"/>
          <p:cNvSpPr/>
          <p:nvPr/>
        </p:nvSpPr>
        <p:spPr>
          <a:xfrm>
            <a:off x="17888505" y="2361326"/>
            <a:ext cx="0" cy="111236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Etablev1"/>
          <p:cNvSpPr/>
          <p:nvPr/>
        </p:nvSpPr>
        <p:spPr>
          <a:xfrm>
            <a:off x="18526746" y="2361326"/>
            <a:ext cx="0" cy="111236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Etableh1"/>
          <p:cNvSpPr/>
          <p:nvPr/>
        </p:nvSpPr>
        <p:spPr>
          <a:xfrm>
            <a:off x="17270853" y="2639416"/>
            <a:ext cx="2058842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Etableh2"/>
          <p:cNvSpPr/>
          <p:nvPr/>
        </p:nvSpPr>
        <p:spPr>
          <a:xfrm>
            <a:off x="17270853" y="2917506"/>
            <a:ext cx="2058842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Etableh3"/>
          <p:cNvSpPr/>
          <p:nvPr/>
        </p:nvSpPr>
        <p:spPr>
          <a:xfrm>
            <a:off x="17270853" y="3195596"/>
            <a:ext cx="2058842" cy="0"/>
          </a:xfrm>
          <a:prstGeom prst="line">
            <a:avLst/>
          </a:prstGeom>
          <a:noFill/>
          <a:ln w="8890">
            <a:solidFill>
              <a:srgbClr val="B0B2BC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42" name="packet_to_reason"/>
          <p:cNvCxnSpPr/>
          <p:nvPr/>
        </p:nvCxnSpPr>
        <p:spPr>
          <a:xfrm>
            <a:off x="14850982" y="3688352"/>
            <a:ext cx="0" cy="282969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cxnSp>
        <p:nvCxnSpPr>
          <p:cNvPr id="143" name="sci_to_reason"/>
          <p:cNvCxnSpPr/>
          <p:nvPr/>
        </p:nvCxnSpPr>
        <p:spPr>
          <a:xfrm>
            <a:off x="11982264" y="4547015"/>
            <a:ext cx="292726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144" name="assign_compare"/>
          <p:cNvCxnSpPr/>
          <p:nvPr/>
        </p:nvCxnSpPr>
        <p:spPr>
          <a:xfrm>
            <a:off x="13719107" y="4712894"/>
            <a:ext cx="292726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145" name="compare_select"/>
          <p:cNvCxnSpPr/>
          <p:nvPr/>
        </p:nvCxnSpPr>
        <p:spPr>
          <a:xfrm>
            <a:off x="15426677" y="4712894"/>
            <a:ext cx="292726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146" name="reason_out"/>
          <p:cNvCxnSpPr/>
          <p:nvPr/>
        </p:nvCxnSpPr>
        <p:spPr>
          <a:xfrm>
            <a:off x="17095217" y="4547015"/>
            <a:ext cx="185393" cy="0"/>
          </a:xfrm>
          <a:prstGeom prst="line">
            <a:avLst/>
          </a:prstGeom>
          <a:noFill/>
          <a:ln w="15240">
            <a:solidFill>
              <a:srgbClr val="15151B"/>
            </a:solidFill>
            <a:tailEnd type="triangle" w="med" len="med"/>
          </a:ln>
        </p:spPr>
      </p:cxnSp>
      <p:cxnSp>
        <p:nvCxnSpPr>
          <p:cNvPr id="147" name="out_to_structure"/>
          <p:cNvCxnSpPr/>
          <p:nvPr/>
        </p:nvCxnSpPr>
        <p:spPr>
          <a:xfrm>
            <a:off x="18480788" y="5044650"/>
            <a:ext cx="0" cy="351272"/>
          </a:xfrm>
          <a:prstGeom prst="line">
            <a:avLst/>
          </a:prstGeom>
          <a:noFill/>
          <a:ln w="21590">
            <a:solidFill>
              <a:srgbClr val="15151B"/>
            </a:solidFill>
            <a:tailEnd type="triangle" w="med" len="med"/>
          </a:ln>
        </p:spPr>
      </p:cxnSp>
      <p:sp>
        <p:nvSpPr>
          <p:cNvPr id="148" name="candpeaks0_axisx"/>
          <p:cNvSpPr/>
          <p:nvPr/>
        </p:nvSpPr>
        <p:spPr>
          <a:xfrm>
            <a:off x="11211418" y="6674160"/>
            <a:ext cx="1229451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candpeaks0_axisy"/>
          <p:cNvSpPr/>
          <p:nvPr/>
        </p:nvSpPr>
        <p:spPr>
          <a:xfrm>
            <a:off x="11211418" y="6225313"/>
            <a:ext cx="0" cy="448847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candpeaks00"/>
          <p:cNvSpPr/>
          <p:nvPr/>
        </p:nvSpPr>
        <p:spPr>
          <a:xfrm flipV="1">
            <a:off x="11309774" y="6476667"/>
            <a:ext cx="0" cy="197493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candpeaks01"/>
          <p:cNvSpPr/>
          <p:nvPr/>
        </p:nvSpPr>
        <p:spPr>
          <a:xfrm flipV="1">
            <a:off x="11506486" y="6440760"/>
            <a:ext cx="0" cy="233400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" name="candpeaks02"/>
          <p:cNvSpPr/>
          <p:nvPr/>
        </p:nvSpPr>
        <p:spPr>
          <a:xfrm flipV="1">
            <a:off x="11629431" y="6543994"/>
            <a:ext cx="0" cy="13016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" name="candpeaks03"/>
          <p:cNvSpPr/>
          <p:nvPr/>
        </p:nvSpPr>
        <p:spPr>
          <a:xfrm flipV="1">
            <a:off x="11936794" y="6472179"/>
            <a:ext cx="0" cy="201981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" name="candpeaks04"/>
          <p:cNvSpPr/>
          <p:nvPr/>
        </p:nvSpPr>
        <p:spPr>
          <a:xfrm flipV="1">
            <a:off x="12145800" y="6552971"/>
            <a:ext cx="0" cy="121189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" name="candpeaks05"/>
          <p:cNvSpPr/>
          <p:nvPr/>
        </p:nvSpPr>
        <p:spPr>
          <a:xfrm flipV="1">
            <a:off x="12317923" y="6517064"/>
            <a:ext cx="0" cy="15709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red0_0"/>
          <p:cNvSpPr/>
          <p:nvPr/>
        </p:nvSpPr>
        <p:spPr>
          <a:xfrm flipV="1">
            <a:off x="11604842" y="6346502"/>
            <a:ext cx="0" cy="32765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red0_1"/>
          <p:cNvSpPr/>
          <p:nvPr/>
        </p:nvSpPr>
        <p:spPr>
          <a:xfrm flipV="1">
            <a:off x="12244156" y="6288152"/>
            <a:ext cx="0" cy="38600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8" name="canddivider0"/>
          <p:cNvSpPr/>
          <p:nvPr/>
        </p:nvSpPr>
        <p:spPr>
          <a:xfrm>
            <a:off x="12567717" y="5815496"/>
            <a:ext cx="0" cy="897694"/>
          </a:xfrm>
          <a:prstGeom prst="line">
            <a:avLst/>
          </a:prstGeom>
          <a:noFill/>
          <a:ln w="10160">
            <a:solidFill>
              <a:srgbClr val="9DA0A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9" name="candpeaks1_axisx"/>
          <p:cNvSpPr/>
          <p:nvPr/>
        </p:nvSpPr>
        <p:spPr>
          <a:xfrm>
            <a:off x="12723837" y="6674160"/>
            <a:ext cx="1229451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0" name="candpeaks1_axisy"/>
          <p:cNvSpPr/>
          <p:nvPr/>
        </p:nvSpPr>
        <p:spPr>
          <a:xfrm>
            <a:off x="12723837" y="6225313"/>
            <a:ext cx="0" cy="448847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1" name="candpeaks10"/>
          <p:cNvSpPr/>
          <p:nvPr/>
        </p:nvSpPr>
        <p:spPr>
          <a:xfrm flipV="1">
            <a:off x="12822193" y="6476667"/>
            <a:ext cx="0" cy="197493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2" name="candpeaks11"/>
          <p:cNvSpPr/>
          <p:nvPr/>
        </p:nvSpPr>
        <p:spPr>
          <a:xfrm flipV="1">
            <a:off x="13018905" y="6440760"/>
            <a:ext cx="0" cy="233400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3" name="candpeaks12"/>
          <p:cNvSpPr/>
          <p:nvPr/>
        </p:nvSpPr>
        <p:spPr>
          <a:xfrm flipV="1">
            <a:off x="13141850" y="6543994"/>
            <a:ext cx="0" cy="13016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4" name="candpeaks13"/>
          <p:cNvSpPr/>
          <p:nvPr/>
        </p:nvSpPr>
        <p:spPr>
          <a:xfrm flipV="1">
            <a:off x="13449213" y="6472179"/>
            <a:ext cx="0" cy="201981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5" name="candpeaks14"/>
          <p:cNvSpPr/>
          <p:nvPr/>
        </p:nvSpPr>
        <p:spPr>
          <a:xfrm flipV="1">
            <a:off x="13658220" y="6552971"/>
            <a:ext cx="0" cy="121189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6" name="candpeaks15"/>
          <p:cNvSpPr/>
          <p:nvPr/>
        </p:nvSpPr>
        <p:spPr>
          <a:xfrm flipV="1">
            <a:off x="13830343" y="6517064"/>
            <a:ext cx="0" cy="15709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7" name="red1_0"/>
          <p:cNvSpPr/>
          <p:nvPr/>
        </p:nvSpPr>
        <p:spPr>
          <a:xfrm flipV="1">
            <a:off x="13117261" y="6346502"/>
            <a:ext cx="0" cy="32765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8" name="red1_1"/>
          <p:cNvSpPr/>
          <p:nvPr/>
        </p:nvSpPr>
        <p:spPr>
          <a:xfrm flipV="1">
            <a:off x="13756576" y="6288152"/>
            <a:ext cx="0" cy="38600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9" name="canddivider1"/>
          <p:cNvSpPr/>
          <p:nvPr/>
        </p:nvSpPr>
        <p:spPr>
          <a:xfrm>
            <a:off x="14080136" y="5815496"/>
            <a:ext cx="0" cy="897694"/>
          </a:xfrm>
          <a:prstGeom prst="line">
            <a:avLst/>
          </a:prstGeom>
          <a:noFill/>
          <a:ln w="10160">
            <a:solidFill>
              <a:srgbClr val="9DA0A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70" name="candpeaks2_axisx"/>
          <p:cNvSpPr/>
          <p:nvPr/>
        </p:nvSpPr>
        <p:spPr>
          <a:xfrm>
            <a:off x="14226499" y="6674160"/>
            <a:ext cx="1229451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1" name="candpeaks2_axisy"/>
          <p:cNvSpPr/>
          <p:nvPr/>
        </p:nvSpPr>
        <p:spPr>
          <a:xfrm>
            <a:off x="14226499" y="6225313"/>
            <a:ext cx="0" cy="448847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2" name="candpeaks20"/>
          <p:cNvSpPr/>
          <p:nvPr/>
        </p:nvSpPr>
        <p:spPr>
          <a:xfrm flipV="1">
            <a:off x="14324855" y="6476667"/>
            <a:ext cx="0" cy="197493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3" name="candpeaks21"/>
          <p:cNvSpPr/>
          <p:nvPr/>
        </p:nvSpPr>
        <p:spPr>
          <a:xfrm flipV="1">
            <a:off x="14521567" y="6440760"/>
            <a:ext cx="0" cy="233400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4" name="candpeaks22"/>
          <p:cNvSpPr/>
          <p:nvPr/>
        </p:nvSpPr>
        <p:spPr>
          <a:xfrm flipV="1">
            <a:off x="14644512" y="6543994"/>
            <a:ext cx="0" cy="13016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5" name="candpeaks23"/>
          <p:cNvSpPr/>
          <p:nvPr/>
        </p:nvSpPr>
        <p:spPr>
          <a:xfrm flipV="1">
            <a:off x="14951875" y="6472179"/>
            <a:ext cx="0" cy="201981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6" name="candpeaks24"/>
          <p:cNvSpPr/>
          <p:nvPr/>
        </p:nvSpPr>
        <p:spPr>
          <a:xfrm flipV="1">
            <a:off x="15160881" y="6552971"/>
            <a:ext cx="0" cy="121189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7" name="candpeaks25"/>
          <p:cNvSpPr/>
          <p:nvPr/>
        </p:nvSpPr>
        <p:spPr>
          <a:xfrm flipV="1">
            <a:off x="15333005" y="6517064"/>
            <a:ext cx="0" cy="15709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8" name="red2_0"/>
          <p:cNvSpPr/>
          <p:nvPr/>
        </p:nvSpPr>
        <p:spPr>
          <a:xfrm flipV="1">
            <a:off x="14619923" y="6346502"/>
            <a:ext cx="0" cy="32765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9" name="red2_1"/>
          <p:cNvSpPr/>
          <p:nvPr/>
        </p:nvSpPr>
        <p:spPr>
          <a:xfrm flipV="1">
            <a:off x="15259238" y="6288152"/>
            <a:ext cx="0" cy="38600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0" name="canddivider2"/>
          <p:cNvSpPr/>
          <p:nvPr/>
        </p:nvSpPr>
        <p:spPr>
          <a:xfrm>
            <a:off x="15816979" y="5815496"/>
            <a:ext cx="0" cy="897694"/>
          </a:xfrm>
          <a:prstGeom prst="line">
            <a:avLst/>
          </a:prstGeom>
          <a:noFill/>
          <a:ln w="10160">
            <a:solidFill>
              <a:srgbClr val="9DA0A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1" name="candpeaks3_axisx"/>
          <p:cNvSpPr/>
          <p:nvPr/>
        </p:nvSpPr>
        <p:spPr>
          <a:xfrm>
            <a:off x="16012130" y="6674160"/>
            <a:ext cx="1044057" cy="0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2" name="candpeaks3_axisy"/>
          <p:cNvSpPr/>
          <p:nvPr/>
        </p:nvSpPr>
        <p:spPr>
          <a:xfrm>
            <a:off x="16012130" y="6225313"/>
            <a:ext cx="0" cy="448847"/>
          </a:xfrm>
          <a:prstGeom prst="line">
            <a:avLst/>
          </a:prstGeom>
          <a:noFill/>
          <a:ln w="15240">
            <a:solidFill>
              <a:srgbClr val="15151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candpeaks30"/>
          <p:cNvSpPr/>
          <p:nvPr/>
        </p:nvSpPr>
        <p:spPr>
          <a:xfrm flipV="1">
            <a:off x="16095654" y="6476667"/>
            <a:ext cx="0" cy="197493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4" name="candpeaks31"/>
          <p:cNvSpPr/>
          <p:nvPr/>
        </p:nvSpPr>
        <p:spPr>
          <a:xfrm flipV="1">
            <a:off x="16262703" y="6440760"/>
            <a:ext cx="0" cy="233400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candpeaks32"/>
          <p:cNvSpPr/>
          <p:nvPr/>
        </p:nvSpPr>
        <p:spPr>
          <a:xfrm flipV="1">
            <a:off x="16367109" y="6543994"/>
            <a:ext cx="0" cy="13016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6" name="candpeaks33"/>
          <p:cNvSpPr/>
          <p:nvPr/>
        </p:nvSpPr>
        <p:spPr>
          <a:xfrm flipV="1">
            <a:off x="16628123" y="6472179"/>
            <a:ext cx="0" cy="201981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candpeaks34"/>
          <p:cNvSpPr/>
          <p:nvPr/>
        </p:nvSpPr>
        <p:spPr>
          <a:xfrm flipV="1">
            <a:off x="16805613" y="6552971"/>
            <a:ext cx="0" cy="121189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8" name="candpeaks35"/>
          <p:cNvSpPr/>
          <p:nvPr/>
        </p:nvSpPr>
        <p:spPr>
          <a:xfrm flipV="1">
            <a:off x="16951781" y="6517064"/>
            <a:ext cx="0" cy="157096"/>
          </a:xfrm>
          <a:prstGeom prst="line">
            <a:avLst/>
          </a:prstGeom>
          <a:noFill/>
          <a:ln w="17780">
            <a:solidFill>
              <a:srgbClr val="A1A2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9" name="red3_0"/>
          <p:cNvSpPr/>
          <p:nvPr/>
        </p:nvSpPr>
        <p:spPr>
          <a:xfrm flipV="1">
            <a:off x="16346228" y="6346502"/>
            <a:ext cx="0" cy="32765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0" name="red3_1"/>
          <p:cNvSpPr/>
          <p:nvPr/>
        </p:nvSpPr>
        <p:spPr>
          <a:xfrm flipV="1">
            <a:off x="16889138" y="6288152"/>
            <a:ext cx="0" cy="386008"/>
          </a:xfrm>
          <a:prstGeom prst="line">
            <a:avLst/>
          </a:prstGeom>
          <a:noFill/>
          <a:ln w="12700">
            <a:solidFill>
              <a:srgbClr val="FF414A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1" name="spectrum_blue"/>
          <p:cNvPicPr/>
          <p:nvPr/>
        </p:nvPicPr>
        <p:blipFill>
          <a:blip r:embed="rId3"/>
          <a:stretch>
            <a:fillRect/>
          </a:stretch>
        </p:blipFill>
        <p:spPr>
          <a:xfrm>
            <a:off x="2176939" y="177587"/>
            <a:ext cx="1920223" cy="737670"/>
          </a:xfrm>
          <a:prstGeom prst="rect">
            <a:avLst/>
          </a:prstGeom>
        </p:spPr>
      </p:pic>
      <p:pic>
        <p:nvPicPr>
          <p:cNvPr id="192" name="magnifier"/>
          <p:cNvPicPr/>
          <p:nvPr/>
        </p:nvPicPr>
        <p:blipFill>
          <a:blip r:embed="rId4"/>
          <a:stretch>
            <a:fillRect/>
          </a:stretch>
        </p:blipFill>
        <p:spPr>
          <a:xfrm>
            <a:off x="4849499" y="271415"/>
            <a:ext cx="507392" cy="530499"/>
          </a:xfrm>
          <a:prstGeom prst="rect">
            <a:avLst/>
          </a:prstGeom>
        </p:spPr>
      </p:pic>
      <p:pic>
        <p:nvPicPr>
          <p:cNvPr id="193" name="phenyl_chain"/>
          <p:cNvPicPr/>
          <p:nvPr/>
        </p:nvPicPr>
        <p:blipFill>
          <a:blip r:embed="rId5"/>
          <a:stretch>
            <a:fillRect/>
          </a:stretch>
        </p:blipFill>
        <p:spPr>
          <a:xfrm>
            <a:off x="7546411" y="404849"/>
            <a:ext cx="968096" cy="546600"/>
          </a:xfrm>
          <a:prstGeom prst="rect">
            <a:avLst/>
          </a:prstGeom>
        </p:spPr>
      </p:pic>
      <p:pic>
        <p:nvPicPr>
          <p:cNvPr id="194" name="evidence_molecule"/>
          <p:cNvPicPr/>
          <p:nvPr/>
        </p:nvPicPr>
        <p:blipFill>
          <a:blip r:embed="rId6"/>
          <a:stretch>
            <a:fillRect/>
          </a:stretch>
        </p:blipFill>
        <p:spPr>
          <a:xfrm>
            <a:off x="11608355" y="412693"/>
            <a:ext cx="872910" cy="501640"/>
          </a:xfrm>
          <a:prstGeom prst="rect">
            <a:avLst/>
          </a:prstGeom>
        </p:spPr>
      </p:pic>
      <p:pic>
        <p:nvPicPr>
          <p:cNvPr id="195" name="document"/>
          <p:cNvPicPr/>
          <p:nvPr/>
        </p:nvPicPr>
        <p:blipFill>
          <a:blip r:embed="rId7"/>
          <a:stretch>
            <a:fillRect/>
          </a:stretch>
        </p:blipFill>
        <p:spPr>
          <a:xfrm>
            <a:off x="12663537" y="421593"/>
            <a:ext cx="393812" cy="522870"/>
          </a:xfrm>
          <a:prstGeom prst="rect">
            <a:avLst/>
          </a:prstGeom>
        </p:spPr>
      </p:pic>
      <p:pic>
        <p:nvPicPr>
          <p:cNvPr id="196" name="robot_head"/>
          <p:cNvPicPr/>
          <p:nvPr/>
        </p:nvPicPr>
        <p:blipFill>
          <a:blip r:embed="rId8"/>
          <a:stretch>
            <a:fillRect/>
          </a:stretch>
        </p:blipFill>
        <p:spPr>
          <a:xfrm>
            <a:off x="14417998" y="201991"/>
            <a:ext cx="680575" cy="718135"/>
          </a:xfrm>
          <a:prstGeom prst="rect">
            <a:avLst/>
          </a:prstGeom>
        </p:spPr>
      </p:pic>
      <p:pic>
        <p:nvPicPr>
          <p:cNvPr id="197" name="benzamide"/>
          <p:cNvPicPr/>
          <p:nvPr/>
        </p:nvPicPr>
        <p:blipFill>
          <a:blip r:embed="rId9"/>
          <a:stretch>
            <a:fillRect/>
          </a:stretch>
        </p:blipFill>
        <p:spPr>
          <a:xfrm>
            <a:off x="17853337" y="387756"/>
            <a:ext cx="869561" cy="587998"/>
          </a:xfrm>
          <a:prstGeom prst="rect">
            <a:avLst/>
          </a:prstGeom>
        </p:spPr>
      </p:pic>
      <p:pic>
        <p:nvPicPr>
          <p:cNvPr id="198" name="spectrum_blue"/>
          <p:cNvPicPr/>
          <p:nvPr/>
        </p:nvPicPr>
        <p:blipFill>
          <a:blip r:embed="rId3"/>
          <a:stretch>
            <a:fillRect/>
          </a:stretch>
        </p:blipFill>
        <p:spPr>
          <a:xfrm>
            <a:off x="644641" y="1842224"/>
            <a:ext cx="1764829" cy="696689"/>
          </a:xfrm>
          <a:prstGeom prst="rect">
            <a:avLst/>
          </a:prstGeom>
        </p:spPr>
      </p:pic>
      <p:pic>
        <p:nvPicPr>
          <p:cNvPr id="199" name="spectrum_blue"/>
          <p:cNvPicPr/>
          <p:nvPr/>
        </p:nvPicPr>
        <p:blipFill>
          <a:blip r:embed="rId3"/>
          <a:stretch>
            <a:fillRect/>
          </a:stretch>
        </p:blipFill>
        <p:spPr>
          <a:xfrm>
            <a:off x="566413" y="3210232"/>
            <a:ext cx="799168" cy="546422"/>
          </a:xfrm>
          <a:prstGeom prst="rect">
            <a:avLst/>
          </a:prstGeom>
        </p:spPr>
      </p:pic>
      <p:pic>
        <p:nvPicPr>
          <p:cNvPr id="200" name="spectrum_orange"/>
          <p:cNvPicPr/>
          <p:nvPr/>
        </p:nvPicPr>
        <p:blipFill>
          <a:blip r:embed="rId10"/>
          <a:stretch>
            <a:fillRect/>
          </a:stretch>
        </p:blipFill>
        <p:spPr>
          <a:xfrm>
            <a:off x="1436701" y="3212136"/>
            <a:ext cx="814950" cy="539441"/>
          </a:xfrm>
          <a:prstGeom prst="rect">
            <a:avLst/>
          </a:prstGeom>
        </p:spPr>
      </p:pic>
      <p:pic>
        <p:nvPicPr>
          <p:cNvPr id="201" name="spectrum_green"/>
          <p:cNvPicPr/>
          <p:nvPr/>
        </p:nvPicPr>
        <p:blipFill>
          <a:blip r:embed="rId11"/>
          <a:stretch>
            <a:fillRect/>
          </a:stretch>
        </p:blipFill>
        <p:spPr>
          <a:xfrm>
            <a:off x="2280804" y="3210877"/>
            <a:ext cx="658678" cy="545132"/>
          </a:xfrm>
          <a:prstGeom prst="rect">
            <a:avLst/>
          </a:prstGeom>
        </p:spPr>
      </p:pic>
      <p:pic>
        <p:nvPicPr>
          <p:cNvPr id="202" name="molecule_o"/>
          <p:cNvPicPr/>
          <p:nvPr/>
        </p:nvPicPr>
        <p:blipFill>
          <a:blip r:embed="rId12"/>
          <a:stretch>
            <a:fillRect/>
          </a:stretch>
        </p:blipFill>
        <p:spPr>
          <a:xfrm>
            <a:off x="7716049" y="1800363"/>
            <a:ext cx="599547" cy="448656"/>
          </a:xfrm>
          <a:prstGeom prst="rect">
            <a:avLst/>
          </a:prstGeom>
        </p:spPr>
      </p:pic>
      <p:pic>
        <p:nvPicPr>
          <p:cNvPr id="203" name="molecule_nh2"/>
          <p:cNvPicPr/>
          <p:nvPr/>
        </p:nvPicPr>
        <p:blipFill>
          <a:blip r:embed="rId13"/>
          <a:stretch>
            <a:fillRect/>
          </a:stretch>
        </p:blipFill>
        <p:spPr>
          <a:xfrm>
            <a:off x="7710687" y="2252271"/>
            <a:ext cx="795665" cy="462048"/>
          </a:xfrm>
          <a:prstGeom prst="rect">
            <a:avLst/>
          </a:prstGeom>
        </p:spPr>
      </p:pic>
      <p:pic>
        <p:nvPicPr>
          <p:cNvPr id="204" name="molecule_oh"/>
          <p:cNvPicPr/>
          <p:nvPr/>
        </p:nvPicPr>
        <p:blipFill>
          <a:blip r:embed="rId14"/>
          <a:stretch>
            <a:fillRect/>
          </a:stretch>
        </p:blipFill>
        <p:spPr>
          <a:xfrm>
            <a:off x="7687815" y="2670846"/>
            <a:ext cx="695046" cy="459447"/>
          </a:xfrm>
          <a:prstGeom prst="rect">
            <a:avLst/>
          </a:prstGeom>
        </p:spPr>
      </p:pic>
      <p:pic>
        <p:nvPicPr>
          <p:cNvPr id="205" name="molecule_n"/>
          <p:cNvPicPr/>
          <p:nvPr/>
        </p:nvPicPr>
        <p:blipFill>
          <a:blip r:embed="rId15"/>
          <a:stretch>
            <a:fillRect/>
          </a:stretch>
        </p:blipFill>
        <p:spPr>
          <a:xfrm>
            <a:off x="7689169" y="3346255"/>
            <a:ext cx="397883" cy="461653"/>
          </a:xfrm>
          <a:prstGeom prst="rect">
            <a:avLst/>
          </a:prstGeom>
        </p:spPr>
      </p:pic>
      <p:pic>
        <p:nvPicPr>
          <p:cNvPr id="206" name="spectrum_blue"/>
          <p:cNvPicPr/>
          <p:nvPr/>
        </p:nvPicPr>
        <p:blipFill>
          <a:blip r:embed="rId3"/>
          <a:stretch>
            <a:fillRect/>
          </a:stretch>
        </p:blipFill>
        <p:spPr>
          <a:xfrm>
            <a:off x="8938190" y="1715376"/>
            <a:ext cx="1609436" cy="423477"/>
          </a:xfrm>
          <a:prstGeom prst="rect">
            <a:avLst/>
          </a:prstGeom>
        </p:spPr>
      </p:pic>
      <p:pic>
        <p:nvPicPr>
          <p:cNvPr id="207" name="spectrum_orange"/>
          <p:cNvPicPr/>
          <p:nvPr/>
        </p:nvPicPr>
        <p:blipFill>
          <a:blip r:embed="rId10"/>
          <a:stretch>
            <a:fillRect/>
          </a:stretch>
        </p:blipFill>
        <p:spPr>
          <a:xfrm>
            <a:off x="8922298" y="2194971"/>
            <a:ext cx="1641219" cy="418067"/>
          </a:xfrm>
          <a:prstGeom prst="rect">
            <a:avLst/>
          </a:prstGeom>
        </p:spPr>
      </p:pic>
      <p:pic>
        <p:nvPicPr>
          <p:cNvPr id="208" name="spectrum_green"/>
          <p:cNvPicPr/>
          <p:nvPr/>
        </p:nvPicPr>
        <p:blipFill>
          <a:blip r:embed="rId11"/>
          <a:stretch>
            <a:fillRect/>
          </a:stretch>
        </p:blipFill>
        <p:spPr>
          <a:xfrm>
            <a:off x="8933515" y="2672116"/>
            <a:ext cx="1618785" cy="422477"/>
          </a:xfrm>
          <a:prstGeom prst="rect">
            <a:avLst/>
          </a:prstGeom>
        </p:spPr>
      </p:pic>
      <p:pic>
        <p:nvPicPr>
          <p:cNvPr id="209" name="spectrum_purple"/>
          <p:cNvPicPr/>
          <p:nvPr/>
        </p:nvPicPr>
        <p:blipFill>
          <a:blip r:embed="rId16"/>
          <a:stretch>
            <a:fillRect/>
          </a:stretch>
        </p:blipFill>
        <p:spPr>
          <a:xfrm>
            <a:off x="8938190" y="3328407"/>
            <a:ext cx="1609436" cy="436921"/>
          </a:xfrm>
          <a:prstGeom prst="rect">
            <a:avLst/>
          </a:prstGeom>
        </p:spPr>
      </p:pic>
      <p:pic>
        <p:nvPicPr>
          <p:cNvPr id="210" name="database"/>
          <p:cNvPicPr/>
          <p:nvPr/>
        </p:nvPicPr>
        <p:blipFill>
          <a:blip r:embed="rId17"/>
          <a:stretch>
            <a:fillRect/>
          </a:stretch>
        </p:blipFill>
        <p:spPr>
          <a:xfrm>
            <a:off x="1757617" y="4021917"/>
            <a:ext cx="270693" cy="308623"/>
          </a:xfrm>
          <a:prstGeom prst="rect">
            <a:avLst/>
          </a:prstGeom>
        </p:spPr>
      </p:pic>
      <p:pic>
        <p:nvPicPr>
          <p:cNvPr id="211" name="document"/>
          <p:cNvPicPr/>
          <p:nvPr/>
        </p:nvPicPr>
        <p:blipFill>
          <a:blip r:embed="rId7"/>
          <a:stretch>
            <a:fillRect/>
          </a:stretch>
        </p:blipFill>
        <p:spPr>
          <a:xfrm>
            <a:off x="522766" y="6141533"/>
            <a:ext cx="564463" cy="684710"/>
          </a:xfrm>
          <a:prstGeom prst="rect">
            <a:avLst/>
          </a:prstGeom>
        </p:spPr>
      </p:pic>
      <p:pic>
        <p:nvPicPr>
          <p:cNvPr id="212" name="phenyl_chain"/>
          <p:cNvPicPr/>
          <p:nvPr/>
        </p:nvPicPr>
        <p:blipFill>
          <a:blip r:embed="rId5"/>
          <a:stretch>
            <a:fillRect/>
          </a:stretch>
        </p:blipFill>
        <p:spPr>
          <a:xfrm>
            <a:off x="7298644" y="6142285"/>
            <a:ext cx="944494" cy="546600"/>
          </a:xfrm>
          <a:prstGeom prst="rect">
            <a:avLst/>
          </a:prstGeom>
        </p:spPr>
      </p:pic>
      <p:pic>
        <p:nvPicPr>
          <p:cNvPr id="213" name="molecule_o"/>
          <p:cNvPicPr/>
          <p:nvPr/>
        </p:nvPicPr>
        <p:blipFill>
          <a:blip r:embed="rId12"/>
          <a:stretch>
            <a:fillRect/>
          </a:stretch>
        </p:blipFill>
        <p:spPr>
          <a:xfrm>
            <a:off x="14038783" y="2522421"/>
            <a:ext cx="598704" cy="448656"/>
          </a:xfrm>
          <a:prstGeom prst="rect">
            <a:avLst/>
          </a:prstGeom>
        </p:spPr>
      </p:pic>
      <p:pic>
        <p:nvPicPr>
          <p:cNvPr id="214" name="molecule_nh2"/>
          <p:cNvPicPr/>
          <p:nvPr/>
        </p:nvPicPr>
        <p:blipFill>
          <a:blip r:embed="rId13"/>
          <a:stretch>
            <a:fillRect/>
          </a:stretch>
        </p:blipFill>
        <p:spPr>
          <a:xfrm>
            <a:off x="14036531" y="2984087"/>
            <a:ext cx="738835" cy="462048"/>
          </a:xfrm>
          <a:prstGeom prst="rect">
            <a:avLst/>
          </a:prstGeom>
        </p:spPr>
      </p:pic>
      <p:pic>
        <p:nvPicPr>
          <p:cNvPr id="215" name="phenyl_chain"/>
          <p:cNvPicPr/>
          <p:nvPr/>
        </p:nvPicPr>
        <p:blipFill>
          <a:blip r:embed="rId5"/>
          <a:stretch>
            <a:fillRect/>
          </a:stretch>
        </p:blipFill>
        <p:spPr>
          <a:xfrm>
            <a:off x="15485229" y="2497931"/>
            <a:ext cx="878562" cy="490538"/>
          </a:xfrm>
          <a:prstGeom prst="rect">
            <a:avLst/>
          </a:prstGeom>
        </p:spPr>
      </p:pic>
      <p:pic>
        <p:nvPicPr>
          <p:cNvPr id="216" name="molecule_n"/>
          <p:cNvPicPr/>
          <p:nvPr/>
        </p:nvPicPr>
        <p:blipFill>
          <a:blip r:embed="rId15"/>
          <a:stretch>
            <a:fillRect/>
          </a:stretch>
        </p:blipFill>
        <p:spPr>
          <a:xfrm>
            <a:off x="15478928" y="3115705"/>
            <a:ext cx="519980" cy="469582"/>
          </a:xfrm>
          <a:prstGeom prst="rect">
            <a:avLst/>
          </a:prstGeom>
        </p:spPr>
      </p:pic>
      <p:pic>
        <p:nvPicPr>
          <p:cNvPr id="217" name="document"/>
          <p:cNvPicPr/>
          <p:nvPr/>
        </p:nvPicPr>
        <p:blipFill>
          <a:blip r:embed="rId7"/>
          <a:stretch>
            <a:fillRect/>
          </a:stretch>
        </p:blipFill>
        <p:spPr>
          <a:xfrm>
            <a:off x="16687997" y="2271825"/>
            <a:ext cx="511955" cy="647363"/>
          </a:xfrm>
          <a:prstGeom prst="rect">
            <a:avLst/>
          </a:prstGeom>
        </p:spPr>
      </p:pic>
      <p:pic>
        <p:nvPicPr>
          <p:cNvPr id="218" name="robot_coat"/>
          <p:cNvPicPr/>
          <p:nvPr/>
        </p:nvPicPr>
        <p:blipFill>
          <a:blip r:embed="rId18"/>
          <a:stretch>
            <a:fillRect/>
          </a:stretch>
        </p:blipFill>
        <p:spPr>
          <a:xfrm>
            <a:off x="11152956" y="3931330"/>
            <a:ext cx="807680" cy="899615"/>
          </a:xfrm>
          <a:prstGeom prst="rect">
            <a:avLst/>
          </a:prstGeom>
        </p:spPr>
      </p:pic>
      <p:pic>
        <p:nvPicPr>
          <p:cNvPr id="219" name="document"/>
          <p:cNvPicPr/>
          <p:nvPr/>
        </p:nvPicPr>
        <p:blipFill>
          <a:blip r:embed="rId7"/>
          <a:stretch>
            <a:fillRect/>
          </a:stretch>
        </p:blipFill>
        <p:spPr>
          <a:xfrm>
            <a:off x="17408371" y="4221988"/>
            <a:ext cx="525082" cy="659812"/>
          </a:xfrm>
          <a:prstGeom prst="rect">
            <a:avLst/>
          </a:prstGeom>
        </p:spPr>
      </p:pic>
      <p:pic>
        <p:nvPicPr>
          <p:cNvPr id="220" name="benzamide"/>
          <p:cNvPicPr/>
          <p:nvPr/>
        </p:nvPicPr>
        <p:blipFill>
          <a:blip r:embed="rId9"/>
          <a:stretch>
            <a:fillRect/>
          </a:stretch>
        </p:blipFill>
        <p:spPr>
          <a:xfrm>
            <a:off x="17986752" y="5288726"/>
            <a:ext cx="1342943" cy="918747"/>
          </a:xfrm>
          <a:prstGeom prst="rect">
            <a:avLst/>
          </a:prstGeom>
        </p:spPr>
      </p:pic>
      <p:pic>
        <p:nvPicPr>
          <p:cNvPr id="221" name="molecule_o"/>
          <p:cNvPicPr/>
          <p:nvPr/>
        </p:nvPicPr>
        <p:blipFill>
          <a:blip r:embed="rId12"/>
          <a:stretch>
            <a:fillRect/>
          </a:stretch>
        </p:blipFill>
        <p:spPr>
          <a:xfrm>
            <a:off x="11398205" y="5688074"/>
            <a:ext cx="660725" cy="576843"/>
          </a:xfrm>
          <a:prstGeom prst="rect">
            <a:avLst/>
          </a:prstGeom>
        </p:spPr>
      </p:pic>
      <p:pic>
        <p:nvPicPr>
          <p:cNvPr id="222" name="molecule_nh2"/>
          <p:cNvPicPr/>
          <p:nvPr/>
        </p:nvPicPr>
        <p:blipFill>
          <a:blip r:embed="rId13"/>
          <a:stretch>
            <a:fillRect/>
          </a:stretch>
        </p:blipFill>
        <p:spPr>
          <a:xfrm>
            <a:off x="12915385" y="5679465"/>
            <a:ext cx="865871" cy="594062"/>
          </a:xfrm>
          <a:prstGeom prst="rect">
            <a:avLst/>
          </a:prstGeom>
        </p:spPr>
      </p:pic>
      <p:pic>
        <p:nvPicPr>
          <p:cNvPr id="223" name="molecule_oh"/>
          <p:cNvPicPr/>
          <p:nvPr/>
        </p:nvPicPr>
        <p:blipFill>
          <a:blip r:embed="rId14"/>
          <a:stretch>
            <a:fillRect/>
          </a:stretch>
        </p:blipFill>
        <p:spPr>
          <a:xfrm>
            <a:off x="14419054" y="5681137"/>
            <a:ext cx="785796" cy="590717"/>
          </a:xfrm>
          <a:prstGeom prst="rect">
            <a:avLst/>
          </a:prstGeom>
        </p:spPr>
      </p:pic>
      <p:pic>
        <p:nvPicPr>
          <p:cNvPr id="224" name="molecule_n"/>
          <p:cNvPicPr/>
          <p:nvPr/>
        </p:nvPicPr>
        <p:blipFill>
          <a:blip r:embed="rId15"/>
          <a:stretch>
            <a:fillRect/>
          </a:stretch>
        </p:blipFill>
        <p:spPr>
          <a:xfrm>
            <a:off x="16188138" y="5672792"/>
            <a:ext cx="506647" cy="617165"/>
          </a:xfrm>
          <a:prstGeom prst="rect">
            <a:avLst/>
          </a:prstGeom>
        </p:spPr>
      </p:pic>
      <p:sp>
        <p:nvSpPr>
          <p:cNvPr id="225" name="TextBox 225"/>
          <p:cNvSpPr txBox="1"/>
          <p:nvPr/>
        </p:nvSpPr>
        <p:spPr>
          <a:xfrm>
            <a:off x="487877" y="214666"/>
            <a:ext cx="1473389" cy="595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20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Raman</a:t>
            </a:r>
            <a:endParaRPr lang="zh-CN" sz="2000"/>
          </a:p>
          <a:p>
            <a:pPr algn="ctr"/>
            <a:r>
              <a:rPr lang="zh-CN" sz="20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spectrum  q</a:t>
            </a:r>
            <a:endParaRPr lang="zh-CN" sz="2000"/>
          </a:p>
        </p:txBody>
      </p:sp>
      <p:sp>
        <p:nvSpPr>
          <p:cNvPr id="226" name="TextBox 226"/>
          <p:cNvSpPr txBox="1"/>
          <p:nvPr/>
        </p:nvSpPr>
        <p:spPr>
          <a:xfrm>
            <a:off x="5454467" y="312241"/>
            <a:ext cx="1219693" cy="390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</a:t>
            </a:r>
            <a:endParaRPr lang="zh-CN" sz="2000"/>
          </a:p>
        </p:txBody>
      </p:sp>
      <p:sp>
        <p:nvSpPr>
          <p:cNvPr id="227" name="TextBox 227"/>
          <p:cNvSpPr txBox="1"/>
          <p:nvPr/>
        </p:nvSpPr>
        <p:spPr>
          <a:xfrm>
            <a:off x="7913368" y="165878"/>
            <a:ext cx="1512419" cy="2829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Top-10   C</a:t>
            </a:r>
            <a:endParaRPr lang="zh-CN" sz="2000"/>
          </a:p>
        </p:txBody>
      </p:sp>
      <p:sp>
        <p:nvSpPr>
          <p:cNvPr id="228" name="TextBox 228"/>
          <p:cNvSpPr txBox="1"/>
          <p:nvPr/>
        </p:nvSpPr>
        <p:spPr>
          <a:xfrm>
            <a:off x="8859850" y="458605"/>
            <a:ext cx="585453" cy="390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2200"/>
          </a:p>
        </p:txBody>
      </p:sp>
      <p:sp>
        <p:nvSpPr>
          <p:cNvPr id="229" name="TextBox 229"/>
          <p:cNvSpPr txBox="1"/>
          <p:nvPr/>
        </p:nvSpPr>
        <p:spPr>
          <a:xfrm>
            <a:off x="10918692" y="146363"/>
            <a:ext cx="2478416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Evidence  (P, C, E)</a:t>
            </a:r>
            <a:endParaRPr lang="zh-CN" sz="2000"/>
          </a:p>
        </p:txBody>
      </p:sp>
      <p:sp>
        <p:nvSpPr>
          <p:cNvPr id="230" name="TextBox 230"/>
          <p:cNvSpPr txBox="1"/>
          <p:nvPr/>
        </p:nvSpPr>
        <p:spPr>
          <a:xfrm>
            <a:off x="13153169" y="468362"/>
            <a:ext cx="370787" cy="40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2100"/>
          </a:p>
        </p:txBody>
      </p:sp>
      <p:sp>
        <p:nvSpPr>
          <p:cNvPr id="231" name="TextBox 231"/>
          <p:cNvSpPr txBox="1"/>
          <p:nvPr/>
        </p:nvSpPr>
        <p:spPr>
          <a:xfrm>
            <a:off x="15172981" y="341514"/>
            <a:ext cx="1268481" cy="3610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 select</a:t>
            </a:r>
            <a:endParaRPr lang="zh-CN" sz="1800"/>
          </a:p>
        </p:txBody>
      </p:sp>
      <p:sp>
        <p:nvSpPr>
          <p:cNvPr id="232" name="TextBox 232"/>
          <p:cNvSpPr txBox="1"/>
          <p:nvPr/>
        </p:nvSpPr>
        <p:spPr>
          <a:xfrm>
            <a:off x="17661155" y="146363"/>
            <a:ext cx="1317268" cy="302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Structure</a:t>
            </a:r>
            <a:endParaRPr lang="zh-CN" sz="1900"/>
          </a:p>
        </p:txBody>
      </p:sp>
      <p:sp>
        <p:nvSpPr>
          <p:cNvPr id="233" name="TextBox 233"/>
          <p:cNvSpPr txBox="1"/>
          <p:nvPr/>
        </p:nvSpPr>
        <p:spPr>
          <a:xfrm>
            <a:off x="18939393" y="146363"/>
            <a:ext cx="321999" cy="302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9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ĉ</a:t>
            </a:r>
            <a:endParaRPr lang="zh-CN" sz="1900"/>
          </a:p>
        </p:txBody>
      </p:sp>
      <p:sp>
        <p:nvSpPr>
          <p:cNvPr id="234" name="TextBox 234"/>
          <p:cNvSpPr txBox="1"/>
          <p:nvPr/>
        </p:nvSpPr>
        <p:spPr>
          <a:xfrm>
            <a:off x="282969" y="1170905"/>
            <a:ext cx="5854526" cy="2829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1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(a) Contrastive Retrieval</a:t>
            </a:r>
            <a:endParaRPr lang="zh-CN" sz="2100"/>
          </a:p>
        </p:txBody>
      </p:sp>
      <p:sp>
        <p:nvSpPr>
          <p:cNvPr id="235" name="TextBox 235"/>
          <p:cNvSpPr txBox="1"/>
          <p:nvPr/>
        </p:nvSpPr>
        <p:spPr>
          <a:xfrm>
            <a:off x="712301" y="1609995"/>
            <a:ext cx="1697813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Raman spectrum  q</a:t>
            </a:r>
            <a:endParaRPr lang="zh-CN" sz="1400"/>
          </a:p>
        </p:txBody>
      </p:sp>
      <p:sp>
        <p:nvSpPr>
          <p:cNvPr id="236" name="TextBox 236"/>
          <p:cNvSpPr txBox="1"/>
          <p:nvPr/>
        </p:nvSpPr>
        <p:spPr>
          <a:xfrm>
            <a:off x="1414844" y="2439386"/>
            <a:ext cx="195151" cy="19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  <a:endParaRPr lang="zh-CN" sz="1400"/>
          </a:p>
        </p:txBody>
      </p:sp>
      <p:sp>
        <p:nvSpPr>
          <p:cNvPr id="237" name="TextBox 237"/>
          <p:cNvSpPr txBox="1"/>
          <p:nvPr/>
        </p:nvSpPr>
        <p:spPr>
          <a:xfrm>
            <a:off x="3356595" y="1561207"/>
            <a:ext cx="683028" cy="253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Encoder</a:t>
            </a:r>
            <a:endParaRPr lang="zh-CN" sz="1300"/>
          </a:p>
        </p:txBody>
      </p:sp>
      <p:sp>
        <p:nvSpPr>
          <p:cNvPr id="238" name="TextBox 238"/>
          <p:cNvSpPr txBox="1"/>
          <p:nvPr/>
        </p:nvSpPr>
        <p:spPr>
          <a:xfrm>
            <a:off x="5942344" y="2332053"/>
            <a:ext cx="780604" cy="468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Cosine</a:t>
            </a:r>
            <a:endParaRPr lang="zh-CN" sz="1600"/>
          </a:p>
          <a:p>
            <a:pPr algn="ctr"/>
            <a:r>
              <a:rPr lang="zh-CN"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ranking</a:t>
            </a:r>
            <a:endParaRPr lang="zh-CN" sz="1600"/>
          </a:p>
        </p:txBody>
      </p:sp>
      <p:sp>
        <p:nvSpPr>
          <p:cNvPr id="239" name="TextBox 239"/>
          <p:cNvSpPr txBox="1"/>
          <p:nvPr/>
        </p:nvSpPr>
        <p:spPr>
          <a:xfrm>
            <a:off x="4059138" y="2634537"/>
            <a:ext cx="1658782" cy="20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L2-normalized, 64-D</a:t>
            </a:r>
            <a:endParaRPr lang="zh-CN" sz="1300"/>
          </a:p>
        </p:txBody>
      </p:sp>
      <p:sp>
        <p:nvSpPr>
          <p:cNvPr id="240" name="TextBox 240"/>
          <p:cNvSpPr txBox="1"/>
          <p:nvPr/>
        </p:nvSpPr>
        <p:spPr>
          <a:xfrm>
            <a:off x="517150" y="2956536"/>
            <a:ext cx="2429628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Theoretical reference spectra  rj</a:t>
            </a:r>
            <a:endParaRPr lang="zh-CN" sz="1300"/>
          </a:p>
        </p:txBody>
      </p:sp>
      <p:sp>
        <p:nvSpPr>
          <p:cNvPr id="241" name="TextBox 241"/>
          <p:cNvSpPr txBox="1"/>
          <p:nvPr/>
        </p:nvSpPr>
        <p:spPr>
          <a:xfrm>
            <a:off x="2634537" y="3288292"/>
            <a:ext cx="282969" cy="302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700"/>
          </a:p>
        </p:txBody>
      </p:sp>
      <p:sp>
        <p:nvSpPr>
          <p:cNvPr id="242" name="TextBox 242"/>
          <p:cNvSpPr txBox="1"/>
          <p:nvPr/>
        </p:nvSpPr>
        <p:spPr>
          <a:xfrm>
            <a:off x="3483443" y="2956536"/>
            <a:ext cx="1853933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Cached embeddings</a:t>
            </a:r>
            <a:endParaRPr lang="zh-CN" sz="1300"/>
          </a:p>
        </p:txBody>
      </p:sp>
      <p:sp>
        <p:nvSpPr>
          <p:cNvPr id="243" name="TextBox 243"/>
          <p:cNvSpPr txBox="1"/>
          <p:nvPr/>
        </p:nvSpPr>
        <p:spPr>
          <a:xfrm>
            <a:off x="3737139" y="3190717"/>
            <a:ext cx="195151" cy="1853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300"/>
          </a:p>
        </p:txBody>
      </p:sp>
      <p:sp>
        <p:nvSpPr>
          <p:cNvPr id="244" name="TextBox 244"/>
          <p:cNvSpPr txBox="1"/>
          <p:nvPr/>
        </p:nvSpPr>
        <p:spPr>
          <a:xfrm>
            <a:off x="3737139" y="3415140"/>
            <a:ext cx="195151" cy="1853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zj</a:t>
            </a:r>
            <a:endParaRPr lang="zh-CN" sz="1300"/>
          </a:p>
        </p:txBody>
      </p:sp>
      <p:sp>
        <p:nvSpPr>
          <p:cNvPr id="245" name="TextBox 245"/>
          <p:cNvSpPr txBox="1"/>
          <p:nvPr/>
        </p:nvSpPr>
        <p:spPr>
          <a:xfrm>
            <a:off x="3815200" y="3629806"/>
            <a:ext cx="1502662" cy="20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L2-normalized, 64-D</a:t>
            </a:r>
            <a:endParaRPr lang="zh-CN" sz="1250"/>
          </a:p>
        </p:txBody>
      </p:sp>
      <p:sp>
        <p:nvSpPr>
          <p:cNvPr id="246" name="TextBox 246"/>
          <p:cNvSpPr txBox="1"/>
          <p:nvPr/>
        </p:nvSpPr>
        <p:spPr>
          <a:xfrm>
            <a:off x="7288885" y="1395329"/>
            <a:ext cx="1570965" cy="253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Top-10 SMILES  C</a:t>
            </a:r>
            <a:endParaRPr lang="zh-CN" sz="1400"/>
          </a:p>
        </p:txBody>
      </p:sp>
      <p:sp>
        <p:nvSpPr>
          <p:cNvPr id="247" name="TextBox 247"/>
          <p:cNvSpPr txBox="1"/>
          <p:nvPr/>
        </p:nvSpPr>
        <p:spPr>
          <a:xfrm>
            <a:off x="9006213" y="1375814"/>
            <a:ext cx="1561207" cy="42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Theoretical spectra</a:t>
            </a:r>
            <a:endParaRPr lang="zh-CN" sz="1300"/>
          </a:p>
          <a:p>
            <a:pPr algn="ctr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(linked)</a:t>
            </a:r>
            <a:endParaRPr lang="zh-CN" sz="1300"/>
          </a:p>
        </p:txBody>
      </p:sp>
      <p:sp>
        <p:nvSpPr>
          <p:cNvPr id="248" name="TextBox 248"/>
          <p:cNvSpPr txBox="1"/>
          <p:nvPr/>
        </p:nvSpPr>
        <p:spPr>
          <a:xfrm>
            <a:off x="7415733" y="1853933"/>
            <a:ext cx="253696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300"/>
          </a:p>
        </p:txBody>
      </p:sp>
      <p:sp>
        <p:nvSpPr>
          <p:cNvPr id="249" name="TextBox 249"/>
          <p:cNvSpPr txBox="1"/>
          <p:nvPr/>
        </p:nvSpPr>
        <p:spPr>
          <a:xfrm>
            <a:off x="7415733" y="2312538"/>
            <a:ext cx="253696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zh-CN" sz="1300"/>
          </a:p>
        </p:txBody>
      </p:sp>
      <p:sp>
        <p:nvSpPr>
          <p:cNvPr id="250" name="TextBox 250"/>
          <p:cNvSpPr txBox="1"/>
          <p:nvPr/>
        </p:nvSpPr>
        <p:spPr>
          <a:xfrm>
            <a:off x="7415733" y="2751627"/>
            <a:ext cx="253696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zh-CN" sz="1300"/>
          </a:p>
        </p:txBody>
      </p:sp>
      <p:sp>
        <p:nvSpPr>
          <p:cNvPr id="251" name="TextBox 251"/>
          <p:cNvSpPr txBox="1"/>
          <p:nvPr/>
        </p:nvSpPr>
        <p:spPr>
          <a:xfrm>
            <a:off x="7415733" y="3405383"/>
            <a:ext cx="253696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zh-CN" sz="1300"/>
          </a:p>
        </p:txBody>
      </p:sp>
      <p:sp>
        <p:nvSpPr>
          <p:cNvPr id="252" name="TextBox 252"/>
          <p:cNvSpPr txBox="1"/>
          <p:nvPr/>
        </p:nvSpPr>
        <p:spPr>
          <a:xfrm>
            <a:off x="7825550" y="3122414"/>
            <a:ext cx="195151" cy="253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⋮</a:t>
            </a:r>
            <a:endParaRPr lang="zh-CN" sz="1800"/>
          </a:p>
        </p:txBody>
      </p:sp>
      <p:sp>
        <p:nvSpPr>
          <p:cNvPr id="253" name="TextBox 253"/>
          <p:cNvSpPr txBox="1"/>
          <p:nvPr/>
        </p:nvSpPr>
        <p:spPr>
          <a:xfrm>
            <a:off x="9562393" y="3073626"/>
            <a:ext cx="585453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800"/>
          </a:p>
        </p:txBody>
      </p:sp>
      <p:sp>
        <p:nvSpPr>
          <p:cNvPr id="254" name="TextBox 254"/>
          <p:cNvSpPr txBox="1"/>
          <p:nvPr/>
        </p:nvSpPr>
        <p:spPr>
          <a:xfrm>
            <a:off x="2127145" y="4039623"/>
            <a:ext cx="1375814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Offline training:</a:t>
            </a:r>
            <a:endParaRPr lang="zh-CN" sz="1400"/>
          </a:p>
        </p:txBody>
      </p:sp>
      <p:sp>
        <p:nvSpPr>
          <p:cNvPr id="255" name="TextBox 255"/>
          <p:cNvSpPr txBox="1"/>
          <p:nvPr/>
        </p:nvSpPr>
        <p:spPr>
          <a:xfrm>
            <a:off x="3502958" y="4049381"/>
            <a:ext cx="6918099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Paired spectra + surrogate views · multi-positive contrastive loss · hard negatives</a:t>
            </a:r>
            <a:endParaRPr lang="zh-CN" sz="1300" dirty="0"/>
          </a:p>
        </p:txBody>
      </p:sp>
      <p:sp>
        <p:nvSpPr>
          <p:cNvPr id="256" name="TextBox 256"/>
          <p:cNvSpPr txBox="1"/>
          <p:nvPr/>
        </p:nvSpPr>
        <p:spPr>
          <a:xfrm>
            <a:off x="273211" y="4488470"/>
            <a:ext cx="3903018" cy="2927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1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(b) Spectral Evidence</a:t>
            </a:r>
            <a:endParaRPr lang="zh-CN" sz="2100"/>
          </a:p>
        </p:txBody>
      </p:sp>
      <p:sp>
        <p:nvSpPr>
          <p:cNvPr id="257" name="TextBox 257"/>
          <p:cNvSpPr txBox="1"/>
          <p:nvPr/>
        </p:nvSpPr>
        <p:spPr>
          <a:xfrm>
            <a:off x="526907" y="4849499"/>
            <a:ext cx="1268481" cy="253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 peaks  P</a:t>
            </a:r>
            <a:endParaRPr lang="zh-CN" sz="1500"/>
          </a:p>
        </p:txBody>
      </p:sp>
      <p:sp>
        <p:nvSpPr>
          <p:cNvPr id="258" name="TextBox 258"/>
          <p:cNvSpPr txBox="1"/>
          <p:nvPr/>
        </p:nvSpPr>
        <p:spPr>
          <a:xfrm>
            <a:off x="1912479" y="4888530"/>
            <a:ext cx="665464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ν (cm⁻¹)</a:t>
            </a:r>
            <a:endParaRPr lang="zh-CN" sz="1100"/>
          </a:p>
        </p:txBody>
      </p:sp>
      <p:sp>
        <p:nvSpPr>
          <p:cNvPr id="259" name="TextBox 259"/>
          <p:cNvSpPr txBox="1"/>
          <p:nvPr/>
        </p:nvSpPr>
        <p:spPr>
          <a:xfrm>
            <a:off x="2597458" y="4888530"/>
            <a:ext cx="507392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  <a:endParaRPr lang="zh-CN" sz="1100"/>
          </a:p>
        </p:txBody>
      </p:sp>
      <p:sp>
        <p:nvSpPr>
          <p:cNvPr id="260" name="TextBox 260"/>
          <p:cNvSpPr txBox="1"/>
          <p:nvPr/>
        </p:nvSpPr>
        <p:spPr>
          <a:xfrm>
            <a:off x="3124366" y="4888530"/>
            <a:ext cx="823537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prominence</a:t>
            </a:r>
            <a:endParaRPr lang="zh-CN" sz="1100"/>
          </a:p>
        </p:txBody>
      </p:sp>
      <p:sp>
        <p:nvSpPr>
          <p:cNvPr id="261" name="TextBox 261"/>
          <p:cNvSpPr txBox="1"/>
          <p:nvPr/>
        </p:nvSpPr>
        <p:spPr>
          <a:xfrm>
            <a:off x="3967417" y="4888530"/>
            <a:ext cx="560083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width</a:t>
            </a:r>
            <a:endParaRPr lang="zh-CN" sz="1100"/>
          </a:p>
        </p:txBody>
      </p:sp>
      <p:sp>
        <p:nvSpPr>
          <p:cNvPr id="262" name="TextBox 262"/>
          <p:cNvSpPr txBox="1"/>
          <p:nvPr/>
        </p:nvSpPr>
        <p:spPr>
          <a:xfrm>
            <a:off x="1912479" y="5056359"/>
            <a:ext cx="665464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612</a:t>
            </a:r>
            <a:endParaRPr lang="zh-CN" sz="1100"/>
          </a:p>
        </p:txBody>
      </p:sp>
      <p:sp>
        <p:nvSpPr>
          <p:cNvPr id="263" name="TextBox 263"/>
          <p:cNvSpPr txBox="1"/>
          <p:nvPr/>
        </p:nvSpPr>
        <p:spPr>
          <a:xfrm>
            <a:off x="2597458" y="5056359"/>
            <a:ext cx="507392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1.00</a:t>
            </a:r>
            <a:endParaRPr lang="zh-CN" sz="1100"/>
          </a:p>
        </p:txBody>
      </p:sp>
      <p:sp>
        <p:nvSpPr>
          <p:cNvPr id="264" name="TextBox 264"/>
          <p:cNvSpPr txBox="1"/>
          <p:nvPr/>
        </p:nvSpPr>
        <p:spPr>
          <a:xfrm>
            <a:off x="3124366" y="5056359"/>
            <a:ext cx="823537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0.82</a:t>
            </a:r>
            <a:endParaRPr lang="zh-CN" sz="1100"/>
          </a:p>
        </p:txBody>
      </p:sp>
      <p:sp>
        <p:nvSpPr>
          <p:cNvPr id="265" name="TextBox 265"/>
          <p:cNvSpPr txBox="1"/>
          <p:nvPr/>
        </p:nvSpPr>
        <p:spPr>
          <a:xfrm>
            <a:off x="3967417" y="5056359"/>
            <a:ext cx="560083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lang="zh-CN" sz="1100"/>
          </a:p>
        </p:txBody>
      </p:sp>
      <p:sp>
        <p:nvSpPr>
          <p:cNvPr id="266" name="TextBox 266"/>
          <p:cNvSpPr txBox="1"/>
          <p:nvPr/>
        </p:nvSpPr>
        <p:spPr>
          <a:xfrm>
            <a:off x="1912479" y="5224189"/>
            <a:ext cx="665464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1003</a:t>
            </a:r>
            <a:endParaRPr lang="zh-CN" sz="1100"/>
          </a:p>
        </p:txBody>
      </p:sp>
      <p:sp>
        <p:nvSpPr>
          <p:cNvPr id="267" name="TextBox 267"/>
          <p:cNvSpPr txBox="1"/>
          <p:nvPr/>
        </p:nvSpPr>
        <p:spPr>
          <a:xfrm>
            <a:off x="2597458" y="5224189"/>
            <a:ext cx="507392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0.64</a:t>
            </a:r>
            <a:endParaRPr lang="zh-CN" sz="1100"/>
          </a:p>
        </p:txBody>
      </p:sp>
      <p:sp>
        <p:nvSpPr>
          <p:cNvPr id="268" name="TextBox 268"/>
          <p:cNvSpPr txBox="1"/>
          <p:nvPr/>
        </p:nvSpPr>
        <p:spPr>
          <a:xfrm>
            <a:off x="3124366" y="5224189"/>
            <a:ext cx="823537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0.57</a:t>
            </a:r>
            <a:endParaRPr lang="zh-CN" sz="1100"/>
          </a:p>
        </p:txBody>
      </p:sp>
      <p:sp>
        <p:nvSpPr>
          <p:cNvPr id="269" name="TextBox 269"/>
          <p:cNvSpPr txBox="1"/>
          <p:nvPr/>
        </p:nvSpPr>
        <p:spPr>
          <a:xfrm>
            <a:off x="3967417" y="5224189"/>
            <a:ext cx="560083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22</a:t>
            </a:r>
            <a:endParaRPr lang="zh-CN" sz="1100"/>
          </a:p>
        </p:txBody>
      </p:sp>
      <p:sp>
        <p:nvSpPr>
          <p:cNvPr id="270" name="TextBox 270"/>
          <p:cNvSpPr txBox="1"/>
          <p:nvPr/>
        </p:nvSpPr>
        <p:spPr>
          <a:xfrm>
            <a:off x="1912479" y="5392019"/>
            <a:ext cx="665464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1602</a:t>
            </a:r>
            <a:endParaRPr lang="zh-CN" sz="1100"/>
          </a:p>
        </p:txBody>
      </p:sp>
      <p:sp>
        <p:nvSpPr>
          <p:cNvPr id="271" name="TextBox 271"/>
          <p:cNvSpPr txBox="1"/>
          <p:nvPr/>
        </p:nvSpPr>
        <p:spPr>
          <a:xfrm>
            <a:off x="2597458" y="5392019"/>
            <a:ext cx="507392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0.91</a:t>
            </a:r>
            <a:endParaRPr lang="zh-CN" sz="1100"/>
          </a:p>
        </p:txBody>
      </p:sp>
      <p:sp>
        <p:nvSpPr>
          <p:cNvPr id="272" name="TextBox 272"/>
          <p:cNvSpPr txBox="1"/>
          <p:nvPr/>
        </p:nvSpPr>
        <p:spPr>
          <a:xfrm>
            <a:off x="3124366" y="5392019"/>
            <a:ext cx="823537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0.76</a:t>
            </a:r>
            <a:endParaRPr lang="zh-CN" sz="1100"/>
          </a:p>
        </p:txBody>
      </p:sp>
      <p:sp>
        <p:nvSpPr>
          <p:cNvPr id="273" name="TextBox 273"/>
          <p:cNvSpPr txBox="1"/>
          <p:nvPr/>
        </p:nvSpPr>
        <p:spPr>
          <a:xfrm>
            <a:off x="3967417" y="5392019"/>
            <a:ext cx="560083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 lang="zh-CN" sz="1100"/>
          </a:p>
        </p:txBody>
      </p:sp>
      <p:sp>
        <p:nvSpPr>
          <p:cNvPr id="274" name="TextBox 274"/>
          <p:cNvSpPr txBox="1"/>
          <p:nvPr/>
        </p:nvSpPr>
        <p:spPr>
          <a:xfrm>
            <a:off x="1912479" y="5559849"/>
            <a:ext cx="665464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275" name="TextBox 275"/>
          <p:cNvSpPr txBox="1"/>
          <p:nvPr/>
        </p:nvSpPr>
        <p:spPr>
          <a:xfrm>
            <a:off x="2597458" y="5559849"/>
            <a:ext cx="507392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100"/>
          </a:p>
        </p:txBody>
      </p:sp>
      <p:sp>
        <p:nvSpPr>
          <p:cNvPr id="276" name="TextBox 276"/>
          <p:cNvSpPr txBox="1"/>
          <p:nvPr/>
        </p:nvSpPr>
        <p:spPr>
          <a:xfrm>
            <a:off x="3124366" y="5559849"/>
            <a:ext cx="823537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277" name="TextBox 277"/>
          <p:cNvSpPr txBox="1"/>
          <p:nvPr/>
        </p:nvSpPr>
        <p:spPr>
          <a:xfrm>
            <a:off x="3967417" y="5559849"/>
            <a:ext cx="560083" cy="167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278" name="TextBox 278"/>
          <p:cNvSpPr txBox="1"/>
          <p:nvPr/>
        </p:nvSpPr>
        <p:spPr>
          <a:xfrm>
            <a:off x="556180" y="5961859"/>
            <a:ext cx="1697813" cy="253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Raman mode records  K</a:t>
            </a:r>
            <a:endParaRPr lang="zh-CN" sz="1300"/>
          </a:p>
        </p:txBody>
      </p:sp>
      <p:sp>
        <p:nvSpPr>
          <p:cNvPr id="279" name="TextBox 279"/>
          <p:cNvSpPr txBox="1"/>
          <p:nvPr/>
        </p:nvSpPr>
        <p:spPr>
          <a:xfrm>
            <a:off x="2302780" y="5961859"/>
            <a:ext cx="976535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interval (cm⁻¹)</a:t>
            </a:r>
            <a:endParaRPr lang="zh-CN" sz="1100"/>
          </a:p>
        </p:txBody>
      </p:sp>
      <p:sp>
        <p:nvSpPr>
          <p:cNvPr id="280" name="TextBox 280"/>
          <p:cNvSpPr txBox="1"/>
          <p:nvPr/>
        </p:nvSpPr>
        <p:spPr>
          <a:xfrm>
            <a:off x="3298830" y="5961859"/>
            <a:ext cx="591697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activity</a:t>
            </a:r>
            <a:endParaRPr lang="zh-CN" sz="1100"/>
          </a:p>
        </p:txBody>
      </p:sp>
      <p:sp>
        <p:nvSpPr>
          <p:cNvPr id="281" name="TextBox 281"/>
          <p:cNvSpPr txBox="1"/>
          <p:nvPr/>
        </p:nvSpPr>
        <p:spPr>
          <a:xfrm>
            <a:off x="3910043" y="5961859"/>
            <a:ext cx="636972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endParaRPr lang="zh-CN" sz="1100"/>
          </a:p>
        </p:txBody>
      </p:sp>
      <p:sp>
        <p:nvSpPr>
          <p:cNvPr id="282" name="TextBox 282"/>
          <p:cNvSpPr txBox="1"/>
          <p:nvPr/>
        </p:nvSpPr>
        <p:spPr>
          <a:xfrm>
            <a:off x="2302780" y="6131641"/>
            <a:ext cx="976535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600–650</a:t>
            </a:r>
            <a:endParaRPr lang="zh-CN" sz="1100"/>
          </a:p>
        </p:txBody>
      </p:sp>
      <p:sp>
        <p:nvSpPr>
          <p:cNvPr id="283" name="TextBox 283"/>
          <p:cNvSpPr txBox="1"/>
          <p:nvPr/>
        </p:nvSpPr>
        <p:spPr>
          <a:xfrm>
            <a:off x="3298830" y="6131641"/>
            <a:ext cx="591697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A₁</a:t>
            </a:r>
            <a:endParaRPr lang="zh-CN" sz="1100"/>
          </a:p>
        </p:txBody>
      </p:sp>
      <p:sp>
        <p:nvSpPr>
          <p:cNvPr id="284" name="TextBox 284"/>
          <p:cNvSpPr txBox="1"/>
          <p:nvPr/>
        </p:nvSpPr>
        <p:spPr>
          <a:xfrm>
            <a:off x="3910043" y="6131641"/>
            <a:ext cx="636972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A</a:t>
            </a:r>
            <a:endParaRPr lang="zh-CN" sz="1100"/>
          </a:p>
        </p:txBody>
      </p:sp>
      <p:sp>
        <p:nvSpPr>
          <p:cNvPr id="285" name="TextBox 285"/>
          <p:cNvSpPr txBox="1"/>
          <p:nvPr/>
        </p:nvSpPr>
        <p:spPr>
          <a:xfrm>
            <a:off x="2302780" y="6301422"/>
            <a:ext cx="976535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1000–1030</a:t>
            </a:r>
            <a:endParaRPr lang="zh-CN" sz="1100"/>
          </a:p>
        </p:txBody>
      </p:sp>
      <p:sp>
        <p:nvSpPr>
          <p:cNvPr id="286" name="TextBox 286"/>
          <p:cNvSpPr txBox="1"/>
          <p:nvPr/>
        </p:nvSpPr>
        <p:spPr>
          <a:xfrm>
            <a:off x="3298830" y="6301422"/>
            <a:ext cx="591697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lang="zh-CN" sz="1100"/>
          </a:p>
        </p:txBody>
      </p:sp>
      <p:sp>
        <p:nvSpPr>
          <p:cNvPr id="287" name="TextBox 287"/>
          <p:cNvSpPr txBox="1"/>
          <p:nvPr/>
        </p:nvSpPr>
        <p:spPr>
          <a:xfrm>
            <a:off x="3910043" y="6301422"/>
            <a:ext cx="636972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B</a:t>
            </a:r>
            <a:endParaRPr lang="zh-CN" sz="1100"/>
          </a:p>
        </p:txBody>
      </p:sp>
      <p:sp>
        <p:nvSpPr>
          <p:cNvPr id="288" name="TextBox 288"/>
          <p:cNvSpPr txBox="1"/>
          <p:nvPr/>
        </p:nvSpPr>
        <p:spPr>
          <a:xfrm>
            <a:off x="2302780" y="6471203"/>
            <a:ext cx="976535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1580–1620</a:t>
            </a:r>
            <a:endParaRPr lang="zh-CN" sz="1100"/>
          </a:p>
        </p:txBody>
      </p:sp>
      <p:sp>
        <p:nvSpPr>
          <p:cNvPr id="289" name="TextBox 289"/>
          <p:cNvSpPr txBox="1"/>
          <p:nvPr/>
        </p:nvSpPr>
        <p:spPr>
          <a:xfrm>
            <a:off x="3298830" y="6471203"/>
            <a:ext cx="591697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A₁</a:t>
            </a:r>
            <a:endParaRPr lang="zh-CN" sz="1100"/>
          </a:p>
        </p:txBody>
      </p:sp>
      <p:sp>
        <p:nvSpPr>
          <p:cNvPr id="290" name="TextBox 290"/>
          <p:cNvSpPr txBox="1"/>
          <p:nvPr/>
        </p:nvSpPr>
        <p:spPr>
          <a:xfrm>
            <a:off x="3910043" y="6471203"/>
            <a:ext cx="636972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C</a:t>
            </a:r>
            <a:endParaRPr lang="zh-CN" sz="1100"/>
          </a:p>
        </p:txBody>
      </p:sp>
      <p:sp>
        <p:nvSpPr>
          <p:cNvPr id="291" name="TextBox 291"/>
          <p:cNvSpPr txBox="1"/>
          <p:nvPr/>
        </p:nvSpPr>
        <p:spPr>
          <a:xfrm>
            <a:off x="2302780" y="6640984"/>
            <a:ext cx="976535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292" name="TextBox 292"/>
          <p:cNvSpPr txBox="1"/>
          <p:nvPr/>
        </p:nvSpPr>
        <p:spPr>
          <a:xfrm>
            <a:off x="3298830" y="6640984"/>
            <a:ext cx="591697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100"/>
          </a:p>
        </p:txBody>
      </p:sp>
      <p:sp>
        <p:nvSpPr>
          <p:cNvPr id="293" name="TextBox 293"/>
          <p:cNvSpPr txBox="1"/>
          <p:nvPr/>
        </p:nvSpPr>
        <p:spPr>
          <a:xfrm>
            <a:off x="3910043" y="6640984"/>
            <a:ext cx="636972" cy="169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294" name="TextBox 294"/>
          <p:cNvSpPr txBox="1"/>
          <p:nvPr/>
        </p:nvSpPr>
        <p:spPr>
          <a:xfrm>
            <a:off x="5259316" y="5093438"/>
            <a:ext cx="1483147" cy="47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Peak–mode</a:t>
            </a:r>
            <a:endParaRPr lang="zh-CN" sz="1500"/>
          </a:p>
          <a:p>
            <a:pPr algn="ctr"/>
            <a:r>
              <a:rPr lang="zh-CN"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interval matcher</a:t>
            </a:r>
            <a:endParaRPr lang="zh-CN" sz="1500"/>
          </a:p>
        </p:txBody>
      </p:sp>
      <p:sp>
        <p:nvSpPr>
          <p:cNvPr id="295" name="TextBox 295"/>
          <p:cNvSpPr txBox="1"/>
          <p:nvPr/>
        </p:nvSpPr>
        <p:spPr>
          <a:xfrm>
            <a:off x="7454764" y="4820227"/>
            <a:ext cx="2819930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Spectral evidence   E</a:t>
            </a:r>
            <a:endParaRPr lang="zh-CN" sz="1500"/>
          </a:p>
        </p:txBody>
      </p:sp>
      <p:sp>
        <p:nvSpPr>
          <p:cNvPr id="296" name="TextBox 296"/>
          <p:cNvSpPr txBox="1"/>
          <p:nvPr/>
        </p:nvSpPr>
        <p:spPr>
          <a:xfrm>
            <a:off x="7425491" y="5093438"/>
            <a:ext cx="802460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 ID</a:t>
            </a:r>
            <a:endParaRPr lang="zh-CN" sz="1100"/>
          </a:p>
        </p:txBody>
      </p:sp>
      <p:sp>
        <p:nvSpPr>
          <p:cNvPr id="297" name="TextBox 297"/>
          <p:cNvSpPr txBox="1"/>
          <p:nvPr/>
        </p:nvSpPr>
        <p:spPr>
          <a:xfrm>
            <a:off x="8247466" y="5093438"/>
            <a:ext cx="1259113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matched peaks</a:t>
            </a:r>
            <a:endParaRPr lang="zh-CN" sz="1100"/>
          </a:p>
        </p:txBody>
      </p:sp>
      <p:sp>
        <p:nvSpPr>
          <p:cNvPr id="298" name="TextBox 298"/>
          <p:cNvSpPr txBox="1"/>
          <p:nvPr/>
        </p:nvSpPr>
        <p:spPr>
          <a:xfrm>
            <a:off x="9526095" y="5093438"/>
            <a:ext cx="924235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endParaRPr lang="zh-CN" sz="1100"/>
          </a:p>
        </p:txBody>
      </p:sp>
      <p:sp>
        <p:nvSpPr>
          <p:cNvPr id="299" name="TextBox 299"/>
          <p:cNvSpPr txBox="1"/>
          <p:nvPr/>
        </p:nvSpPr>
        <p:spPr>
          <a:xfrm>
            <a:off x="7425491" y="5274928"/>
            <a:ext cx="802460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m₁</a:t>
            </a:r>
            <a:endParaRPr lang="zh-CN" sz="1100"/>
          </a:p>
        </p:txBody>
      </p:sp>
      <p:sp>
        <p:nvSpPr>
          <p:cNvPr id="300" name="TextBox 300"/>
          <p:cNvSpPr txBox="1"/>
          <p:nvPr/>
        </p:nvSpPr>
        <p:spPr>
          <a:xfrm>
            <a:off x="8247466" y="5274928"/>
            <a:ext cx="1259113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612</a:t>
            </a:r>
            <a:endParaRPr lang="zh-CN" sz="1100"/>
          </a:p>
        </p:txBody>
      </p:sp>
      <p:sp>
        <p:nvSpPr>
          <p:cNvPr id="301" name="TextBox 301"/>
          <p:cNvSpPr txBox="1"/>
          <p:nvPr/>
        </p:nvSpPr>
        <p:spPr>
          <a:xfrm>
            <a:off x="9526095" y="5274928"/>
            <a:ext cx="924235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A</a:t>
            </a:r>
            <a:endParaRPr lang="zh-CN" sz="1100"/>
          </a:p>
        </p:txBody>
      </p:sp>
      <p:sp>
        <p:nvSpPr>
          <p:cNvPr id="302" name="TextBox 302"/>
          <p:cNvSpPr txBox="1"/>
          <p:nvPr/>
        </p:nvSpPr>
        <p:spPr>
          <a:xfrm>
            <a:off x="7425491" y="5456419"/>
            <a:ext cx="802460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m₂</a:t>
            </a:r>
            <a:endParaRPr lang="zh-CN" sz="1100"/>
          </a:p>
        </p:txBody>
      </p:sp>
      <p:sp>
        <p:nvSpPr>
          <p:cNvPr id="303" name="TextBox 303"/>
          <p:cNvSpPr txBox="1"/>
          <p:nvPr/>
        </p:nvSpPr>
        <p:spPr>
          <a:xfrm>
            <a:off x="8247466" y="5456419"/>
            <a:ext cx="1259113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1003</a:t>
            </a:r>
            <a:endParaRPr lang="zh-CN" sz="1100"/>
          </a:p>
        </p:txBody>
      </p:sp>
      <p:sp>
        <p:nvSpPr>
          <p:cNvPr id="304" name="TextBox 304"/>
          <p:cNvSpPr txBox="1"/>
          <p:nvPr/>
        </p:nvSpPr>
        <p:spPr>
          <a:xfrm>
            <a:off x="9526095" y="5456419"/>
            <a:ext cx="924235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B</a:t>
            </a:r>
            <a:endParaRPr lang="zh-CN" sz="1100"/>
          </a:p>
        </p:txBody>
      </p:sp>
      <p:sp>
        <p:nvSpPr>
          <p:cNvPr id="305" name="TextBox 305"/>
          <p:cNvSpPr txBox="1"/>
          <p:nvPr/>
        </p:nvSpPr>
        <p:spPr>
          <a:xfrm>
            <a:off x="7425491" y="5637909"/>
            <a:ext cx="802460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m₃</a:t>
            </a:r>
            <a:endParaRPr lang="zh-CN" sz="1100"/>
          </a:p>
        </p:txBody>
      </p:sp>
      <p:sp>
        <p:nvSpPr>
          <p:cNvPr id="306" name="TextBox 306"/>
          <p:cNvSpPr txBox="1"/>
          <p:nvPr/>
        </p:nvSpPr>
        <p:spPr>
          <a:xfrm>
            <a:off x="8247466" y="5637909"/>
            <a:ext cx="1259113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1602</a:t>
            </a:r>
            <a:endParaRPr lang="zh-CN" sz="1100"/>
          </a:p>
        </p:txBody>
      </p:sp>
      <p:sp>
        <p:nvSpPr>
          <p:cNvPr id="307" name="TextBox 307"/>
          <p:cNvSpPr txBox="1"/>
          <p:nvPr/>
        </p:nvSpPr>
        <p:spPr>
          <a:xfrm>
            <a:off x="9526095" y="5637909"/>
            <a:ext cx="924235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C</a:t>
            </a:r>
            <a:endParaRPr lang="zh-CN" sz="1100"/>
          </a:p>
        </p:txBody>
      </p:sp>
      <p:sp>
        <p:nvSpPr>
          <p:cNvPr id="308" name="TextBox 308"/>
          <p:cNvSpPr txBox="1"/>
          <p:nvPr/>
        </p:nvSpPr>
        <p:spPr>
          <a:xfrm>
            <a:off x="7425491" y="5819399"/>
            <a:ext cx="802460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309" name="TextBox 309"/>
          <p:cNvSpPr txBox="1"/>
          <p:nvPr/>
        </p:nvSpPr>
        <p:spPr>
          <a:xfrm>
            <a:off x="8247466" y="5819399"/>
            <a:ext cx="1259113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100"/>
          </a:p>
        </p:txBody>
      </p:sp>
      <p:sp>
        <p:nvSpPr>
          <p:cNvPr id="310" name="TextBox 310"/>
          <p:cNvSpPr txBox="1"/>
          <p:nvPr/>
        </p:nvSpPr>
        <p:spPr>
          <a:xfrm>
            <a:off x="9526095" y="5819399"/>
            <a:ext cx="924235" cy="181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311" name="TextBox 311"/>
          <p:cNvSpPr txBox="1"/>
          <p:nvPr/>
        </p:nvSpPr>
        <p:spPr>
          <a:xfrm>
            <a:off x="8371973" y="6186283"/>
            <a:ext cx="2185690" cy="4390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80" i="1" dirty="0">
                <a:solidFill>
                  <a:srgbClr val="41444F"/>
                </a:solidFill>
                <a:latin typeface="Times New Roman"/>
                <a:ea typeface="Times New Roman"/>
                <a:cs typeface="Times New Roman"/>
              </a:rPr>
              <a:t>Optional: SMARTS scope;</a:t>
            </a:r>
            <a:endParaRPr lang="zh-CN" sz="1280" dirty="0"/>
          </a:p>
          <a:p>
            <a:pPr algn="l"/>
            <a:r>
              <a:rPr lang="zh-CN" sz="1280" i="1" dirty="0">
                <a:solidFill>
                  <a:srgbClr val="41444F"/>
                </a:solidFill>
                <a:latin typeface="Times New Roman"/>
                <a:ea typeface="Times New Roman"/>
                <a:cs typeface="Times New Roman"/>
              </a:rPr>
              <a:t>compact evidence ≤ 8 modes</a:t>
            </a:r>
            <a:endParaRPr lang="zh-CN" sz="1280" dirty="0"/>
          </a:p>
        </p:txBody>
      </p:sp>
      <p:sp>
        <p:nvSpPr>
          <p:cNvPr id="313" name="TextBox 313"/>
          <p:cNvSpPr txBox="1"/>
          <p:nvPr/>
        </p:nvSpPr>
        <p:spPr>
          <a:xfrm>
            <a:off x="11006510" y="1200178"/>
            <a:ext cx="5756951" cy="321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1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(c) Guided Candidate Selection</a:t>
            </a:r>
            <a:endParaRPr lang="zh-CN" sz="2100"/>
          </a:p>
        </p:txBody>
      </p:sp>
      <p:sp>
        <p:nvSpPr>
          <p:cNvPr id="314" name="TextBox 314"/>
          <p:cNvSpPr txBox="1"/>
          <p:nvPr/>
        </p:nvSpPr>
        <p:spPr>
          <a:xfrm>
            <a:off x="11328509" y="1717328"/>
            <a:ext cx="3366353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Evidence packet (P, C, E)</a:t>
            </a:r>
            <a:endParaRPr lang="zh-CN" sz="1600"/>
          </a:p>
        </p:txBody>
      </p:sp>
      <p:sp>
        <p:nvSpPr>
          <p:cNvPr id="315" name="TextBox 315"/>
          <p:cNvSpPr txBox="1"/>
          <p:nvPr/>
        </p:nvSpPr>
        <p:spPr>
          <a:xfrm>
            <a:off x="11679780" y="2088114"/>
            <a:ext cx="1834418" cy="2927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P:  observed peaks</a:t>
            </a:r>
            <a:endParaRPr lang="zh-CN" sz="1400"/>
          </a:p>
        </p:txBody>
      </p:sp>
      <p:sp>
        <p:nvSpPr>
          <p:cNvPr id="316" name="TextBox 316"/>
          <p:cNvSpPr txBox="1"/>
          <p:nvPr/>
        </p:nvSpPr>
        <p:spPr>
          <a:xfrm>
            <a:off x="13953288" y="2058842"/>
            <a:ext cx="2332053" cy="40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C: ordered SMILES</a:t>
            </a:r>
            <a:endParaRPr lang="zh-CN" sz="1400"/>
          </a:p>
          <a:p>
            <a:pPr algn="ctr"/>
            <a:r>
              <a:rPr lang="zh-CN"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(from retrieval)</a:t>
            </a:r>
            <a:endParaRPr lang="zh-CN" sz="1400"/>
          </a:p>
        </p:txBody>
      </p:sp>
      <p:sp>
        <p:nvSpPr>
          <p:cNvPr id="317" name="TextBox 317"/>
          <p:cNvSpPr txBox="1"/>
          <p:nvPr/>
        </p:nvSpPr>
        <p:spPr>
          <a:xfrm>
            <a:off x="13875227" y="2575992"/>
            <a:ext cx="234181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300"/>
          </a:p>
        </p:txBody>
      </p:sp>
      <p:sp>
        <p:nvSpPr>
          <p:cNvPr id="318" name="TextBox 318"/>
          <p:cNvSpPr txBox="1"/>
          <p:nvPr/>
        </p:nvSpPr>
        <p:spPr>
          <a:xfrm>
            <a:off x="13875227" y="3044354"/>
            <a:ext cx="234181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zh-CN" sz="1300"/>
          </a:p>
        </p:txBody>
      </p:sp>
      <p:sp>
        <p:nvSpPr>
          <p:cNvPr id="319" name="TextBox 319"/>
          <p:cNvSpPr txBox="1"/>
          <p:nvPr/>
        </p:nvSpPr>
        <p:spPr>
          <a:xfrm>
            <a:off x="15358374" y="2634537"/>
            <a:ext cx="234181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zh-CN" sz="1300"/>
          </a:p>
        </p:txBody>
      </p:sp>
      <p:sp>
        <p:nvSpPr>
          <p:cNvPr id="320" name="TextBox 320"/>
          <p:cNvSpPr txBox="1"/>
          <p:nvPr/>
        </p:nvSpPr>
        <p:spPr>
          <a:xfrm>
            <a:off x="15314465" y="3181034"/>
            <a:ext cx="234181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zh-CN" sz="1300" dirty="0"/>
          </a:p>
        </p:txBody>
      </p:sp>
      <p:sp>
        <p:nvSpPr>
          <p:cNvPr id="321" name="TextBox 321"/>
          <p:cNvSpPr txBox="1"/>
          <p:nvPr/>
        </p:nvSpPr>
        <p:spPr>
          <a:xfrm>
            <a:off x="15379841" y="2927263"/>
            <a:ext cx="195151" cy="302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9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⋮</a:t>
            </a:r>
            <a:endParaRPr lang="zh-CN" sz="1900" dirty="0"/>
          </a:p>
        </p:txBody>
      </p:sp>
      <p:sp>
        <p:nvSpPr>
          <p:cNvPr id="322" name="TextBox 322"/>
          <p:cNvSpPr txBox="1"/>
          <p:nvPr/>
        </p:nvSpPr>
        <p:spPr>
          <a:xfrm>
            <a:off x="17183035" y="2058842"/>
            <a:ext cx="2166175" cy="2634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E:  source-linked modes</a:t>
            </a:r>
            <a:endParaRPr lang="zh-CN" sz="1400"/>
          </a:p>
        </p:txBody>
      </p:sp>
      <p:sp>
        <p:nvSpPr>
          <p:cNvPr id="323" name="TextBox 323"/>
          <p:cNvSpPr txBox="1"/>
          <p:nvPr/>
        </p:nvSpPr>
        <p:spPr>
          <a:xfrm>
            <a:off x="17280610" y="2361326"/>
            <a:ext cx="598137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m₁</a:t>
            </a:r>
            <a:endParaRPr lang="zh-CN" sz="1100"/>
          </a:p>
        </p:txBody>
      </p:sp>
      <p:sp>
        <p:nvSpPr>
          <p:cNvPr id="324" name="TextBox 324"/>
          <p:cNvSpPr txBox="1"/>
          <p:nvPr/>
        </p:nvSpPr>
        <p:spPr>
          <a:xfrm>
            <a:off x="17898263" y="2361326"/>
            <a:ext cx="618726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612</a:t>
            </a:r>
            <a:endParaRPr lang="zh-CN" sz="1100"/>
          </a:p>
        </p:txBody>
      </p:sp>
      <p:sp>
        <p:nvSpPr>
          <p:cNvPr id="325" name="TextBox 325"/>
          <p:cNvSpPr txBox="1"/>
          <p:nvPr/>
        </p:nvSpPr>
        <p:spPr>
          <a:xfrm>
            <a:off x="18536504" y="2361326"/>
            <a:ext cx="783433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A</a:t>
            </a:r>
            <a:endParaRPr lang="zh-CN" sz="1100"/>
          </a:p>
        </p:txBody>
      </p:sp>
      <p:sp>
        <p:nvSpPr>
          <p:cNvPr id="326" name="TextBox 326"/>
          <p:cNvSpPr txBox="1"/>
          <p:nvPr/>
        </p:nvSpPr>
        <p:spPr>
          <a:xfrm>
            <a:off x="17280610" y="2639416"/>
            <a:ext cx="598137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m₂</a:t>
            </a:r>
            <a:endParaRPr lang="zh-CN" sz="1100"/>
          </a:p>
        </p:txBody>
      </p:sp>
      <p:sp>
        <p:nvSpPr>
          <p:cNvPr id="327" name="TextBox 327"/>
          <p:cNvSpPr txBox="1"/>
          <p:nvPr/>
        </p:nvSpPr>
        <p:spPr>
          <a:xfrm>
            <a:off x="17898263" y="2639416"/>
            <a:ext cx="618726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1003</a:t>
            </a:r>
            <a:endParaRPr lang="zh-CN" sz="1100"/>
          </a:p>
        </p:txBody>
      </p:sp>
      <p:sp>
        <p:nvSpPr>
          <p:cNvPr id="328" name="TextBox 328"/>
          <p:cNvSpPr txBox="1"/>
          <p:nvPr/>
        </p:nvSpPr>
        <p:spPr>
          <a:xfrm>
            <a:off x="18536504" y="2639416"/>
            <a:ext cx="783433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B</a:t>
            </a:r>
            <a:endParaRPr lang="zh-CN" sz="1100"/>
          </a:p>
        </p:txBody>
      </p:sp>
      <p:sp>
        <p:nvSpPr>
          <p:cNvPr id="329" name="TextBox 329"/>
          <p:cNvSpPr txBox="1"/>
          <p:nvPr/>
        </p:nvSpPr>
        <p:spPr>
          <a:xfrm>
            <a:off x="17280610" y="2917506"/>
            <a:ext cx="598137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m₃</a:t>
            </a:r>
            <a:endParaRPr lang="zh-CN" sz="1100"/>
          </a:p>
        </p:txBody>
      </p:sp>
      <p:sp>
        <p:nvSpPr>
          <p:cNvPr id="330" name="TextBox 330"/>
          <p:cNvSpPr txBox="1"/>
          <p:nvPr/>
        </p:nvSpPr>
        <p:spPr>
          <a:xfrm>
            <a:off x="17898263" y="2917506"/>
            <a:ext cx="618726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1602</a:t>
            </a:r>
            <a:endParaRPr lang="zh-CN" sz="1100"/>
          </a:p>
        </p:txBody>
      </p:sp>
      <p:sp>
        <p:nvSpPr>
          <p:cNvPr id="331" name="TextBox 331"/>
          <p:cNvSpPr txBox="1"/>
          <p:nvPr/>
        </p:nvSpPr>
        <p:spPr>
          <a:xfrm>
            <a:off x="18536504" y="2917506"/>
            <a:ext cx="783433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Ref. C</a:t>
            </a:r>
            <a:endParaRPr lang="zh-CN" sz="1100"/>
          </a:p>
        </p:txBody>
      </p:sp>
      <p:sp>
        <p:nvSpPr>
          <p:cNvPr id="332" name="TextBox 332"/>
          <p:cNvSpPr txBox="1"/>
          <p:nvPr/>
        </p:nvSpPr>
        <p:spPr>
          <a:xfrm>
            <a:off x="17280610" y="3195596"/>
            <a:ext cx="598137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333" name="TextBox 333"/>
          <p:cNvSpPr txBox="1"/>
          <p:nvPr/>
        </p:nvSpPr>
        <p:spPr>
          <a:xfrm>
            <a:off x="17898263" y="3195596"/>
            <a:ext cx="618726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100"/>
          </a:p>
        </p:txBody>
      </p:sp>
      <p:sp>
        <p:nvSpPr>
          <p:cNvPr id="334" name="TextBox 334"/>
          <p:cNvSpPr txBox="1"/>
          <p:nvPr/>
        </p:nvSpPr>
        <p:spPr>
          <a:xfrm>
            <a:off x="18536504" y="3195596"/>
            <a:ext cx="783433" cy="278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zh-CN" sz="1100"/>
          </a:p>
        </p:txBody>
      </p:sp>
      <p:sp>
        <p:nvSpPr>
          <p:cNvPr id="335" name="TextBox 335"/>
          <p:cNvSpPr txBox="1"/>
          <p:nvPr/>
        </p:nvSpPr>
        <p:spPr>
          <a:xfrm>
            <a:off x="10996752" y="4810469"/>
            <a:ext cx="1180663" cy="458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Spectroscopist</a:t>
            </a:r>
            <a:endParaRPr lang="zh-CN" sz="1450"/>
          </a:p>
          <a:p>
            <a:pPr algn="ctr"/>
            <a:r>
              <a:rPr lang="zh-CN" sz="14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</a:t>
            </a:r>
            <a:endParaRPr lang="zh-CN" sz="1450"/>
          </a:p>
        </p:txBody>
      </p:sp>
      <p:sp>
        <p:nvSpPr>
          <p:cNvPr id="336" name="TextBox 336"/>
          <p:cNvSpPr txBox="1"/>
          <p:nvPr/>
        </p:nvSpPr>
        <p:spPr>
          <a:xfrm>
            <a:off x="13065351" y="4098168"/>
            <a:ext cx="3424898" cy="2732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Reasoning within one LLM call</a:t>
            </a:r>
            <a:endParaRPr lang="zh-CN" sz="1500"/>
          </a:p>
        </p:txBody>
      </p:sp>
      <p:sp>
        <p:nvSpPr>
          <p:cNvPr id="337" name="TextBox 337"/>
          <p:cNvSpPr txBox="1"/>
          <p:nvPr/>
        </p:nvSpPr>
        <p:spPr>
          <a:xfrm>
            <a:off x="12518929" y="4449440"/>
            <a:ext cx="1161148" cy="53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6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Assign</a:t>
            </a:r>
            <a:endParaRPr lang="zh-CN" sz="1600"/>
          </a:p>
          <a:p>
            <a:pPr algn="ctr"/>
            <a:r>
              <a:rPr lang="zh-CN" sz="16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bands</a:t>
            </a:r>
            <a:endParaRPr lang="zh-CN" sz="1600"/>
          </a:p>
        </p:txBody>
      </p:sp>
      <p:sp>
        <p:nvSpPr>
          <p:cNvPr id="338" name="TextBox 338"/>
          <p:cNvSpPr txBox="1"/>
          <p:nvPr/>
        </p:nvSpPr>
        <p:spPr>
          <a:xfrm>
            <a:off x="14070378" y="4449440"/>
            <a:ext cx="1317268" cy="53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6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Compare</a:t>
            </a:r>
            <a:endParaRPr lang="zh-CN" sz="1600"/>
          </a:p>
          <a:p>
            <a:pPr algn="ctr"/>
            <a:r>
              <a:rPr lang="zh-CN" sz="16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candidates</a:t>
            </a:r>
            <a:endParaRPr lang="zh-CN" sz="1600"/>
          </a:p>
        </p:txBody>
      </p:sp>
      <p:sp>
        <p:nvSpPr>
          <p:cNvPr id="339" name="TextBox 339"/>
          <p:cNvSpPr txBox="1"/>
          <p:nvPr/>
        </p:nvSpPr>
        <p:spPr>
          <a:xfrm>
            <a:off x="15777949" y="4449440"/>
            <a:ext cx="1102602" cy="53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6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Select</a:t>
            </a:r>
            <a:endParaRPr lang="zh-CN" sz="1600"/>
          </a:p>
          <a:p>
            <a:pPr algn="ctr"/>
            <a:r>
              <a:rPr lang="zh-CN" sz="16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</a:t>
            </a:r>
            <a:endParaRPr lang="zh-CN" sz="1600"/>
          </a:p>
        </p:txBody>
      </p:sp>
      <p:sp>
        <p:nvSpPr>
          <p:cNvPr id="340" name="TextBox 340"/>
          <p:cNvSpPr txBox="1"/>
          <p:nvPr/>
        </p:nvSpPr>
        <p:spPr>
          <a:xfrm>
            <a:off x="17426973" y="3961563"/>
            <a:ext cx="1609995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 output</a:t>
            </a:r>
            <a:endParaRPr lang="zh-CN" sz="1400"/>
          </a:p>
        </p:txBody>
      </p:sp>
      <p:sp>
        <p:nvSpPr>
          <p:cNvPr id="341" name="TextBox 341"/>
          <p:cNvSpPr txBox="1"/>
          <p:nvPr/>
        </p:nvSpPr>
        <p:spPr>
          <a:xfrm>
            <a:off x="18012426" y="4244532"/>
            <a:ext cx="1551449" cy="64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2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SELECTED_INDEX: i</a:t>
            </a:r>
            <a:endParaRPr lang="zh-CN" sz="1220"/>
          </a:p>
          <a:p>
            <a:pPr algn="l"/>
            <a:r>
              <a:rPr lang="zh-CN" sz="122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CONFIDENCE: c</a:t>
            </a:r>
            <a:endParaRPr lang="zh-CN" sz="1220"/>
          </a:p>
          <a:p>
            <a:pPr algn="l"/>
            <a:r>
              <a:rPr lang="zh-CN" sz="122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EXPLANATION</a:t>
            </a:r>
            <a:endParaRPr lang="zh-CN" sz="1220"/>
          </a:p>
        </p:txBody>
      </p:sp>
      <p:sp>
        <p:nvSpPr>
          <p:cNvPr id="342" name="TextBox 342"/>
          <p:cNvSpPr txBox="1"/>
          <p:nvPr/>
        </p:nvSpPr>
        <p:spPr>
          <a:xfrm>
            <a:off x="18168547" y="6586342"/>
            <a:ext cx="1580722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3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 confidence is self-reported</a:t>
            </a:r>
            <a:endParaRPr lang="zh-CN" sz="1030"/>
          </a:p>
        </p:txBody>
      </p:sp>
      <p:sp>
        <p:nvSpPr>
          <p:cNvPr id="343" name="TextBox 343"/>
          <p:cNvSpPr txBox="1"/>
          <p:nvPr/>
        </p:nvSpPr>
        <p:spPr>
          <a:xfrm>
            <a:off x="11182145" y="5434952"/>
            <a:ext cx="5903314" cy="2634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8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Schematic candidates with matched peaks  (using retrieval order as prior)</a:t>
            </a:r>
            <a:endParaRPr lang="zh-CN" sz="1280"/>
          </a:p>
        </p:txBody>
      </p:sp>
      <p:sp>
        <p:nvSpPr>
          <p:cNvPr id="344" name="TextBox 344"/>
          <p:cNvSpPr txBox="1"/>
          <p:nvPr/>
        </p:nvSpPr>
        <p:spPr>
          <a:xfrm>
            <a:off x="11172388" y="5766708"/>
            <a:ext cx="263454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300"/>
          </a:p>
        </p:txBody>
      </p:sp>
      <p:sp>
        <p:nvSpPr>
          <p:cNvPr id="345" name="TextBox 345"/>
          <p:cNvSpPr txBox="1"/>
          <p:nvPr/>
        </p:nvSpPr>
        <p:spPr>
          <a:xfrm>
            <a:off x="12694565" y="5766708"/>
            <a:ext cx="263454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zh-CN" sz="1300"/>
          </a:p>
        </p:txBody>
      </p:sp>
      <p:sp>
        <p:nvSpPr>
          <p:cNvPr id="346" name="TextBox 346"/>
          <p:cNvSpPr txBox="1"/>
          <p:nvPr/>
        </p:nvSpPr>
        <p:spPr>
          <a:xfrm>
            <a:off x="14197226" y="5766708"/>
            <a:ext cx="263454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zh-CN" sz="1300"/>
          </a:p>
        </p:txBody>
      </p:sp>
      <p:sp>
        <p:nvSpPr>
          <p:cNvPr id="347" name="TextBox 347"/>
          <p:cNvSpPr txBox="1"/>
          <p:nvPr/>
        </p:nvSpPr>
        <p:spPr>
          <a:xfrm>
            <a:off x="15963342" y="5766708"/>
            <a:ext cx="263454" cy="234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zh-CN" sz="1300"/>
          </a:p>
        </p:txBody>
      </p:sp>
      <p:sp>
        <p:nvSpPr>
          <p:cNvPr id="348" name="TextBox 348"/>
          <p:cNvSpPr txBox="1"/>
          <p:nvPr/>
        </p:nvSpPr>
        <p:spPr>
          <a:xfrm>
            <a:off x="15514495" y="6215555"/>
            <a:ext cx="292726" cy="243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⋯</a:t>
            </a:r>
            <a:endParaRPr lang="zh-CN" sz="1700"/>
          </a:p>
        </p:txBody>
      </p:sp>
      <p:pic>
        <p:nvPicPr>
          <p:cNvPr id="349" name="LaTeX rendered formula formula_encoder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6250" y="2419350"/>
            <a:ext cx="1095375" cy="219075"/>
          </a:xfrm>
          <a:prstGeom prst="rect">
            <a:avLst/>
          </a:prstGeom>
        </p:spPr>
      </p:pic>
      <p:pic>
        <p:nvPicPr>
          <p:cNvPr id="350" name="LaTeX rendered formula formula_sco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42362" y="3034570"/>
            <a:ext cx="839152" cy="243935"/>
          </a:xfrm>
          <a:prstGeom prst="rect">
            <a:avLst/>
          </a:prstGeom>
        </p:spPr>
      </p:pic>
      <p:pic>
        <p:nvPicPr>
          <p:cNvPr id="351" name="LaTeX rendered formula formula_interva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69040" y="5717953"/>
            <a:ext cx="1473422" cy="214693"/>
          </a:xfrm>
          <a:prstGeom prst="rect">
            <a:avLst/>
          </a:prstGeom>
        </p:spPr>
      </p:pic>
      <p:pic>
        <p:nvPicPr>
          <p:cNvPr id="352" name="LaTeX rendered formula formula_delta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42312" y="6000845"/>
            <a:ext cx="897731" cy="204883"/>
          </a:xfrm>
          <a:prstGeom prst="rect">
            <a:avLst/>
          </a:prstGeom>
        </p:spPr>
      </p:pic>
      <p:pic>
        <p:nvPicPr>
          <p:cNvPr id="353" name="LaTeX rendered formula formula_selected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227135" y="6283833"/>
            <a:ext cx="624459" cy="224409"/>
          </a:xfrm>
          <a:prstGeom prst="rect">
            <a:avLst/>
          </a:prstGeom>
        </p:spPr>
      </p:pic>
      <p:pic>
        <p:nvPicPr>
          <p:cNvPr id="354" name="LaTeX rendered formula formula_ftheta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91581" y="1536794"/>
            <a:ext cx="312206" cy="302521"/>
          </a:xfrm>
          <a:prstGeom prst="rect">
            <a:avLst/>
          </a:prstGeom>
        </p:spPr>
      </p:pic>
      <p:pic>
        <p:nvPicPr>
          <p:cNvPr id="355" name="LaTeX rendered formula formula_zqlabe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781169" y="1473422"/>
            <a:ext cx="282020" cy="243905"/>
          </a:xfrm>
          <a:prstGeom prst="rect">
            <a:avLst/>
          </a:prstGeom>
        </p:spPr>
      </p:pic>
      <p:pic>
        <p:nvPicPr>
          <p:cNvPr id="356" name="LaTeX rendered formula formula_zjlabe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95863" y="2985802"/>
            <a:ext cx="234220" cy="175641"/>
          </a:xfrm>
          <a:prstGeom prst="rect">
            <a:avLst/>
          </a:prstGeom>
        </p:spPr>
      </p:pic>
      <p:pic>
        <p:nvPicPr>
          <p:cNvPr id="357" name="LaTeX rendered formula formula_domain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270825" y="6644926"/>
            <a:ext cx="917162" cy="146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301</Words>
  <Application>Microsoft Macintosh PowerPoint</Application>
  <PresentationFormat>Custom</PresentationFormat>
  <Paragraphs>127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ImageToEditablePPT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Luan Jinfeng</cp:lastModifiedBy>
  <cp:revision>3</cp:revision>
  <dcterms:modified xsi:type="dcterms:W3CDTF">2026-09-10T07:17:28Z</dcterms:modified>
</cp:coreProperties>
</file>